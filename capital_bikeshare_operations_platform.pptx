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56" r:id="rId2"/>
    <p:sldId id="258" r:id="rId3"/>
    <p:sldId id="277" r:id="rId4"/>
    <p:sldId id="283" r:id="rId5"/>
    <p:sldId id="272" r:id="rId6"/>
    <p:sldId id="279" r:id="rId7"/>
    <p:sldId id="271" r:id="rId8"/>
    <p:sldId id="278" r:id="rId9"/>
    <p:sldId id="275" r:id="rId10"/>
    <p:sldId id="280" r:id="rId11"/>
    <p:sldId id="281" r:id="rId12"/>
    <p:sldId id="276" r:id="rId13"/>
    <p:sldId id="260" r:id="rId14"/>
    <p:sldId id="282" r:id="rId15"/>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6AF223-40D1-4852-ADD9-270F7A4D296A}" v="27" dt="2026-09-04T08:13:11.71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37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yasu Tesfamichael Araya(H00396248)" userId="5f34a840-5bf0-42b4-8834-69f81fab09db" providerId="ADAL" clId="{0A60BBEC-1A11-42D0-9589-428906AA01F9}"/>
    <pc:docChg chg="undo custSel addSld delSld modSld sldOrd">
      <pc:chgData name="Eyasu Tesfamichael Araya(H00396248)" userId="5f34a840-5bf0-42b4-8834-69f81fab09db" providerId="ADAL" clId="{0A60BBEC-1A11-42D0-9589-428906AA01F9}" dt="2026-09-04T08:17:14.232" v="392"/>
      <pc:docMkLst>
        <pc:docMk/>
      </pc:docMkLst>
      <pc:sldChg chg="modSp mod">
        <pc:chgData name="Eyasu Tesfamichael Araya(H00396248)" userId="5f34a840-5bf0-42b4-8834-69f81fab09db" providerId="ADAL" clId="{0A60BBEC-1A11-42D0-9589-428906AA01F9}" dt="2026-09-04T08:02:03.278" v="353" actId="20577"/>
        <pc:sldMkLst>
          <pc:docMk/>
          <pc:sldMk cId="1567715759" sldId="258"/>
        </pc:sldMkLst>
        <pc:spChg chg="mod">
          <ac:chgData name="Eyasu Tesfamichael Araya(H00396248)" userId="5f34a840-5bf0-42b4-8834-69f81fab09db" providerId="ADAL" clId="{0A60BBEC-1A11-42D0-9589-428906AA01F9}" dt="2026-09-04T07:26:35.574" v="1" actId="1076"/>
          <ac:spMkLst>
            <pc:docMk/>
            <pc:sldMk cId="1567715759" sldId="258"/>
            <ac:spMk id="13" creationId="{6954FA77-643F-42FA-A1E4-B5EA8F661F24}"/>
          </ac:spMkLst>
        </pc:spChg>
        <pc:spChg chg="mod">
          <ac:chgData name="Eyasu Tesfamichael Araya(H00396248)" userId="5f34a840-5bf0-42b4-8834-69f81fab09db" providerId="ADAL" clId="{0A60BBEC-1A11-42D0-9589-428906AA01F9}" dt="2026-09-04T08:02:03.278" v="353" actId="20577"/>
          <ac:spMkLst>
            <pc:docMk/>
            <pc:sldMk cId="1567715759" sldId="258"/>
            <ac:spMk id="15" creationId="{DE9B025C-A448-4C70-9F54-654FA669CD35}"/>
          </ac:spMkLst>
        </pc:spChg>
        <pc:spChg chg="mod">
          <ac:chgData name="Eyasu Tesfamichael Araya(H00396248)" userId="5f34a840-5bf0-42b4-8834-69f81fab09db" providerId="ADAL" clId="{0A60BBEC-1A11-42D0-9589-428906AA01F9}" dt="2026-09-04T07:28:58.111" v="78" actId="20577"/>
          <ac:spMkLst>
            <pc:docMk/>
            <pc:sldMk cId="1567715759" sldId="258"/>
            <ac:spMk id="17" creationId="{D74210D6-01BC-42BD-8DE6-39C9C3EECCBA}"/>
          </ac:spMkLst>
        </pc:spChg>
      </pc:sldChg>
      <pc:sldChg chg="ord">
        <pc:chgData name="Eyasu Tesfamichael Araya(H00396248)" userId="5f34a840-5bf0-42b4-8834-69f81fab09db" providerId="ADAL" clId="{0A60BBEC-1A11-42D0-9589-428906AA01F9}" dt="2026-09-04T08:17:14.232" v="392"/>
        <pc:sldMkLst>
          <pc:docMk/>
          <pc:sldMk cId="180954338" sldId="260"/>
        </pc:sldMkLst>
      </pc:sldChg>
      <pc:sldChg chg="delSp modSp mod">
        <pc:chgData name="Eyasu Tesfamichael Araya(H00396248)" userId="5f34a840-5bf0-42b4-8834-69f81fab09db" providerId="ADAL" clId="{0A60BBEC-1A11-42D0-9589-428906AA01F9}" dt="2026-09-04T07:38:54.118" v="129" actId="14100"/>
        <pc:sldMkLst>
          <pc:docMk/>
          <pc:sldMk cId="3642325858" sldId="271"/>
        </pc:sldMkLst>
        <pc:spChg chg="del">
          <ac:chgData name="Eyasu Tesfamichael Araya(H00396248)" userId="5f34a840-5bf0-42b4-8834-69f81fab09db" providerId="ADAL" clId="{0A60BBEC-1A11-42D0-9589-428906AA01F9}" dt="2026-09-04T07:38:33.996" v="123" actId="478"/>
          <ac:spMkLst>
            <pc:docMk/>
            <pc:sldMk cId="3642325858" sldId="271"/>
            <ac:spMk id="5" creationId="{5CF4D5AD-B99B-B502-A28C-4BD718B1C6E9}"/>
          </ac:spMkLst>
        </pc:spChg>
        <pc:spChg chg="del mod">
          <ac:chgData name="Eyasu Tesfamichael Araya(H00396248)" userId="5f34a840-5bf0-42b4-8834-69f81fab09db" providerId="ADAL" clId="{0A60BBEC-1A11-42D0-9589-428906AA01F9}" dt="2026-09-04T07:38:35.506" v="124" actId="478"/>
          <ac:spMkLst>
            <pc:docMk/>
            <pc:sldMk cId="3642325858" sldId="271"/>
            <ac:spMk id="7" creationId="{FCB58224-75D0-3C97-FB03-4C89226327F2}"/>
          </ac:spMkLst>
        </pc:spChg>
        <pc:picChg chg="mod">
          <ac:chgData name="Eyasu Tesfamichael Araya(H00396248)" userId="5f34a840-5bf0-42b4-8834-69f81fab09db" providerId="ADAL" clId="{0A60BBEC-1A11-42D0-9589-428906AA01F9}" dt="2026-09-04T07:38:54.118" v="129" actId="14100"/>
          <ac:picMkLst>
            <pc:docMk/>
            <pc:sldMk cId="3642325858" sldId="271"/>
            <ac:picMk id="6" creationId="{8DE14099-BCED-9C9B-9C53-0FD10A60DA70}"/>
          </ac:picMkLst>
        </pc:picChg>
      </pc:sldChg>
      <pc:sldChg chg="addSp delSp modSp mod ord">
        <pc:chgData name="Eyasu Tesfamichael Araya(H00396248)" userId="5f34a840-5bf0-42b4-8834-69f81fab09db" providerId="ADAL" clId="{0A60BBEC-1A11-42D0-9589-428906AA01F9}" dt="2026-09-04T08:05:03.900" v="355"/>
        <pc:sldMkLst>
          <pc:docMk/>
          <pc:sldMk cId="1623352141" sldId="272"/>
        </pc:sldMkLst>
        <pc:spChg chg="del">
          <ac:chgData name="Eyasu Tesfamichael Araya(H00396248)" userId="5f34a840-5bf0-42b4-8834-69f81fab09db" providerId="ADAL" clId="{0A60BBEC-1A11-42D0-9589-428906AA01F9}" dt="2026-09-04T07:39:01.149" v="130" actId="478"/>
          <ac:spMkLst>
            <pc:docMk/>
            <pc:sldMk cId="1623352141" sldId="272"/>
            <ac:spMk id="5" creationId="{849B9FC0-5BD1-4B39-1069-D2281AEC3803}"/>
          </ac:spMkLst>
        </pc:spChg>
        <pc:spChg chg="add del">
          <ac:chgData name="Eyasu Tesfamichael Araya(H00396248)" userId="5f34a840-5bf0-42b4-8834-69f81fab09db" providerId="ADAL" clId="{0A60BBEC-1A11-42D0-9589-428906AA01F9}" dt="2026-09-04T07:39:18.864" v="138" actId="478"/>
          <ac:spMkLst>
            <pc:docMk/>
            <pc:sldMk cId="1623352141" sldId="272"/>
            <ac:spMk id="7" creationId="{75F1B98E-6436-5CA0-31C9-5F5B18D49F05}"/>
          </ac:spMkLst>
        </pc:spChg>
        <pc:picChg chg="mod">
          <ac:chgData name="Eyasu Tesfamichael Araya(H00396248)" userId="5f34a840-5bf0-42b4-8834-69f81fab09db" providerId="ADAL" clId="{0A60BBEC-1A11-42D0-9589-428906AA01F9}" dt="2026-09-04T07:39:18.336" v="137" actId="1076"/>
          <ac:picMkLst>
            <pc:docMk/>
            <pc:sldMk cId="1623352141" sldId="272"/>
            <ac:picMk id="4" creationId="{C44B5AF8-1BAF-DA21-F138-596DC02E99E6}"/>
          </ac:picMkLst>
        </pc:picChg>
      </pc:sldChg>
      <pc:sldChg chg="del">
        <pc:chgData name="Eyasu Tesfamichael Araya(H00396248)" userId="5f34a840-5bf0-42b4-8834-69f81fab09db" providerId="ADAL" clId="{0A60BBEC-1A11-42D0-9589-428906AA01F9}" dt="2026-09-04T07:35:06.903" v="111" actId="47"/>
        <pc:sldMkLst>
          <pc:docMk/>
          <pc:sldMk cId="3255495754" sldId="274"/>
        </pc:sldMkLst>
      </pc:sldChg>
      <pc:sldChg chg="addSp delSp modSp add mod setBg">
        <pc:chgData name="Eyasu Tesfamichael Araya(H00396248)" userId="5f34a840-5bf0-42b4-8834-69f81fab09db" providerId="ADAL" clId="{0A60BBEC-1A11-42D0-9589-428906AA01F9}" dt="2026-09-04T07:32:16.006" v="88"/>
        <pc:sldMkLst>
          <pc:docMk/>
          <pc:sldMk cId="1661983185" sldId="277"/>
        </pc:sldMkLst>
        <pc:spChg chg="mod">
          <ac:chgData name="Eyasu Tesfamichael Araya(H00396248)" userId="5f34a840-5bf0-42b4-8834-69f81fab09db" providerId="ADAL" clId="{0A60BBEC-1A11-42D0-9589-428906AA01F9}" dt="2026-09-04T07:30:46.553" v="80"/>
          <ac:spMkLst>
            <pc:docMk/>
            <pc:sldMk cId="1661983185" sldId="277"/>
            <ac:spMk id="2" creationId="{61AF15BC-D6D9-9C64-A379-B2A2A2702D22}"/>
          </ac:spMkLst>
        </pc:spChg>
        <pc:spChg chg="del">
          <ac:chgData name="Eyasu Tesfamichael Araya(H00396248)" userId="5f34a840-5bf0-42b4-8834-69f81fab09db" providerId="ADAL" clId="{0A60BBEC-1A11-42D0-9589-428906AA01F9}" dt="2026-09-04T07:30:54.803" v="81" actId="478"/>
          <ac:spMkLst>
            <pc:docMk/>
            <pc:sldMk cId="1661983185" sldId="277"/>
            <ac:spMk id="4" creationId="{9B641066-A9DF-06F3-5070-754ECF942A76}"/>
          </ac:spMkLst>
        </pc:spChg>
        <pc:spChg chg="del">
          <ac:chgData name="Eyasu Tesfamichael Araya(H00396248)" userId="5f34a840-5bf0-42b4-8834-69f81fab09db" providerId="ADAL" clId="{0A60BBEC-1A11-42D0-9589-428906AA01F9}" dt="2026-09-04T07:30:54.803" v="81" actId="478"/>
          <ac:spMkLst>
            <pc:docMk/>
            <pc:sldMk cId="1661983185" sldId="277"/>
            <ac:spMk id="6" creationId="{C06931BF-B69D-3584-213D-719AE96225D5}"/>
          </ac:spMkLst>
        </pc:spChg>
        <pc:spChg chg="del">
          <ac:chgData name="Eyasu Tesfamichael Araya(H00396248)" userId="5f34a840-5bf0-42b4-8834-69f81fab09db" providerId="ADAL" clId="{0A60BBEC-1A11-42D0-9589-428906AA01F9}" dt="2026-09-04T07:30:54.803" v="81" actId="478"/>
          <ac:spMkLst>
            <pc:docMk/>
            <pc:sldMk cId="1661983185" sldId="277"/>
            <ac:spMk id="10" creationId="{58AAFE79-C50A-77C7-C52B-D1A4AA0BC477}"/>
          </ac:spMkLst>
        </pc:spChg>
        <pc:spChg chg="del">
          <ac:chgData name="Eyasu Tesfamichael Araya(H00396248)" userId="5f34a840-5bf0-42b4-8834-69f81fab09db" providerId="ADAL" clId="{0A60BBEC-1A11-42D0-9589-428906AA01F9}" dt="2026-09-04T07:30:54.803" v="81" actId="478"/>
          <ac:spMkLst>
            <pc:docMk/>
            <pc:sldMk cId="1661983185" sldId="277"/>
            <ac:spMk id="12" creationId="{BAEFCEA7-C782-E1F7-CB8E-271646D153BD}"/>
          </ac:spMkLst>
        </pc:spChg>
        <pc:spChg chg="del">
          <ac:chgData name="Eyasu Tesfamichael Araya(H00396248)" userId="5f34a840-5bf0-42b4-8834-69f81fab09db" providerId="ADAL" clId="{0A60BBEC-1A11-42D0-9589-428906AA01F9}" dt="2026-09-04T07:30:54.803" v="81" actId="478"/>
          <ac:spMkLst>
            <pc:docMk/>
            <pc:sldMk cId="1661983185" sldId="277"/>
            <ac:spMk id="16" creationId="{CD4DEF69-5AC5-EFED-D636-C32E7C7A5341}"/>
          </ac:spMkLst>
        </pc:spChg>
        <pc:spChg chg="del">
          <ac:chgData name="Eyasu Tesfamichael Araya(H00396248)" userId="5f34a840-5bf0-42b4-8834-69f81fab09db" providerId="ADAL" clId="{0A60BBEC-1A11-42D0-9589-428906AA01F9}" dt="2026-09-04T07:30:57.564" v="82" actId="478"/>
          <ac:spMkLst>
            <pc:docMk/>
            <pc:sldMk cId="1661983185" sldId="277"/>
            <ac:spMk id="18" creationId="{492F120F-F0D2-E86C-A2BC-8DD9A46A0878}"/>
          </ac:spMkLst>
        </pc:spChg>
        <pc:spChg chg="del">
          <ac:chgData name="Eyasu Tesfamichael Araya(H00396248)" userId="5f34a840-5bf0-42b4-8834-69f81fab09db" providerId="ADAL" clId="{0A60BBEC-1A11-42D0-9589-428906AA01F9}" dt="2026-09-04T07:30:54.803" v="81" actId="478"/>
          <ac:spMkLst>
            <pc:docMk/>
            <pc:sldMk cId="1661983185" sldId="277"/>
            <ac:spMk id="20" creationId="{CE7C0C81-67DB-F861-1527-5957955500EA}"/>
          </ac:spMkLst>
        </pc:spChg>
        <pc:spChg chg="del">
          <ac:chgData name="Eyasu Tesfamichael Araya(H00396248)" userId="5f34a840-5bf0-42b4-8834-69f81fab09db" providerId="ADAL" clId="{0A60BBEC-1A11-42D0-9589-428906AA01F9}" dt="2026-09-04T07:30:54.803" v="81" actId="478"/>
          <ac:spMkLst>
            <pc:docMk/>
            <pc:sldMk cId="1661983185" sldId="277"/>
            <ac:spMk id="21" creationId="{8E8FFF22-7DE1-3E9A-0118-768C510AE314}"/>
          </ac:spMkLst>
        </pc:spChg>
        <pc:spChg chg="del">
          <ac:chgData name="Eyasu Tesfamichael Araya(H00396248)" userId="5f34a840-5bf0-42b4-8834-69f81fab09db" providerId="ADAL" clId="{0A60BBEC-1A11-42D0-9589-428906AA01F9}" dt="2026-09-04T07:30:54.803" v="81" actId="478"/>
          <ac:spMkLst>
            <pc:docMk/>
            <pc:sldMk cId="1661983185" sldId="277"/>
            <ac:spMk id="22" creationId="{90876651-D6F2-A711-BB31-0BDDC6E161C7}"/>
          </ac:spMkLst>
        </pc:spChg>
        <pc:spChg chg="del">
          <ac:chgData name="Eyasu Tesfamichael Araya(H00396248)" userId="5f34a840-5bf0-42b4-8834-69f81fab09db" providerId="ADAL" clId="{0A60BBEC-1A11-42D0-9589-428906AA01F9}" dt="2026-09-04T07:30:54.803" v="81" actId="478"/>
          <ac:spMkLst>
            <pc:docMk/>
            <pc:sldMk cId="1661983185" sldId="277"/>
            <ac:spMk id="24" creationId="{25A5C534-5224-89A3-6146-A5885DD707C8}"/>
          </ac:spMkLst>
        </pc:spChg>
        <pc:spChg chg="del">
          <ac:chgData name="Eyasu Tesfamichael Araya(H00396248)" userId="5f34a840-5bf0-42b4-8834-69f81fab09db" providerId="ADAL" clId="{0A60BBEC-1A11-42D0-9589-428906AA01F9}" dt="2026-09-04T07:30:54.803" v="81" actId="478"/>
          <ac:spMkLst>
            <pc:docMk/>
            <pc:sldMk cId="1661983185" sldId="277"/>
            <ac:spMk id="25" creationId="{914519FA-FD03-32BB-5780-1A3D366F90AC}"/>
          </ac:spMkLst>
        </pc:spChg>
        <pc:spChg chg="del">
          <ac:chgData name="Eyasu Tesfamichael Araya(H00396248)" userId="5f34a840-5bf0-42b4-8834-69f81fab09db" providerId="ADAL" clId="{0A60BBEC-1A11-42D0-9589-428906AA01F9}" dt="2026-09-04T07:30:58.371" v="83" actId="478"/>
          <ac:spMkLst>
            <pc:docMk/>
            <pc:sldMk cId="1661983185" sldId="277"/>
            <ac:spMk id="51" creationId="{53C782C1-CC68-70FE-0479-D8DECEBF0590}"/>
          </ac:spMkLst>
        </pc:spChg>
        <pc:spChg chg="del mod">
          <ac:chgData name="Eyasu Tesfamichael Araya(H00396248)" userId="5f34a840-5bf0-42b4-8834-69f81fab09db" providerId="ADAL" clId="{0A60BBEC-1A11-42D0-9589-428906AA01F9}" dt="2026-09-04T07:31:00.131" v="85" actId="478"/>
          <ac:spMkLst>
            <pc:docMk/>
            <pc:sldMk cId="1661983185" sldId="277"/>
            <ac:spMk id="53" creationId="{A46A2C67-18DE-0445-7B45-1F785220C4EE}"/>
          </ac:spMkLst>
        </pc:spChg>
        <pc:graphicFrameChg chg="add del mod">
          <ac:chgData name="Eyasu Tesfamichael Araya(H00396248)" userId="5f34a840-5bf0-42b4-8834-69f81fab09db" providerId="ADAL" clId="{0A60BBEC-1A11-42D0-9589-428906AA01F9}" dt="2026-09-04T07:32:15" v="87" actId="478"/>
          <ac:graphicFrameMkLst>
            <pc:docMk/>
            <pc:sldMk cId="1661983185" sldId="277"/>
            <ac:graphicFrameMk id="3" creationId="{E8AB7211-0294-3E94-6713-420C80725F97}"/>
          </ac:graphicFrameMkLst>
        </pc:graphicFrameChg>
        <pc:graphicFrameChg chg="add mod">
          <ac:chgData name="Eyasu Tesfamichael Araya(H00396248)" userId="5f34a840-5bf0-42b4-8834-69f81fab09db" providerId="ADAL" clId="{0A60BBEC-1A11-42D0-9589-428906AA01F9}" dt="2026-09-04T07:32:16.006" v="88"/>
          <ac:graphicFrameMkLst>
            <pc:docMk/>
            <pc:sldMk cId="1661983185" sldId="277"/>
            <ac:graphicFrameMk id="5" creationId="{0E13C1AC-11D0-4D70-23E6-042B19C226F4}"/>
          </ac:graphicFrameMkLst>
        </pc:graphicFrameChg>
      </pc:sldChg>
      <pc:sldChg chg="add del">
        <pc:chgData name="Eyasu Tesfamichael Araya(H00396248)" userId="5f34a840-5bf0-42b4-8834-69f81fab09db" providerId="ADAL" clId="{0A60BBEC-1A11-42D0-9589-428906AA01F9}" dt="2026-09-04T07:37:16.281" v="113"/>
        <pc:sldMkLst>
          <pc:docMk/>
          <pc:sldMk cId="1339309014" sldId="278"/>
        </pc:sldMkLst>
      </pc:sldChg>
      <pc:sldChg chg="delSp add del mod">
        <pc:chgData name="Eyasu Tesfamichael Araya(H00396248)" userId="5f34a840-5bf0-42b4-8834-69f81fab09db" providerId="ADAL" clId="{0A60BBEC-1A11-42D0-9589-428906AA01F9}" dt="2026-09-04T07:34:27.419" v="110" actId="47"/>
        <pc:sldMkLst>
          <pc:docMk/>
          <pc:sldMk cId="1378770216" sldId="278"/>
        </pc:sldMkLst>
        <pc:spChg chg="del">
          <ac:chgData name="Eyasu Tesfamichael Araya(H00396248)" userId="5f34a840-5bf0-42b4-8834-69f81fab09db" providerId="ADAL" clId="{0A60BBEC-1A11-42D0-9589-428906AA01F9}" dt="2026-09-04T07:33:30.859" v="92" actId="478"/>
          <ac:spMkLst>
            <pc:docMk/>
            <pc:sldMk cId="1378770216" sldId="278"/>
            <ac:spMk id="5" creationId="{4ACD7F35-EFA9-AB6C-0D81-B47F37DFB37F}"/>
          </ac:spMkLst>
        </pc:spChg>
        <pc:spChg chg="del">
          <ac:chgData name="Eyasu Tesfamichael Araya(H00396248)" userId="5f34a840-5bf0-42b4-8834-69f81fab09db" providerId="ADAL" clId="{0A60BBEC-1A11-42D0-9589-428906AA01F9}" dt="2026-09-04T07:33:29.389" v="91" actId="478"/>
          <ac:spMkLst>
            <pc:docMk/>
            <pc:sldMk cId="1378770216" sldId="278"/>
            <ac:spMk id="7" creationId="{11CCA598-0CCC-C17D-3AEC-D8C64CC69B56}"/>
          </ac:spMkLst>
        </pc:spChg>
        <pc:picChg chg="del">
          <ac:chgData name="Eyasu Tesfamichael Araya(H00396248)" userId="5f34a840-5bf0-42b4-8834-69f81fab09db" providerId="ADAL" clId="{0A60BBEC-1A11-42D0-9589-428906AA01F9}" dt="2026-09-04T07:33:26.346" v="90" actId="478"/>
          <ac:picMkLst>
            <pc:docMk/>
            <pc:sldMk cId="1378770216" sldId="278"/>
            <ac:picMk id="6" creationId="{26B0A7BE-7008-2A51-1B66-4BA5E1D6BAC8}"/>
          </ac:picMkLst>
        </pc:picChg>
      </pc:sldChg>
      <pc:sldChg chg="addSp delSp modSp add mod">
        <pc:chgData name="Eyasu Tesfamichael Araya(H00396248)" userId="5f34a840-5bf0-42b4-8834-69f81fab09db" providerId="ADAL" clId="{0A60BBEC-1A11-42D0-9589-428906AA01F9}" dt="2026-09-04T07:37:55.848" v="122" actId="1076"/>
        <pc:sldMkLst>
          <pc:docMk/>
          <pc:sldMk cId="1406673078" sldId="278"/>
        </pc:sldMkLst>
        <pc:spChg chg="mod">
          <ac:chgData name="Eyasu Tesfamichael Araya(H00396248)" userId="5f34a840-5bf0-42b4-8834-69f81fab09db" providerId="ADAL" clId="{0A60BBEC-1A11-42D0-9589-428906AA01F9}" dt="2026-09-04T07:37:37.749" v="120"/>
          <ac:spMkLst>
            <pc:docMk/>
            <pc:sldMk cId="1406673078" sldId="278"/>
            <ac:spMk id="2" creationId="{94B57C39-A125-533B-375D-2DAB2F4567D2}"/>
          </ac:spMkLst>
        </pc:spChg>
        <pc:spChg chg="del">
          <ac:chgData name="Eyasu Tesfamichael Araya(H00396248)" userId="5f34a840-5bf0-42b4-8834-69f81fab09db" providerId="ADAL" clId="{0A60BBEC-1A11-42D0-9589-428906AA01F9}" dt="2026-09-04T07:37:24.779" v="118" actId="478"/>
          <ac:spMkLst>
            <pc:docMk/>
            <pc:sldMk cId="1406673078" sldId="278"/>
            <ac:spMk id="5" creationId="{B99236D7-FC60-F162-D6EA-30A928A9B79B}"/>
          </ac:spMkLst>
        </pc:spChg>
        <pc:spChg chg="del mod">
          <ac:chgData name="Eyasu Tesfamichael Araya(H00396248)" userId="5f34a840-5bf0-42b4-8834-69f81fab09db" providerId="ADAL" clId="{0A60BBEC-1A11-42D0-9589-428906AA01F9}" dt="2026-09-04T07:37:24.015" v="117" actId="478"/>
          <ac:spMkLst>
            <pc:docMk/>
            <pc:sldMk cId="1406673078" sldId="278"/>
            <ac:spMk id="7" creationId="{597A643A-50C7-37A1-F2A7-ED0C1515145F}"/>
          </ac:spMkLst>
        </pc:spChg>
        <pc:graphicFrameChg chg="add mod modGraphic">
          <ac:chgData name="Eyasu Tesfamichael Araya(H00396248)" userId="5f34a840-5bf0-42b4-8834-69f81fab09db" providerId="ADAL" clId="{0A60BBEC-1A11-42D0-9589-428906AA01F9}" dt="2026-09-04T07:37:55.848" v="122" actId="1076"/>
          <ac:graphicFrameMkLst>
            <pc:docMk/>
            <pc:sldMk cId="1406673078" sldId="278"/>
            <ac:graphicFrameMk id="3" creationId="{D72A2C61-9CFF-718A-5B85-F0EE501F4E9F}"/>
          </ac:graphicFrameMkLst>
        </pc:graphicFrameChg>
        <pc:picChg chg="del">
          <ac:chgData name="Eyasu Tesfamichael Araya(H00396248)" userId="5f34a840-5bf0-42b4-8834-69f81fab09db" providerId="ADAL" clId="{0A60BBEC-1A11-42D0-9589-428906AA01F9}" dt="2026-09-04T07:37:21.091" v="115" actId="478"/>
          <ac:picMkLst>
            <pc:docMk/>
            <pc:sldMk cId="1406673078" sldId="278"/>
            <ac:picMk id="6" creationId="{064B22CB-995A-A9BA-B261-BFF59BEC72C2}"/>
          </ac:picMkLst>
        </pc:picChg>
      </pc:sldChg>
      <pc:sldChg chg="addSp delSp modSp add mod ord">
        <pc:chgData name="Eyasu Tesfamichael Araya(H00396248)" userId="5f34a840-5bf0-42b4-8834-69f81fab09db" providerId="ADAL" clId="{0A60BBEC-1A11-42D0-9589-428906AA01F9}" dt="2026-09-04T08:05:06.243" v="357"/>
        <pc:sldMkLst>
          <pc:docMk/>
          <pc:sldMk cId="810582112" sldId="279"/>
        </pc:sldMkLst>
        <pc:spChg chg="mod">
          <ac:chgData name="Eyasu Tesfamichael Araya(H00396248)" userId="5f34a840-5bf0-42b4-8834-69f81fab09db" providerId="ADAL" clId="{0A60BBEC-1A11-42D0-9589-428906AA01F9}" dt="2026-09-04T07:44:35.138" v="145"/>
          <ac:spMkLst>
            <pc:docMk/>
            <pc:sldMk cId="810582112" sldId="279"/>
            <ac:spMk id="2" creationId="{D13E4512-CE41-8EA3-106C-A7302E99E888}"/>
          </ac:spMkLst>
        </pc:spChg>
        <pc:spChg chg="del">
          <ac:chgData name="Eyasu Tesfamichael Araya(H00396248)" userId="5f34a840-5bf0-42b4-8834-69f81fab09db" providerId="ADAL" clId="{0A60BBEC-1A11-42D0-9589-428906AA01F9}" dt="2026-09-04T07:44:18.208" v="142" actId="478"/>
          <ac:spMkLst>
            <pc:docMk/>
            <pc:sldMk cId="810582112" sldId="279"/>
            <ac:spMk id="7" creationId="{D59E4EC2-9407-CE30-2545-4D9457B50367}"/>
          </ac:spMkLst>
        </pc:spChg>
        <pc:graphicFrameChg chg="add del mod modGraphic">
          <ac:chgData name="Eyasu Tesfamichael Araya(H00396248)" userId="5f34a840-5bf0-42b4-8834-69f81fab09db" providerId="ADAL" clId="{0A60BBEC-1A11-42D0-9589-428906AA01F9}" dt="2026-09-04T07:50:17.106" v="186" actId="478"/>
          <ac:graphicFrameMkLst>
            <pc:docMk/>
            <pc:sldMk cId="810582112" sldId="279"/>
            <ac:graphicFrameMk id="3" creationId="{F9DCF923-D646-0ED3-D552-95805A643011}"/>
          </ac:graphicFrameMkLst>
        </pc:graphicFrameChg>
        <pc:graphicFrameChg chg="add del mod modGraphic">
          <ac:chgData name="Eyasu Tesfamichael Araya(H00396248)" userId="5f34a840-5bf0-42b4-8834-69f81fab09db" providerId="ADAL" clId="{0A60BBEC-1A11-42D0-9589-428906AA01F9}" dt="2026-09-04T07:52:17.631" v="196" actId="478"/>
          <ac:graphicFrameMkLst>
            <pc:docMk/>
            <pc:sldMk cId="810582112" sldId="279"/>
            <ac:graphicFrameMk id="5" creationId="{67A948F4-3A6D-5CAD-60BF-A940514EB497}"/>
          </ac:graphicFrameMkLst>
        </pc:graphicFrameChg>
        <pc:graphicFrameChg chg="add mod modGraphic">
          <ac:chgData name="Eyasu Tesfamichael Araya(H00396248)" userId="5f34a840-5bf0-42b4-8834-69f81fab09db" providerId="ADAL" clId="{0A60BBEC-1A11-42D0-9589-428906AA01F9}" dt="2026-09-04T07:53:48.161" v="213" actId="1076"/>
          <ac:graphicFrameMkLst>
            <pc:docMk/>
            <pc:sldMk cId="810582112" sldId="279"/>
            <ac:graphicFrameMk id="6" creationId="{7A198911-7A5D-3C87-E5E9-8FDACC1CAD2B}"/>
          </ac:graphicFrameMkLst>
        </pc:graphicFrameChg>
        <pc:picChg chg="del">
          <ac:chgData name="Eyasu Tesfamichael Araya(H00396248)" userId="5f34a840-5bf0-42b4-8834-69f81fab09db" providerId="ADAL" clId="{0A60BBEC-1A11-42D0-9589-428906AA01F9}" dt="2026-09-04T07:44:19.016" v="143" actId="478"/>
          <ac:picMkLst>
            <pc:docMk/>
            <pc:sldMk cId="810582112" sldId="279"/>
            <ac:picMk id="4" creationId="{BDA61505-4350-A2C8-8C3A-72D9665E161D}"/>
          </ac:picMkLst>
        </pc:picChg>
      </pc:sldChg>
      <pc:sldChg chg="add del">
        <pc:chgData name="Eyasu Tesfamichael Araya(H00396248)" userId="5f34a840-5bf0-42b4-8834-69f81fab09db" providerId="ADAL" clId="{0A60BBEC-1A11-42D0-9589-428906AA01F9}" dt="2026-09-04T07:42:05.518" v="140" actId="47"/>
        <pc:sldMkLst>
          <pc:docMk/>
          <pc:sldMk cId="1658287465" sldId="279"/>
        </pc:sldMkLst>
      </pc:sldChg>
      <pc:sldChg chg="addSp delSp modSp add mod">
        <pc:chgData name="Eyasu Tesfamichael Araya(H00396248)" userId="5f34a840-5bf0-42b4-8834-69f81fab09db" providerId="ADAL" clId="{0A60BBEC-1A11-42D0-9589-428906AA01F9}" dt="2026-09-04T07:56:04.089" v="232" actId="20577"/>
        <pc:sldMkLst>
          <pc:docMk/>
          <pc:sldMk cId="1334353423" sldId="280"/>
        </pc:sldMkLst>
        <pc:spChg chg="mod">
          <ac:chgData name="Eyasu Tesfamichael Araya(H00396248)" userId="5f34a840-5bf0-42b4-8834-69f81fab09db" providerId="ADAL" clId="{0A60BBEC-1A11-42D0-9589-428906AA01F9}" dt="2026-09-04T07:54:51.015" v="215"/>
          <ac:spMkLst>
            <pc:docMk/>
            <pc:sldMk cId="1334353423" sldId="280"/>
            <ac:spMk id="2" creationId="{0B09D8E6-4727-4569-FF6E-2441FFA32F87}"/>
          </ac:spMkLst>
        </pc:spChg>
        <pc:spChg chg="del">
          <ac:chgData name="Eyasu Tesfamichael Araya(H00396248)" userId="5f34a840-5bf0-42b4-8834-69f81fab09db" providerId="ADAL" clId="{0A60BBEC-1A11-42D0-9589-428906AA01F9}" dt="2026-09-04T07:54:54.917" v="216" actId="478"/>
          <ac:spMkLst>
            <pc:docMk/>
            <pc:sldMk cId="1334353423" sldId="280"/>
            <ac:spMk id="5" creationId="{900C62B6-8B7A-4AE9-F5DB-8614DC2FC342}"/>
          </ac:spMkLst>
        </pc:spChg>
        <pc:spChg chg="del">
          <ac:chgData name="Eyasu Tesfamichael Araya(H00396248)" userId="5f34a840-5bf0-42b4-8834-69f81fab09db" providerId="ADAL" clId="{0A60BBEC-1A11-42D0-9589-428906AA01F9}" dt="2026-09-04T07:54:56.035" v="217" actId="478"/>
          <ac:spMkLst>
            <pc:docMk/>
            <pc:sldMk cId="1334353423" sldId="280"/>
            <ac:spMk id="7" creationId="{2F365091-A229-5A81-9A7E-0DB5CFB32B69}"/>
          </ac:spMkLst>
        </pc:spChg>
        <pc:graphicFrameChg chg="add mod modGraphic">
          <ac:chgData name="Eyasu Tesfamichael Araya(H00396248)" userId="5f34a840-5bf0-42b4-8834-69f81fab09db" providerId="ADAL" clId="{0A60BBEC-1A11-42D0-9589-428906AA01F9}" dt="2026-09-04T07:56:04.089" v="232" actId="20577"/>
          <ac:graphicFrameMkLst>
            <pc:docMk/>
            <pc:sldMk cId="1334353423" sldId="280"/>
            <ac:graphicFrameMk id="3" creationId="{AED74D8A-B90B-8B9E-795F-E2147BD37B0B}"/>
          </ac:graphicFrameMkLst>
        </pc:graphicFrameChg>
        <pc:picChg chg="del">
          <ac:chgData name="Eyasu Tesfamichael Araya(H00396248)" userId="5f34a840-5bf0-42b4-8834-69f81fab09db" providerId="ADAL" clId="{0A60BBEC-1A11-42D0-9589-428906AA01F9}" dt="2026-09-04T07:54:56.630" v="218" actId="478"/>
          <ac:picMkLst>
            <pc:docMk/>
            <pc:sldMk cId="1334353423" sldId="280"/>
            <ac:picMk id="6" creationId="{FAC5A39A-E41E-08AC-C020-3783F15A56C2}"/>
          </ac:picMkLst>
        </pc:picChg>
      </pc:sldChg>
      <pc:sldChg chg="addSp delSp modSp add mod ord">
        <pc:chgData name="Eyasu Tesfamichael Araya(H00396248)" userId="5f34a840-5bf0-42b4-8834-69f81fab09db" providerId="ADAL" clId="{0A60BBEC-1A11-42D0-9589-428906AA01F9}" dt="2026-09-04T08:16:31.657" v="390"/>
        <pc:sldMkLst>
          <pc:docMk/>
          <pc:sldMk cId="69078770" sldId="281"/>
        </pc:sldMkLst>
        <pc:spChg chg="mod">
          <ac:chgData name="Eyasu Tesfamichael Araya(H00396248)" userId="5f34a840-5bf0-42b4-8834-69f81fab09db" providerId="ADAL" clId="{0A60BBEC-1A11-42D0-9589-428906AA01F9}" dt="2026-09-04T07:57:21.194" v="256" actId="20577"/>
          <ac:spMkLst>
            <pc:docMk/>
            <pc:sldMk cId="69078770" sldId="281"/>
            <ac:spMk id="2" creationId="{CBC4AB1D-C1A0-BC7E-8F4D-E17ADFEC854D}"/>
          </ac:spMkLst>
        </pc:spChg>
        <pc:spChg chg="del">
          <ac:chgData name="Eyasu Tesfamichael Araya(H00396248)" userId="5f34a840-5bf0-42b4-8834-69f81fab09db" providerId="ADAL" clId="{0A60BBEC-1A11-42D0-9589-428906AA01F9}" dt="2026-09-04T07:56:56.627" v="236" actId="478"/>
          <ac:spMkLst>
            <pc:docMk/>
            <pc:sldMk cId="69078770" sldId="281"/>
            <ac:spMk id="5" creationId="{45107577-3511-7292-D7BE-7206F369AFE0}"/>
          </ac:spMkLst>
        </pc:spChg>
        <pc:spChg chg="del mod">
          <ac:chgData name="Eyasu Tesfamichael Araya(H00396248)" userId="5f34a840-5bf0-42b4-8834-69f81fab09db" providerId="ADAL" clId="{0A60BBEC-1A11-42D0-9589-428906AA01F9}" dt="2026-09-04T07:56:55.927" v="235" actId="478"/>
          <ac:spMkLst>
            <pc:docMk/>
            <pc:sldMk cId="69078770" sldId="281"/>
            <ac:spMk id="7" creationId="{728705A2-2AAF-7F1F-BE95-71BCED7A4623}"/>
          </ac:spMkLst>
        </pc:spChg>
        <pc:graphicFrameChg chg="add mod modGraphic">
          <ac:chgData name="Eyasu Tesfamichael Araya(H00396248)" userId="5f34a840-5bf0-42b4-8834-69f81fab09db" providerId="ADAL" clId="{0A60BBEC-1A11-42D0-9589-428906AA01F9}" dt="2026-09-04T07:59:14.782" v="269" actId="403"/>
          <ac:graphicFrameMkLst>
            <pc:docMk/>
            <pc:sldMk cId="69078770" sldId="281"/>
            <ac:graphicFrameMk id="3" creationId="{A2125F34-C26C-05E4-FB86-CCF73DC7B808}"/>
          </ac:graphicFrameMkLst>
        </pc:graphicFrameChg>
        <pc:picChg chg="del">
          <ac:chgData name="Eyasu Tesfamichael Araya(H00396248)" userId="5f34a840-5bf0-42b4-8834-69f81fab09db" providerId="ADAL" clId="{0A60BBEC-1A11-42D0-9589-428906AA01F9}" dt="2026-09-04T07:57:00.857" v="238" actId="478"/>
          <ac:picMkLst>
            <pc:docMk/>
            <pc:sldMk cId="69078770" sldId="281"/>
            <ac:picMk id="4" creationId="{36685AEC-D85C-D196-1CE0-696B1B91DD27}"/>
          </ac:picMkLst>
        </pc:picChg>
        <pc:picChg chg="del">
          <ac:chgData name="Eyasu Tesfamichael Araya(H00396248)" userId="5f34a840-5bf0-42b4-8834-69f81fab09db" providerId="ADAL" clId="{0A60BBEC-1A11-42D0-9589-428906AA01F9}" dt="2026-09-04T07:57:00.134" v="237" actId="478"/>
          <ac:picMkLst>
            <pc:docMk/>
            <pc:sldMk cId="69078770" sldId="281"/>
            <ac:picMk id="9" creationId="{33985336-FFB5-802D-B82E-9350A5A5174E}"/>
          </ac:picMkLst>
        </pc:picChg>
      </pc:sldChg>
      <pc:sldChg chg="addSp delSp modSp add mod">
        <pc:chgData name="Eyasu Tesfamichael Araya(H00396248)" userId="5f34a840-5bf0-42b4-8834-69f81fab09db" providerId="ADAL" clId="{0A60BBEC-1A11-42D0-9589-428906AA01F9}" dt="2026-09-04T08:01:01.943" v="340" actId="1076"/>
        <pc:sldMkLst>
          <pc:docMk/>
          <pc:sldMk cId="1253824190" sldId="282"/>
        </pc:sldMkLst>
        <pc:spChg chg="add del mod">
          <ac:chgData name="Eyasu Tesfamichael Araya(H00396248)" userId="5f34a840-5bf0-42b4-8834-69f81fab09db" providerId="ADAL" clId="{0A60BBEC-1A11-42D0-9589-428906AA01F9}" dt="2026-09-04T08:01:01.943" v="340" actId="1076"/>
          <ac:spMkLst>
            <pc:docMk/>
            <pc:sldMk cId="1253824190" sldId="282"/>
            <ac:spMk id="2" creationId="{1DBC91FF-A782-C960-3D7B-391A76E72E4C}"/>
          </ac:spMkLst>
        </pc:spChg>
        <pc:spChg chg="del">
          <ac:chgData name="Eyasu Tesfamichael Araya(H00396248)" userId="5f34a840-5bf0-42b4-8834-69f81fab09db" providerId="ADAL" clId="{0A60BBEC-1A11-42D0-9589-428906AA01F9}" dt="2026-09-04T07:59:41.134" v="273" actId="478"/>
          <ac:spMkLst>
            <pc:docMk/>
            <pc:sldMk cId="1253824190" sldId="282"/>
            <ac:spMk id="21" creationId="{196A41DB-C8C7-5718-14CE-6EC5B161D55A}"/>
          </ac:spMkLst>
        </pc:spChg>
        <pc:graphicFrameChg chg="del">
          <ac:chgData name="Eyasu Tesfamichael Araya(H00396248)" userId="5f34a840-5bf0-42b4-8834-69f81fab09db" providerId="ADAL" clId="{0A60BBEC-1A11-42D0-9589-428906AA01F9}" dt="2026-09-04T07:59:44.154" v="275" actId="478"/>
          <ac:graphicFrameMkLst>
            <pc:docMk/>
            <pc:sldMk cId="1253824190" sldId="282"/>
            <ac:graphicFrameMk id="3" creationId="{FAF6AD5E-DDA1-96B1-AD8D-004406E97846}"/>
          </ac:graphicFrameMkLst>
        </pc:graphicFrameChg>
        <pc:cxnChg chg="del">
          <ac:chgData name="Eyasu Tesfamichael Araya(H00396248)" userId="5f34a840-5bf0-42b4-8834-69f81fab09db" providerId="ADAL" clId="{0A60BBEC-1A11-42D0-9589-428906AA01F9}" dt="2026-09-04T07:59:42.258" v="274" actId="478"/>
          <ac:cxnSpMkLst>
            <pc:docMk/>
            <pc:sldMk cId="1253824190" sldId="282"/>
            <ac:cxnSpMk id="23" creationId="{57C093EE-D1A1-9D3E-7102-E2E8914DCA84}"/>
          </ac:cxnSpMkLst>
        </pc:cxnChg>
      </pc:sldChg>
      <pc:sldChg chg="addSp delSp modSp add mod">
        <pc:chgData name="Eyasu Tesfamichael Araya(H00396248)" userId="5f34a840-5bf0-42b4-8834-69f81fab09db" providerId="ADAL" clId="{0A60BBEC-1A11-42D0-9589-428906AA01F9}" dt="2026-09-04T08:13:43.114" v="388" actId="20577"/>
        <pc:sldMkLst>
          <pc:docMk/>
          <pc:sldMk cId="2362741516" sldId="283"/>
        </pc:sldMkLst>
        <pc:spChg chg="mod">
          <ac:chgData name="Eyasu Tesfamichael Araya(H00396248)" userId="5f34a840-5bf0-42b4-8834-69f81fab09db" providerId="ADAL" clId="{0A60BBEC-1A11-42D0-9589-428906AA01F9}" dt="2026-09-04T08:10:26.657" v="359"/>
          <ac:spMkLst>
            <pc:docMk/>
            <pc:sldMk cId="2362741516" sldId="283"/>
            <ac:spMk id="2" creationId="{97FA94B9-42AA-680D-F18E-A9D4E0505ADD}"/>
          </ac:spMkLst>
        </pc:spChg>
        <pc:spChg chg="add mod">
          <ac:chgData name="Eyasu Tesfamichael Araya(H00396248)" userId="5f34a840-5bf0-42b4-8834-69f81fab09db" providerId="ADAL" clId="{0A60BBEC-1A11-42D0-9589-428906AA01F9}" dt="2026-09-04T08:13:29.588" v="377" actId="14100"/>
          <ac:spMkLst>
            <pc:docMk/>
            <pc:sldMk cId="2362741516" sldId="283"/>
            <ac:spMk id="4" creationId="{7722EF48-D551-B54B-F34E-8EBE1288320E}"/>
          </ac:spMkLst>
        </pc:spChg>
        <pc:spChg chg="add mod">
          <ac:chgData name="Eyasu Tesfamichael Araya(H00396248)" userId="5f34a840-5bf0-42b4-8834-69f81fab09db" providerId="ADAL" clId="{0A60BBEC-1A11-42D0-9589-428906AA01F9}" dt="2026-09-04T08:13:43.114" v="388" actId="20577"/>
          <ac:spMkLst>
            <pc:docMk/>
            <pc:sldMk cId="2362741516" sldId="283"/>
            <ac:spMk id="7" creationId="{56DB4954-9AD1-4B48-4A13-B3A5FD21FF93}"/>
          </ac:spMkLst>
        </pc:spChg>
        <pc:graphicFrameChg chg="del">
          <ac:chgData name="Eyasu Tesfamichael Araya(H00396248)" userId="5f34a840-5bf0-42b4-8834-69f81fab09db" providerId="ADAL" clId="{0A60BBEC-1A11-42D0-9589-428906AA01F9}" dt="2026-09-04T08:11:55.526" v="360" actId="478"/>
          <ac:graphicFrameMkLst>
            <pc:docMk/>
            <pc:sldMk cId="2362741516" sldId="283"/>
            <ac:graphicFrameMk id="5" creationId="{9310A1DE-804E-3547-2CFE-4C2125DC7345}"/>
          </ac:graphicFrameMkLst>
        </pc:graphicFrameChg>
        <pc:graphicFrameChg chg="add del mod">
          <ac:chgData name="Eyasu Tesfamichael Araya(H00396248)" userId="5f34a840-5bf0-42b4-8834-69f81fab09db" providerId="ADAL" clId="{0A60BBEC-1A11-42D0-9589-428906AA01F9}" dt="2026-09-04T08:13:10.501" v="370" actId="478"/>
          <ac:graphicFrameMkLst>
            <pc:docMk/>
            <pc:sldMk cId="2362741516" sldId="283"/>
            <ac:graphicFrameMk id="8" creationId="{A12AE6BD-91CD-65C6-679B-0EF8299CB993}"/>
          </ac:graphicFrameMkLst>
        </pc:graphicFrameChg>
        <pc:graphicFrameChg chg="add mod modGraphic">
          <ac:chgData name="Eyasu Tesfamichael Araya(H00396248)" userId="5f34a840-5bf0-42b4-8834-69f81fab09db" providerId="ADAL" clId="{0A60BBEC-1A11-42D0-9589-428906AA01F9}" dt="2026-09-04T08:13:32.315" v="378" actId="1076"/>
          <ac:graphicFrameMkLst>
            <pc:docMk/>
            <pc:sldMk cId="2362741516" sldId="283"/>
            <ac:graphicFrameMk id="9" creationId="{4E601E0F-906D-0987-F6B6-438A51EBCB2B}"/>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638F9-1E10-2FBA-875B-B6493A00D8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4F0C62-5609-C491-5F3D-5BD88F9568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4DD51A-8352-28E6-2D44-F92D58E29A1E}"/>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7A69318E-64F1-3305-34D5-76B06DEFD14E}"/>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011186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1FC95A-ADA4-ACE3-60DC-DE7B3FCB5D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02B6C7-03AA-4F0B-9F11-ED229398F5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6A1325-878C-2517-94DE-0B2D730B407D}"/>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28C3C8A5-736F-566D-E22B-8401BC5D636E}"/>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690110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F55D4-8265-FC6E-64FE-FA6C31FBB1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C05E36-BE9C-04F4-742E-484136554D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8910B5-E924-9442-470E-60871E8FF627}"/>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8F5384FA-F79A-0950-5B7D-98D8939393E8}"/>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6810843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3FCF7-5E40-A165-BB66-308D18AB8B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1AA8B9-29C4-09A2-E506-6282A24C2D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292949-9241-F337-DEAB-CC9C1990893D}"/>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8BC1E196-F889-AA09-2B83-5C7F52C855D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7788256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CC8AD-0F05-4F19-E966-66B4E0C8E2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328950-3379-9CA8-A075-DA849BD5F8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7C728E-5E5B-3C4E-1FB6-1D1D6CFC1B40}"/>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FBBAC7A7-3F39-0D57-C2AA-269CFD96EC6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497935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ABF25-BD7E-58DD-8A32-343577D8C6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721A9-193E-8ED0-52F6-62CE0C6D19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4E3209-6EEC-7863-3BDE-D84250D39599}"/>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10E24DA4-419F-5304-9164-66A97450C41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5093952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8CA2D-4DAE-C081-1EEA-57D4253111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24C717-73BA-08DB-98B7-8C4ADE39C2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E09C42-F54B-84B7-CC22-59C19D386C84}"/>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A8CD62FF-E039-BF29-96DC-33B51FE21C8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5152340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91EBD-D69A-A52E-15EB-1DB6D8D10E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AF0018-1F81-101A-DE0D-B25E7A4F49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524C25-9BEE-1C84-1178-F5C8534DEF17}"/>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5E93841D-F5CF-780A-3E34-6B39BA1C706C}"/>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4850370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BEACF-1E4C-E48E-2CEA-B0154FA8F9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F201D8-FD6B-DA7B-18FF-4C284774C1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A6868F-131B-730B-2399-7984B7C30516}"/>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024E4B7B-A0A5-E7B8-3582-7E1679973B0C}"/>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2636769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0C065-44F8-9DEA-8100-1C44A6A87C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7E3E67-F938-4F96-DC6C-7AC9A2FAD5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5CD8F8-4C26-1A0A-3CF9-24B9B5C0049C}"/>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CBD34DA6-A1CC-8349-BD31-0F32BD81A506}"/>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0350723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E8ED0-11D0-2E19-10BD-D2E71593B1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34C97C-A1F4-996F-16EB-F061D83783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17FC8C-C73B-AF3E-72B8-0CD4AE19ADEA}"/>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A86BAFAF-40A8-3D2D-7409-55DAD966B20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8756112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7EF2B38-BDE1-4FB1-9CDE-CF4FE8E2E4C0}"/>
              </a:ext>
            </a:extLst>
          </p:cNvPr>
          <p:cNvSpPr>
            <a:spLocks noGrp="1"/>
          </p:cNvSpPr>
          <p:nvPr/>
        </p:nvSpPr>
        <p:spPr>
          <a:xfrm>
            <a:off x="400050" y="400050"/>
            <a:ext cx="95250" cy="5619750"/>
          </a:xfrm>
          <a:prstGeom prst="rect">
            <a:avLst/>
          </a:prstGeom>
          <a:solidFill>
            <a:srgbClr val="D9232E"/>
          </a:solidFill>
          <a:ln w="0">
            <a:solidFill>
              <a:srgbClr val="000000">
                <a:alpha val="0"/>
              </a:srgbClr>
            </a:solidFill>
            <a:prstDash val="solid"/>
          </a:ln>
        </p:spPr>
        <p:txBody>
          <a:bodyPr/>
          <a:lstStyle/>
          <a:p>
            <a:endParaRPr lang="en-US"/>
          </a:p>
        </p:txBody>
      </p:sp>
      <p:sp>
        <p:nvSpPr>
          <p:cNvPr id="2" name="Rectangle 1">
            <a:extLst>
              <a:ext uri="{FF2B5EF4-FFF2-40B4-BE49-F238E27FC236}">
                <a16:creationId xmlns:a16="http://schemas.microsoft.com/office/drawing/2014/main" id="{DB8F10D6-5C4F-4DA3-A10D-795811C24DC5}"/>
              </a:ext>
            </a:extLst>
          </p:cNvPr>
          <p:cNvSpPr>
            <a:spLocks noGrp="1"/>
          </p:cNvSpPr>
          <p:nvPr/>
        </p:nvSpPr>
        <p:spPr>
          <a:xfrm>
            <a:off x="742950" y="533400"/>
            <a:ext cx="4762500" cy="266700"/>
          </a:xfrm>
          <a:prstGeom prst="rect">
            <a:avLst/>
          </a:prstGeom>
        </p:spPr>
        <p:txBody>
          <a:bodyPr wrap="square" lIns="0" tIns="0" rIns="0" bIns="0" anchor="t">
            <a:normAutofit/>
          </a:bodyPr>
          <a:lstStyle/>
          <a:p>
            <a:pPr algn="l">
              <a:defRPr sz="1050" b="1">
                <a:solidFill>
                  <a:srgbClr val="D9232E"/>
                </a:solidFill>
                <a:latin typeface="Arial"/>
                <a:ea typeface="Arial"/>
                <a:cs typeface="Arial"/>
              </a:defRPr>
            </a:pPr>
            <a:r>
              <a:t>SHARED BIKES ENGINEERING ASSIGNMENT</a:t>
            </a:r>
          </a:p>
        </p:txBody>
      </p:sp>
      <p:sp>
        <p:nvSpPr>
          <p:cNvPr id="3" name="Rectangle 2">
            <a:extLst>
              <a:ext uri="{FF2B5EF4-FFF2-40B4-BE49-F238E27FC236}">
                <a16:creationId xmlns:a16="http://schemas.microsoft.com/office/drawing/2014/main" id="{27FFDB27-528C-433E-8FE1-18F32E2E3638}"/>
              </a:ext>
            </a:extLst>
          </p:cNvPr>
          <p:cNvSpPr>
            <a:spLocks noGrp="1"/>
          </p:cNvSpPr>
          <p:nvPr/>
        </p:nvSpPr>
        <p:spPr>
          <a:xfrm>
            <a:off x="742950" y="1314450"/>
            <a:ext cx="4953000" cy="2076450"/>
          </a:xfrm>
          <a:prstGeom prst="rect">
            <a:avLst/>
          </a:prstGeom>
        </p:spPr>
        <p:txBody>
          <a:bodyPr wrap="square" lIns="0" tIns="0" rIns="0" bIns="0" anchor="t">
            <a:normAutofit fontScale="94618"/>
          </a:bodyPr>
          <a:lstStyle/>
          <a:p>
            <a:pPr algn="l">
              <a:defRPr sz="4800" b="1">
                <a:solidFill>
                  <a:srgbClr val="15191D"/>
                </a:solidFill>
                <a:latin typeface="Arial"/>
                <a:ea typeface="Arial"/>
                <a:cs typeface="Arial"/>
              </a:defRPr>
            </a:pPr>
            <a:r>
              <a:rPr lang="en-US" dirty="0"/>
              <a:t>Shared B</a:t>
            </a:r>
            <a:r>
              <a:rPr dirty="0"/>
              <a:t>ike </a:t>
            </a:r>
            <a:r>
              <a:rPr lang="en-US" dirty="0"/>
              <a:t>Monitoring System</a:t>
            </a:r>
            <a:endParaRPr dirty="0"/>
          </a:p>
        </p:txBody>
      </p:sp>
      <p:sp>
        <p:nvSpPr>
          <p:cNvPr id="4" name="Rectangle 3">
            <a:extLst>
              <a:ext uri="{FF2B5EF4-FFF2-40B4-BE49-F238E27FC236}">
                <a16:creationId xmlns:a16="http://schemas.microsoft.com/office/drawing/2014/main" id="{3E90A42C-459E-4E6F-858C-AE0320A9A2C2}"/>
              </a:ext>
            </a:extLst>
          </p:cNvPr>
          <p:cNvSpPr>
            <a:spLocks noGrp="1"/>
          </p:cNvSpPr>
          <p:nvPr/>
        </p:nvSpPr>
        <p:spPr>
          <a:xfrm>
            <a:off x="742950" y="3714750"/>
            <a:ext cx="4810125" cy="1200150"/>
          </a:xfrm>
          <a:prstGeom prst="rect">
            <a:avLst/>
          </a:prstGeom>
        </p:spPr>
        <p:txBody>
          <a:bodyPr wrap="square" lIns="0" tIns="0" rIns="0" bIns="0" anchor="t">
            <a:normAutofit/>
          </a:bodyPr>
          <a:lstStyle/>
          <a:p>
            <a:pPr algn="l">
              <a:defRPr sz="1725" b="0">
                <a:solidFill>
                  <a:srgbClr val="626B73"/>
                </a:solidFill>
                <a:latin typeface="Arial"/>
                <a:ea typeface="Arial"/>
                <a:cs typeface="Arial"/>
              </a:defRPr>
            </a:pPr>
            <a:r>
              <a:t>A Dockerized data platform combining Airflow ETL, PostgreSQL history, Kafka streaming, predictive alerts, and an operator dashboard.</a:t>
            </a:r>
          </a:p>
        </p:txBody>
      </p:sp>
      <p:sp>
        <p:nvSpPr>
          <p:cNvPr id="5" name="Rectangle 4">
            <a:extLst>
              <a:ext uri="{FF2B5EF4-FFF2-40B4-BE49-F238E27FC236}">
                <a16:creationId xmlns:a16="http://schemas.microsoft.com/office/drawing/2014/main" id="{ED4E88CD-F37F-4B16-A439-1D4D330815FC}"/>
              </a:ext>
            </a:extLst>
          </p:cNvPr>
          <p:cNvSpPr>
            <a:spLocks noGrp="1"/>
          </p:cNvSpPr>
          <p:nvPr/>
        </p:nvSpPr>
        <p:spPr>
          <a:xfrm>
            <a:off x="742950" y="5638800"/>
            <a:ext cx="4476750" cy="266700"/>
          </a:xfrm>
          <a:prstGeom prst="rect">
            <a:avLst/>
          </a:prstGeom>
        </p:spPr>
        <p:txBody>
          <a:bodyPr wrap="square" lIns="0" tIns="0" rIns="0" bIns="0" anchor="t">
            <a:normAutofit/>
          </a:bodyPr>
          <a:lstStyle/>
          <a:p>
            <a:pPr algn="l">
              <a:defRPr sz="1275" b="1">
                <a:solidFill>
                  <a:srgbClr val="15191D"/>
                </a:solidFill>
                <a:latin typeface="Arial"/>
                <a:ea typeface="Arial"/>
                <a:cs typeface="Arial"/>
              </a:defRPr>
            </a:pPr>
            <a:r>
              <a:t>Eyasu Araya  |  September 2026</a:t>
            </a:r>
          </a:p>
        </p:txBody>
      </p:sp>
      <p:sp>
        <p:nvSpPr>
          <p:cNvPr id="6" name="Rectangle: Rounded Corners 5">
            <a:extLst>
              <a:ext uri="{FF2B5EF4-FFF2-40B4-BE49-F238E27FC236}">
                <a16:creationId xmlns:a16="http://schemas.microsoft.com/office/drawing/2014/main" id="{A40D2103-C563-4384-A340-9465FF2897B6}"/>
              </a:ext>
            </a:extLst>
          </p:cNvPr>
          <p:cNvSpPr>
            <a:spLocks noGrp="1"/>
          </p:cNvSpPr>
          <p:nvPr/>
        </p:nvSpPr>
        <p:spPr>
          <a:xfrm>
            <a:off x="6096000" y="400050"/>
            <a:ext cx="5695950" cy="5619750"/>
          </a:xfrm>
          <a:prstGeom prst="roundRect">
            <a:avLst>
              <a:gd name="adj" fmla="val 1356"/>
            </a:avLst>
          </a:prstGeom>
          <a:solidFill>
            <a:srgbClr val="EAF6FB"/>
          </a:solidFill>
          <a:ln w="9525">
            <a:solidFill>
              <a:srgbClr val="C9CED2"/>
            </a:solidFill>
            <a:prstDash val="solid"/>
          </a:ln>
        </p:spPr>
        <p:txBody>
          <a:bodyPr/>
          <a:lstStyle/>
          <a:p>
            <a:endParaRPr lang="en-US"/>
          </a:p>
        </p:txBody>
      </p:sp>
      <p:sp>
        <p:nvSpPr>
          <p:cNvPr id="7" name="Rectangle 6">
            <a:extLst>
              <a:ext uri="{FF2B5EF4-FFF2-40B4-BE49-F238E27FC236}">
                <a16:creationId xmlns:a16="http://schemas.microsoft.com/office/drawing/2014/main" id="{EF6C0845-D139-476B-8F71-4E85EA5FE7EF}"/>
              </a:ext>
            </a:extLst>
          </p:cNvPr>
          <p:cNvSpPr>
            <a:spLocks noGrp="1"/>
          </p:cNvSpPr>
          <p:nvPr/>
        </p:nvSpPr>
        <p:spPr>
          <a:xfrm>
            <a:off x="11144250" y="6305550"/>
            <a:ext cx="647700" cy="228600"/>
          </a:xfrm>
          <a:prstGeom prst="rect">
            <a:avLst/>
          </a:prstGeom>
        </p:spPr>
        <p:txBody>
          <a:bodyPr wrap="square" lIns="0" tIns="0" rIns="0" bIns="0" anchor="t">
            <a:normAutofit/>
          </a:bodyPr>
          <a:lstStyle/>
          <a:p>
            <a:pPr algn="r">
              <a:defRPr sz="1050" b="0">
                <a:solidFill>
                  <a:srgbClr val="626B73"/>
                </a:solidFill>
                <a:latin typeface="Arial"/>
                <a:ea typeface="Arial"/>
                <a:cs typeface="Arial"/>
              </a:defRPr>
            </a:pPr>
            <a:r>
              <a:t>01</a:t>
            </a:r>
          </a:p>
        </p:txBody>
      </p:sp>
      <p:pic>
        <p:nvPicPr>
          <p:cNvPr id="16" name="Picture 15"/>
          <p:cNvPicPr>
            <a:picLocks noChangeAspect="1"/>
          </p:cNvPicPr>
          <p:nvPr/>
        </p:nvPicPr>
        <p:blipFill>
          <a:blip r:embed="rId3"/>
          <a:srcRect t="669" b="669"/>
          <a:stretch>
            <a:fillRect/>
          </a:stretch>
        </p:blipFill>
        <p:spPr>
          <a:xfrm>
            <a:off x="6096000" y="400050"/>
            <a:ext cx="5695950" cy="5619750"/>
          </a:xfrm>
          <a:prstGeom prst="roundRect">
            <a:avLst>
              <a:gd name="adj" fmla="val 2034"/>
            </a:avLst>
          </a:prstGeom>
        </p:spPr>
      </p:pic>
    </p:spTree>
    <p:extLst>
      <p:ext uri="{BB962C8B-B14F-4D97-AF65-F5344CB8AC3E}">
        <p14:creationId xmlns:p14="http://schemas.microsoft.com/office/powerpoint/2010/main" val="6531348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Rectangle 31">
            <a:extLst>
              <a:ext uri="{FF2B5EF4-FFF2-40B4-BE49-F238E27FC236}">
                <a16:creationId xmlns:a16="http://schemas.microsoft.com/office/drawing/2014/main" id="{8197BF2B-76E8-45BC-85CE-7A9A65CBC5E1}"/>
              </a:ext>
            </a:extLst>
          </p:cNvPr>
          <p:cNvSpPr>
            <a:spLocks noGrp="1"/>
          </p:cNvSpPr>
          <p:nvPr/>
        </p:nvSpPr>
        <p:spPr>
          <a:xfrm>
            <a:off x="400050" y="276225"/>
            <a:ext cx="4953000" cy="209550"/>
          </a:xfrm>
          <a:prstGeom prst="rect">
            <a:avLst/>
          </a:prstGeom>
        </p:spPr>
        <p:txBody>
          <a:bodyPr wrap="square" lIns="0" tIns="0" rIns="0" bIns="0" anchor="t">
            <a:normAutofit/>
          </a:bodyPr>
          <a:lstStyle/>
          <a:p>
            <a:pPr algn="l">
              <a:defRPr sz="975" b="1">
                <a:solidFill>
                  <a:srgbClr val="D9232E"/>
                </a:solidFill>
                <a:latin typeface="Arial"/>
                <a:ea typeface="Arial"/>
                <a:cs typeface="Arial"/>
              </a:defRPr>
            </a:pPr>
            <a:r>
              <a:t>CAPITAL BIKESHARE OPERATIONS</a:t>
            </a:r>
          </a:p>
        </p:txBody>
      </p:sp>
      <p:sp>
        <p:nvSpPr>
          <p:cNvPr id="2" name="Rectangle 1">
            <a:extLst>
              <a:ext uri="{FF2B5EF4-FFF2-40B4-BE49-F238E27FC236}">
                <a16:creationId xmlns:a16="http://schemas.microsoft.com/office/drawing/2014/main" id="{F13C15EB-26A2-4DAE-8447-FD6AF30CD126}"/>
              </a:ext>
            </a:extLst>
          </p:cNvPr>
          <p:cNvSpPr>
            <a:spLocks noGrp="1"/>
          </p:cNvSpPr>
          <p:nvPr/>
        </p:nvSpPr>
        <p:spPr>
          <a:xfrm>
            <a:off x="400050" y="581025"/>
            <a:ext cx="11391900" cy="628650"/>
          </a:xfrm>
          <a:prstGeom prst="rect">
            <a:avLst/>
          </a:prstGeom>
        </p:spPr>
        <p:txBody>
          <a:bodyPr wrap="square" lIns="0" tIns="0" rIns="0" bIns="0" anchor="t">
            <a:normAutofit fontScale="96455"/>
          </a:bodyPr>
          <a:lstStyle/>
          <a:p>
            <a:pPr algn="l">
              <a:defRPr sz="3600" b="1">
                <a:solidFill>
                  <a:srgbClr val="15191D"/>
                </a:solidFill>
                <a:latin typeface="Arial"/>
                <a:ea typeface="Arial"/>
                <a:cs typeface="Arial"/>
              </a:defRPr>
            </a:pPr>
            <a:r>
              <a:rPr lang="en-US" dirty="0"/>
              <a:t>Full Architecture</a:t>
            </a:r>
            <a:endParaRPr dirty="0"/>
          </a:p>
        </p:txBody>
      </p:sp>
      <p:cxnSp>
        <p:nvCxnSpPr>
          <p:cNvPr id="34" name="Straight Arrow Connector 33"/>
          <p:cNvCxnSpPr/>
          <p:nvPr/>
        </p:nvCxnSpPr>
        <p:spPr>
          <a:xfrm>
            <a:off x="400050" y="1304925"/>
            <a:ext cx="11391900" cy="9525"/>
          </a:xfrm>
          <a:prstGeom prst="straightConnector1">
            <a:avLst/>
          </a:prstGeom>
          <a:ln w="9525">
            <a:solidFill>
              <a:srgbClr val="C9CED2"/>
            </a:solidFill>
            <a:prstDash val="solid"/>
          </a:ln>
        </p:spPr>
      </p:cxnSp>
      <p:sp>
        <p:nvSpPr>
          <p:cNvPr id="4" name="Rectangle 3">
            <a:extLst>
              <a:ext uri="{FF2B5EF4-FFF2-40B4-BE49-F238E27FC236}">
                <a16:creationId xmlns:a16="http://schemas.microsoft.com/office/drawing/2014/main" id="{12CA1E84-C937-42FA-8E79-3FC9D827E87E}"/>
              </a:ext>
            </a:extLst>
          </p:cNvPr>
          <p:cNvSpPr>
            <a:spLocks noGrp="1"/>
          </p:cNvSpPr>
          <p:nvPr/>
        </p:nvSpPr>
        <p:spPr>
          <a:xfrm>
            <a:off x="400050" y="1581150"/>
            <a:ext cx="3905250" cy="247650"/>
          </a:xfrm>
          <a:prstGeom prst="rect">
            <a:avLst/>
          </a:prstGeom>
        </p:spPr>
        <p:txBody>
          <a:bodyPr wrap="square" lIns="0" tIns="0" rIns="0" bIns="0" anchor="t">
            <a:normAutofit/>
          </a:bodyPr>
          <a:lstStyle/>
          <a:p>
            <a:pPr algn="l">
              <a:defRPr sz="1200" b="1">
                <a:solidFill>
                  <a:srgbClr val="1674A5"/>
                </a:solidFill>
                <a:latin typeface="Arial"/>
                <a:ea typeface="Arial"/>
                <a:cs typeface="Arial"/>
              </a:defRPr>
            </a:pPr>
            <a:r>
              <a:t>BATCH PATH  |  every 5 minutes</a:t>
            </a:r>
          </a:p>
        </p:txBody>
      </p:sp>
      <p:cxnSp>
        <p:nvCxnSpPr>
          <p:cNvPr id="36" name="Straight Arrow Connector 35"/>
          <p:cNvCxnSpPr/>
          <p:nvPr/>
        </p:nvCxnSpPr>
        <p:spPr>
          <a:xfrm>
            <a:off x="2200275" y="2338388"/>
            <a:ext cx="8858250" cy="9525"/>
          </a:xfrm>
          <a:prstGeom prst="straightConnector1">
            <a:avLst/>
          </a:prstGeom>
          <a:ln w="28575">
            <a:solidFill>
              <a:srgbClr val="C9CED2"/>
            </a:solidFill>
            <a:prstDash val="solid"/>
          </a:ln>
        </p:spPr>
      </p:cxnSp>
      <p:sp>
        <p:nvSpPr>
          <p:cNvPr id="6" name="Rectangle 5">
            <a:extLst>
              <a:ext uri="{FF2B5EF4-FFF2-40B4-BE49-F238E27FC236}">
                <a16:creationId xmlns:a16="http://schemas.microsoft.com/office/drawing/2014/main" id="{6ED48150-3486-4568-B3C3-F0A1EBCF81FC}"/>
              </a:ext>
            </a:extLst>
          </p:cNvPr>
          <p:cNvSpPr>
            <a:spLocks noGrp="1"/>
          </p:cNvSpPr>
          <p:nvPr/>
        </p:nvSpPr>
        <p:spPr>
          <a:xfrm>
            <a:off x="400050" y="3190875"/>
            <a:ext cx="4286250" cy="247650"/>
          </a:xfrm>
          <a:prstGeom prst="rect">
            <a:avLst/>
          </a:prstGeom>
        </p:spPr>
        <p:txBody>
          <a:bodyPr wrap="square" lIns="0" tIns="0" rIns="0" bIns="0" anchor="t">
            <a:normAutofit/>
          </a:bodyPr>
          <a:lstStyle/>
          <a:p>
            <a:pPr algn="l">
              <a:defRPr sz="1200" b="1">
                <a:solidFill>
                  <a:srgbClr val="D9232E"/>
                </a:solidFill>
                <a:latin typeface="Arial"/>
                <a:ea typeface="Arial"/>
                <a:cs typeface="Arial"/>
              </a:defRPr>
            </a:pPr>
            <a:r>
              <a:t>STREAMING PATH  |  every 60 seconds</a:t>
            </a:r>
          </a:p>
        </p:txBody>
      </p:sp>
      <p:cxnSp>
        <p:nvCxnSpPr>
          <p:cNvPr id="38" name="Straight Arrow Connector 37"/>
          <p:cNvCxnSpPr>
            <a:cxnSpLocks/>
          </p:cNvCxnSpPr>
          <p:nvPr/>
        </p:nvCxnSpPr>
        <p:spPr>
          <a:xfrm>
            <a:off x="1175808" y="4100513"/>
            <a:ext cx="7079192" cy="9525"/>
          </a:xfrm>
          <a:prstGeom prst="straightConnector1">
            <a:avLst/>
          </a:prstGeom>
          <a:ln w="28575">
            <a:solidFill>
              <a:srgbClr val="C9CED2"/>
            </a:solidFill>
            <a:prstDash val="solid"/>
          </a:ln>
        </p:spPr>
      </p:cxnSp>
      <p:sp>
        <p:nvSpPr>
          <p:cNvPr id="8" name="Rectangle: Rounded Corners 7">
            <a:extLst>
              <a:ext uri="{FF2B5EF4-FFF2-40B4-BE49-F238E27FC236}">
                <a16:creationId xmlns:a16="http://schemas.microsoft.com/office/drawing/2014/main" id="{9976A511-DDA4-4229-91D4-2BFFAECE7B36}"/>
              </a:ext>
            </a:extLst>
          </p:cNvPr>
          <p:cNvSpPr>
            <a:spLocks noGrp="1"/>
          </p:cNvSpPr>
          <p:nvPr/>
        </p:nvSpPr>
        <p:spPr>
          <a:xfrm>
            <a:off x="1162050" y="1947863"/>
            <a:ext cx="1809750" cy="800100"/>
          </a:xfrm>
          <a:prstGeom prst="roundRect">
            <a:avLst>
              <a:gd name="adj" fmla="val 9524"/>
            </a:avLst>
          </a:prstGeom>
          <a:solidFill>
            <a:srgbClr val="EAF6FB"/>
          </a:solidFill>
          <a:ln w="9525">
            <a:solidFill>
              <a:srgbClr val="1674A5"/>
            </a:solidFill>
            <a:prstDash val="solid"/>
          </a:ln>
        </p:spPr>
        <p:txBody>
          <a:bodyPr/>
          <a:lstStyle/>
          <a:p>
            <a:endParaRPr lang="en-US"/>
          </a:p>
        </p:txBody>
      </p:sp>
      <p:sp>
        <p:nvSpPr>
          <p:cNvPr id="9" name="Rectangle 8">
            <a:extLst>
              <a:ext uri="{FF2B5EF4-FFF2-40B4-BE49-F238E27FC236}">
                <a16:creationId xmlns:a16="http://schemas.microsoft.com/office/drawing/2014/main" id="{7EAA282E-6674-4B47-910B-F39C25364DBC}"/>
              </a:ext>
            </a:extLst>
          </p:cNvPr>
          <p:cNvSpPr>
            <a:spLocks noGrp="1"/>
          </p:cNvSpPr>
          <p:nvPr/>
        </p:nvSpPr>
        <p:spPr>
          <a:xfrm>
            <a:off x="1276350" y="2119313"/>
            <a:ext cx="1581150" cy="457200"/>
          </a:xfrm>
          <a:prstGeom prst="rect">
            <a:avLst/>
          </a:prstGeom>
        </p:spPr>
        <p:txBody>
          <a:bodyPr wrap="square" lIns="0" tIns="0" rIns="0" bIns="0" anchor="ctr">
            <a:normAutofit fontScale="91407"/>
          </a:bodyPr>
          <a:lstStyle/>
          <a:p>
            <a:pPr algn="ctr">
              <a:defRPr sz="1500" b="1">
                <a:solidFill>
                  <a:srgbClr val="15191D"/>
                </a:solidFill>
                <a:latin typeface="Arial"/>
                <a:ea typeface="Arial"/>
                <a:cs typeface="Arial"/>
              </a:defRPr>
            </a:pPr>
            <a:r>
              <a:rPr dirty="0"/>
              <a:t>Capital Bikeshare
GBFS</a:t>
            </a:r>
            <a:r>
              <a:rPr lang="en-US" dirty="0"/>
              <a:t> API</a:t>
            </a:r>
            <a:endParaRPr dirty="0"/>
          </a:p>
        </p:txBody>
      </p:sp>
      <p:sp>
        <p:nvSpPr>
          <p:cNvPr id="10" name="Rectangle: Rounded Corners 9">
            <a:extLst>
              <a:ext uri="{FF2B5EF4-FFF2-40B4-BE49-F238E27FC236}">
                <a16:creationId xmlns:a16="http://schemas.microsoft.com/office/drawing/2014/main" id="{476F1699-CC0F-45CA-A555-579118F833B7}"/>
              </a:ext>
            </a:extLst>
          </p:cNvPr>
          <p:cNvSpPr>
            <a:spLocks noGrp="1"/>
          </p:cNvSpPr>
          <p:nvPr/>
        </p:nvSpPr>
        <p:spPr>
          <a:xfrm>
            <a:off x="3467100" y="1947863"/>
            <a:ext cx="1809750" cy="800100"/>
          </a:xfrm>
          <a:prstGeom prst="roundRect">
            <a:avLst>
              <a:gd name="adj" fmla="val 9524"/>
            </a:avLst>
          </a:prstGeom>
          <a:solidFill>
            <a:srgbClr val="F0F2F3"/>
          </a:solidFill>
          <a:ln w="9525">
            <a:solidFill>
              <a:srgbClr val="1674A5"/>
            </a:solidFill>
            <a:prstDash val="solid"/>
          </a:ln>
        </p:spPr>
        <p:txBody>
          <a:bodyPr/>
          <a:lstStyle/>
          <a:p>
            <a:endParaRPr lang="en-US"/>
          </a:p>
        </p:txBody>
      </p:sp>
      <p:sp>
        <p:nvSpPr>
          <p:cNvPr id="11" name="Rectangle 10">
            <a:extLst>
              <a:ext uri="{FF2B5EF4-FFF2-40B4-BE49-F238E27FC236}">
                <a16:creationId xmlns:a16="http://schemas.microsoft.com/office/drawing/2014/main" id="{6D0746BB-C219-4AE5-A14D-64C97282E962}"/>
              </a:ext>
            </a:extLst>
          </p:cNvPr>
          <p:cNvSpPr>
            <a:spLocks noGrp="1"/>
          </p:cNvSpPr>
          <p:nvPr/>
        </p:nvSpPr>
        <p:spPr>
          <a:xfrm>
            <a:off x="3581400" y="2119313"/>
            <a:ext cx="1581150" cy="457200"/>
          </a:xfrm>
          <a:prstGeom prst="rect">
            <a:avLst/>
          </a:prstGeom>
        </p:spPr>
        <p:txBody>
          <a:bodyPr wrap="square" lIns="0" tIns="0" rIns="0" bIns="0" anchor="ctr">
            <a:normAutofit/>
          </a:bodyPr>
          <a:lstStyle/>
          <a:p>
            <a:pPr algn="ctr">
              <a:defRPr sz="1500" b="1">
                <a:solidFill>
                  <a:srgbClr val="15191D"/>
                </a:solidFill>
                <a:latin typeface="Arial"/>
                <a:ea typeface="Arial"/>
                <a:cs typeface="Arial"/>
              </a:defRPr>
            </a:pPr>
            <a:r>
              <a:t>Airflow
ETL</a:t>
            </a:r>
          </a:p>
        </p:txBody>
      </p:sp>
      <p:sp>
        <p:nvSpPr>
          <p:cNvPr id="12" name="Rectangle: Rounded Corners 11">
            <a:extLst>
              <a:ext uri="{FF2B5EF4-FFF2-40B4-BE49-F238E27FC236}">
                <a16:creationId xmlns:a16="http://schemas.microsoft.com/office/drawing/2014/main" id="{C29A2BCB-A3A5-42FE-9DA7-957ADC934A25}"/>
              </a:ext>
            </a:extLst>
          </p:cNvPr>
          <p:cNvSpPr>
            <a:spLocks noGrp="1"/>
          </p:cNvSpPr>
          <p:nvPr/>
        </p:nvSpPr>
        <p:spPr>
          <a:xfrm>
            <a:off x="5772150" y="1947863"/>
            <a:ext cx="1809750" cy="800100"/>
          </a:xfrm>
          <a:prstGeom prst="roundRect">
            <a:avLst>
              <a:gd name="adj" fmla="val 9524"/>
            </a:avLst>
          </a:prstGeom>
          <a:solidFill>
            <a:srgbClr val="F0F2F3"/>
          </a:solidFill>
          <a:ln w="9525">
            <a:solidFill>
              <a:srgbClr val="1674A5"/>
            </a:solidFill>
            <a:prstDash val="solid"/>
          </a:ln>
        </p:spPr>
        <p:txBody>
          <a:bodyPr/>
          <a:lstStyle/>
          <a:p>
            <a:endParaRPr lang="en-US"/>
          </a:p>
        </p:txBody>
      </p:sp>
      <p:sp>
        <p:nvSpPr>
          <p:cNvPr id="13" name="Rectangle 12">
            <a:extLst>
              <a:ext uri="{FF2B5EF4-FFF2-40B4-BE49-F238E27FC236}">
                <a16:creationId xmlns:a16="http://schemas.microsoft.com/office/drawing/2014/main" id="{6954FA77-643F-42FA-A1E4-B5EA8F661F24}"/>
              </a:ext>
            </a:extLst>
          </p:cNvPr>
          <p:cNvSpPr>
            <a:spLocks noGrp="1"/>
          </p:cNvSpPr>
          <p:nvPr/>
        </p:nvSpPr>
        <p:spPr>
          <a:xfrm>
            <a:off x="5886450" y="2219324"/>
            <a:ext cx="1581150" cy="457200"/>
          </a:xfrm>
          <a:prstGeom prst="rect">
            <a:avLst/>
          </a:prstGeom>
        </p:spPr>
        <p:txBody>
          <a:bodyPr wrap="square" lIns="0" tIns="0" rIns="0" bIns="0" anchor="ctr">
            <a:normAutofit/>
          </a:bodyPr>
          <a:lstStyle/>
          <a:p>
            <a:pPr algn="ctr">
              <a:defRPr sz="1500" b="1">
                <a:solidFill>
                  <a:srgbClr val="15191D"/>
                </a:solidFill>
                <a:latin typeface="Arial"/>
                <a:ea typeface="Arial"/>
                <a:cs typeface="Arial"/>
              </a:defRPr>
            </a:pPr>
            <a:r>
              <a:rPr dirty="0"/>
              <a:t>PostgreSQL
</a:t>
            </a:r>
          </a:p>
        </p:txBody>
      </p:sp>
      <p:sp>
        <p:nvSpPr>
          <p:cNvPr id="14" name="Rectangle: Rounded Corners 13">
            <a:extLst>
              <a:ext uri="{FF2B5EF4-FFF2-40B4-BE49-F238E27FC236}">
                <a16:creationId xmlns:a16="http://schemas.microsoft.com/office/drawing/2014/main" id="{168999F9-B7E5-4471-8146-86E24EB79196}"/>
              </a:ext>
            </a:extLst>
          </p:cNvPr>
          <p:cNvSpPr>
            <a:spLocks noGrp="1"/>
          </p:cNvSpPr>
          <p:nvPr/>
        </p:nvSpPr>
        <p:spPr>
          <a:xfrm>
            <a:off x="8077200" y="1947863"/>
            <a:ext cx="1809750" cy="800100"/>
          </a:xfrm>
          <a:prstGeom prst="roundRect">
            <a:avLst>
              <a:gd name="adj" fmla="val 9524"/>
            </a:avLst>
          </a:prstGeom>
          <a:solidFill>
            <a:srgbClr val="F0F2F3"/>
          </a:solidFill>
          <a:ln w="9525">
            <a:solidFill>
              <a:srgbClr val="1674A5"/>
            </a:solidFill>
            <a:prstDash val="solid"/>
          </a:ln>
        </p:spPr>
        <p:txBody>
          <a:bodyPr/>
          <a:lstStyle/>
          <a:p>
            <a:endParaRPr lang="en-US"/>
          </a:p>
        </p:txBody>
      </p:sp>
      <p:sp>
        <p:nvSpPr>
          <p:cNvPr id="15" name="Rectangle 14">
            <a:extLst>
              <a:ext uri="{FF2B5EF4-FFF2-40B4-BE49-F238E27FC236}">
                <a16:creationId xmlns:a16="http://schemas.microsoft.com/office/drawing/2014/main" id="{DE9B025C-A448-4C70-9F54-654FA669CD35}"/>
              </a:ext>
            </a:extLst>
          </p:cNvPr>
          <p:cNvSpPr>
            <a:spLocks noGrp="1"/>
          </p:cNvSpPr>
          <p:nvPr/>
        </p:nvSpPr>
        <p:spPr>
          <a:xfrm>
            <a:off x="8191500" y="2119313"/>
            <a:ext cx="1581150" cy="457200"/>
          </a:xfrm>
          <a:prstGeom prst="rect">
            <a:avLst/>
          </a:prstGeom>
        </p:spPr>
        <p:txBody>
          <a:bodyPr wrap="square" lIns="0" tIns="0" rIns="0" bIns="0" anchor="ctr">
            <a:normAutofit/>
          </a:bodyPr>
          <a:lstStyle/>
          <a:p>
            <a:pPr algn="ctr">
              <a:defRPr sz="1500" b="1">
                <a:solidFill>
                  <a:srgbClr val="15191D"/>
                </a:solidFill>
                <a:latin typeface="Arial"/>
                <a:ea typeface="Arial"/>
                <a:cs typeface="Arial"/>
              </a:defRPr>
            </a:pPr>
            <a:r>
              <a:rPr lang="en-US" dirty="0"/>
              <a:t>Express</a:t>
            </a:r>
            <a:r>
              <a:rPr dirty="0"/>
              <a:t> API</a:t>
            </a:r>
            <a:r>
              <a:rPr lang="en-US" dirty="0"/>
              <a:t> </a:t>
            </a:r>
          </a:p>
          <a:p>
            <a:pPr algn="ctr">
              <a:defRPr sz="1500" b="1">
                <a:solidFill>
                  <a:srgbClr val="15191D"/>
                </a:solidFill>
                <a:latin typeface="Arial"/>
                <a:ea typeface="Arial"/>
                <a:cs typeface="Arial"/>
              </a:defRPr>
            </a:pPr>
            <a:r>
              <a:rPr lang="en-US" dirty="0"/>
              <a:t>(Back-End)</a:t>
            </a:r>
            <a:endParaRPr dirty="0"/>
          </a:p>
        </p:txBody>
      </p:sp>
      <p:sp>
        <p:nvSpPr>
          <p:cNvPr id="16" name="Rectangle: Rounded Corners 15">
            <a:extLst>
              <a:ext uri="{FF2B5EF4-FFF2-40B4-BE49-F238E27FC236}">
                <a16:creationId xmlns:a16="http://schemas.microsoft.com/office/drawing/2014/main" id="{1AF5FA3B-DD4F-47D0-ADD1-16D551B8101F}"/>
              </a:ext>
            </a:extLst>
          </p:cNvPr>
          <p:cNvSpPr>
            <a:spLocks noGrp="1"/>
          </p:cNvSpPr>
          <p:nvPr/>
        </p:nvSpPr>
        <p:spPr>
          <a:xfrm>
            <a:off x="10382250" y="1947863"/>
            <a:ext cx="1809750" cy="800100"/>
          </a:xfrm>
          <a:prstGeom prst="roundRect">
            <a:avLst>
              <a:gd name="adj" fmla="val 9524"/>
            </a:avLst>
          </a:prstGeom>
          <a:solidFill>
            <a:srgbClr val="E8F5EE"/>
          </a:solidFill>
          <a:ln w="9525">
            <a:solidFill>
              <a:srgbClr val="26734D"/>
            </a:solidFill>
            <a:prstDash val="solid"/>
          </a:ln>
        </p:spPr>
        <p:txBody>
          <a:bodyPr/>
          <a:lstStyle/>
          <a:p>
            <a:endParaRPr lang="en-US"/>
          </a:p>
        </p:txBody>
      </p:sp>
      <p:sp>
        <p:nvSpPr>
          <p:cNvPr id="17" name="Rectangle 16">
            <a:extLst>
              <a:ext uri="{FF2B5EF4-FFF2-40B4-BE49-F238E27FC236}">
                <a16:creationId xmlns:a16="http://schemas.microsoft.com/office/drawing/2014/main" id="{D74210D6-01BC-42BD-8DE6-39C9C3EECCBA}"/>
              </a:ext>
            </a:extLst>
          </p:cNvPr>
          <p:cNvSpPr>
            <a:spLocks noGrp="1"/>
          </p:cNvSpPr>
          <p:nvPr/>
        </p:nvSpPr>
        <p:spPr>
          <a:xfrm>
            <a:off x="10439400" y="2119313"/>
            <a:ext cx="1695450" cy="628645"/>
          </a:xfrm>
          <a:prstGeom prst="rect">
            <a:avLst/>
          </a:prstGeom>
        </p:spPr>
        <p:txBody>
          <a:bodyPr wrap="square" lIns="0" tIns="0" rIns="0" bIns="0" anchor="ctr">
            <a:normAutofit fontScale="92500" lnSpcReduction="10000"/>
          </a:bodyPr>
          <a:lstStyle/>
          <a:p>
            <a:pPr algn="ctr">
              <a:defRPr sz="1500" b="1">
                <a:solidFill>
                  <a:srgbClr val="15191D"/>
                </a:solidFill>
                <a:latin typeface="Arial"/>
                <a:ea typeface="Arial"/>
                <a:cs typeface="Arial"/>
              </a:defRPr>
            </a:pPr>
            <a:r>
              <a:rPr dirty="0"/>
              <a:t>React
</a:t>
            </a:r>
            <a:r>
              <a:rPr lang="en-US" dirty="0"/>
              <a:t>Dashboard</a:t>
            </a:r>
          </a:p>
          <a:p>
            <a:pPr algn="ctr">
              <a:defRPr sz="1500" b="1">
                <a:solidFill>
                  <a:srgbClr val="15191D"/>
                </a:solidFill>
                <a:latin typeface="Arial"/>
                <a:ea typeface="Arial"/>
                <a:cs typeface="Arial"/>
              </a:defRPr>
            </a:pPr>
            <a:r>
              <a:rPr lang="en-US" dirty="0"/>
              <a:t>(Front-End)</a:t>
            </a:r>
          </a:p>
          <a:p>
            <a:pPr algn="ctr">
              <a:defRPr sz="1500" b="1">
                <a:solidFill>
                  <a:srgbClr val="15191D"/>
                </a:solidFill>
                <a:latin typeface="Arial"/>
                <a:ea typeface="Arial"/>
                <a:cs typeface="Arial"/>
              </a:defRPr>
            </a:pPr>
            <a:endParaRPr dirty="0"/>
          </a:p>
        </p:txBody>
      </p:sp>
      <p:sp>
        <p:nvSpPr>
          <p:cNvPr id="18" name="Rectangle: Rounded Corners 17">
            <a:extLst>
              <a:ext uri="{FF2B5EF4-FFF2-40B4-BE49-F238E27FC236}">
                <a16:creationId xmlns:a16="http://schemas.microsoft.com/office/drawing/2014/main" id="{A7AEB246-0673-4EF0-AC5E-952D8C73A21B}"/>
              </a:ext>
            </a:extLst>
          </p:cNvPr>
          <p:cNvSpPr>
            <a:spLocks noGrp="1"/>
          </p:cNvSpPr>
          <p:nvPr/>
        </p:nvSpPr>
        <p:spPr>
          <a:xfrm>
            <a:off x="137583" y="3709988"/>
            <a:ext cx="1809750" cy="800100"/>
          </a:xfrm>
          <a:prstGeom prst="roundRect">
            <a:avLst>
              <a:gd name="adj" fmla="val 9524"/>
            </a:avLst>
          </a:prstGeom>
          <a:solidFill>
            <a:srgbClr val="FFF0F1"/>
          </a:solidFill>
          <a:ln w="9525">
            <a:solidFill>
              <a:srgbClr val="D9232E"/>
            </a:solidFill>
            <a:prstDash val="solid"/>
          </a:ln>
        </p:spPr>
        <p:txBody>
          <a:bodyPr/>
          <a:lstStyle/>
          <a:p>
            <a:endParaRPr lang="en-US"/>
          </a:p>
        </p:txBody>
      </p:sp>
      <p:sp>
        <p:nvSpPr>
          <p:cNvPr id="19" name="Rectangle 18">
            <a:extLst>
              <a:ext uri="{FF2B5EF4-FFF2-40B4-BE49-F238E27FC236}">
                <a16:creationId xmlns:a16="http://schemas.microsoft.com/office/drawing/2014/main" id="{A8C24319-AC58-4A8C-AE4C-11C1A32D0FB6}"/>
              </a:ext>
            </a:extLst>
          </p:cNvPr>
          <p:cNvSpPr>
            <a:spLocks noGrp="1"/>
          </p:cNvSpPr>
          <p:nvPr/>
        </p:nvSpPr>
        <p:spPr>
          <a:xfrm>
            <a:off x="251883" y="3881438"/>
            <a:ext cx="1581150" cy="457200"/>
          </a:xfrm>
          <a:prstGeom prst="rect">
            <a:avLst/>
          </a:prstGeom>
        </p:spPr>
        <p:txBody>
          <a:bodyPr wrap="square" lIns="0" tIns="0" rIns="0" bIns="0" anchor="ctr">
            <a:normAutofit fontScale="91407"/>
          </a:bodyPr>
          <a:lstStyle/>
          <a:p>
            <a:pPr algn="ctr">
              <a:defRPr sz="1500" b="1">
                <a:solidFill>
                  <a:srgbClr val="15191D"/>
                </a:solidFill>
                <a:latin typeface="Arial"/>
                <a:ea typeface="Arial"/>
                <a:cs typeface="Arial"/>
              </a:defRPr>
            </a:pPr>
            <a:r>
              <a:rPr dirty="0"/>
              <a:t>Capital Bikeshare
GBFS</a:t>
            </a:r>
            <a:r>
              <a:rPr lang="en-US" dirty="0"/>
              <a:t> API</a:t>
            </a:r>
            <a:endParaRPr dirty="0"/>
          </a:p>
        </p:txBody>
      </p:sp>
      <p:sp>
        <p:nvSpPr>
          <p:cNvPr id="20" name="Rectangle: Rounded Corners 19">
            <a:extLst>
              <a:ext uri="{FF2B5EF4-FFF2-40B4-BE49-F238E27FC236}">
                <a16:creationId xmlns:a16="http://schemas.microsoft.com/office/drawing/2014/main" id="{6D2B1D70-E7DC-4AD5-A705-C61B68E5881A}"/>
              </a:ext>
            </a:extLst>
          </p:cNvPr>
          <p:cNvSpPr>
            <a:spLocks noGrp="1"/>
          </p:cNvSpPr>
          <p:nvPr/>
        </p:nvSpPr>
        <p:spPr>
          <a:xfrm>
            <a:off x="2442633" y="3709988"/>
            <a:ext cx="1809750" cy="800100"/>
          </a:xfrm>
          <a:prstGeom prst="roundRect">
            <a:avLst>
              <a:gd name="adj" fmla="val 9524"/>
            </a:avLst>
          </a:prstGeom>
          <a:solidFill>
            <a:srgbClr val="F0F2F3"/>
          </a:solidFill>
          <a:ln w="9525">
            <a:solidFill>
              <a:srgbClr val="D9232E"/>
            </a:solidFill>
            <a:prstDash val="solid"/>
          </a:ln>
        </p:spPr>
        <p:txBody>
          <a:bodyPr/>
          <a:lstStyle/>
          <a:p>
            <a:endParaRPr lang="en-US"/>
          </a:p>
        </p:txBody>
      </p:sp>
      <p:sp>
        <p:nvSpPr>
          <p:cNvPr id="21" name="Rectangle 20">
            <a:extLst>
              <a:ext uri="{FF2B5EF4-FFF2-40B4-BE49-F238E27FC236}">
                <a16:creationId xmlns:a16="http://schemas.microsoft.com/office/drawing/2014/main" id="{07E0E3C2-3728-4DB9-A25C-22ECFF5176B6}"/>
              </a:ext>
            </a:extLst>
          </p:cNvPr>
          <p:cNvSpPr>
            <a:spLocks noGrp="1"/>
          </p:cNvSpPr>
          <p:nvPr/>
        </p:nvSpPr>
        <p:spPr>
          <a:xfrm>
            <a:off x="2556933" y="3881438"/>
            <a:ext cx="1581150" cy="457200"/>
          </a:xfrm>
          <a:prstGeom prst="rect">
            <a:avLst/>
          </a:prstGeom>
        </p:spPr>
        <p:txBody>
          <a:bodyPr wrap="square" lIns="0" tIns="0" rIns="0" bIns="0" anchor="ctr">
            <a:normAutofit/>
          </a:bodyPr>
          <a:lstStyle/>
          <a:p>
            <a:pPr algn="ctr">
              <a:defRPr sz="1500" b="1">
                <a:solidFill>
                  <a:srgbClr val="15191D"/>
                </a:solidFill>
                <a:latin typeface="Arial"/>
                <a:ea typeface="Arial"/>
                <a:cs typeface="Arial"/>
              </a:defRPr>
            </a:pPr>
            <a:r>
              <a:t>Station
producer</a:t>
            </a:r>
          </a:p>
        </p:txBody>
      </p:sp>
      <p:sp>
        <p:nvSpPr>
          <p:cNvPr id="22" name="Rectangle: Rounded Corners 21">
            <a:extLst>
              <a:ext uri="{FF2B5EF4-FFF2-40B4-BE49-F238E27FC236}">
                <a16:creationId xmlns:a16="http://schemas.microsoft.com/office/drawing/2014/main" id="{968C6AF6-E824-42AC-BD53-549DFF6AAA9B}"/>
              </a:ext>
            </a:extLst>
          </p:cNvPr>
          <p:cNvSpPr>
            <a:spLocks noGrp="1"/>
          </p:cNvSpPr>
          <p:nvPr/>
        </p:nvSpPr>
        <p:spPr>
          <a:xfrm>
            <a:off x="4747683" y="3709988"/>
            <a:ext cx="1809750" cy="800100"/>
          </a:xfrm>
          <a:prstGeom prst="roundRect">
            <a:avLst>
              <a:gd name="adj" fmla="val 9524"/>
            </a:avLst>
          </a:prstGeom>
          <a:solidFill>
            <a:srgbClr val="F0F2F3"/>
          </a:solidFill>
          <a:ln w="9525">
            <a:solidFill>
              <a:srgbClr val="D9232E"/>
            </a:solidFill>
            <a:prstDash val="solid"/>
          </a:ln>
        </p:spPr>
        <p:txBody>
          <a:bodyPr/>
          <a:lstStyle/>
          <a:p>
            <a:endParaRPr lang="en-US"/>
          </a:p>
        </p:txBody>
      </p:sp>
      <p:sp>
        <p:nvSpPr>
          <p:cNvPr id="23" name="Rectangle 22">
            <a:extLst>
              <a:ext uri="{FF2B5EF4-FFF2-40B4-BE49-F238E27FC236}">
                <a16:creationId xmlns:a16="http://schemas.microsoft.com/office/drawing/2014/main" id="{FF70CD94-2972-404A-BB29-27B3F30FF863}"/>
              </a:ext>
            </a:extLst>
          </p:cNvPr>
          <p:cNvSpPr>
            <a:spLocks noGrp="1"/>
          </p:cNvSpPr>
          <p:nvPr/>
        </p:nvSpPr>
        <p:spPr>
          <a:xfrm>
            <a:off x="4861983" y="3881438"/>
            <a:ext cx="1581150" cy="457200"/>
          </a:xfrm>
          <a:prstGeom prst="rect">
            <a:avLst/>
          </a:prstGeom>
        </p:spPr>
        <p:txBody>
          <a:bodyPr wrap="square" lIns="0" tIns="0" rIns="0" bIns="0" anchor="ctr">
            <a:normAutofit/>
          </a:bodyPr>
          <a:lstStyle/>
          <a:p>
            <a:pPr algn="ctr">
              <a:defRPr sz="1500" b="1">
                <a:solidFill>
                  <a:srgbClr val="15191D"/>
                </a:solidFill>
                <a:latin typeface="Arial"/>
                <a:ea typeface="Arial"/>
                <a:cs typeface="Arial"/>
              </a:defRPr>
            </a:pPr>
            <a:r>
              <a:t>Kafka topic
station-status</a:t>
            </a:r>
          </a:p>
        </p:txBody>
      </p:sp>
      <p:sp>
        <p:nvSpPr>
          <p:cNvPr id="24" name="Rectangle: Rounded Corners 23">
            <a:extLst>
              <a:ext uri="{FF2B5EF4-FFF2-40B4-BE49-F238E27FC236}">
                <a16:creationId xmlns:a16="http://schemas.microsoft.com/office/drawing/2014/main" id="{9C2F6633-A514-478C-88F1-0EB058FF0DDC}"/>
              </a:ext>
            </a:extLst>
          </p:cNvPr>
          <p:cNvSpPr>
            <a:spLocks noGrp="1"/>
          </p:cNvSpPr>
          <p:nvPr/>
        </p:nvSpPr>
        <p:spPr>
          <a:xfrm>
            <a:off x="7052733" y="3709988"/>
            <a:ext cx="1809750" cy="800100"/>
          </a:xfrm>
          <a:prstGeom prst="roundRect">
            <a:avLst>
              <a:gd name="adj" fmla="val 9524"/>
            </a:avLst>
          </a:prstGeom>
          <a:solidFill>
            <a:srgbClr val="F0F2F3"/>
          </a:solidFill>
          <a:ln w="9525">
            <a:solidFill>
              <a:srgbClr val="D9232E"/>
            </a:solidFill>
            <a:prstDash val="solid"/>
          </a:ln>
        </p:spPr>
        <p:txBody>
          <a:bodyPr/>
          <a:lstStyle/>
          <a:p>
            <a:endParaRPr lang="en-US"/>
          </a:p>
        </p:txBody>
      </p:sp>
      <p:sp>
        <p:nvSpPr>
          <p:cNvPr id="25" name="Rectangle 24">
            <a:extLst>
              <a:ext uri="{FF2B5EF4-FFF2-40B4-BE49-F238E27FC236}">
                <a16:creationId xmlns:a16="http://schemas.microsoft.com/office/drawing/2014/main" id="{07F89646-2B2C-43DC-A05B-82B0BBB128D9}"/>
              </a:ext>
            </a:extLst>
          </p:cNvPr>
          <p:cNvSpPr>
            <a:spLocks noGrp="1"/>
          </p:cNvSpPr>
          <p:nvPr/>
        </p:nvSpPr>
        <p:spPr>
          <a:xfrm>
            <a:off x="7167033" y="3881438"/>
            <a:ext cx="1581150" cy="457200"/>
          </a:xfrm>
          <a:prstGeom prst="rect">
            <a:avLst/>
          </a:prstGeom>
        </p:spPr>
        <p:txBody>
          <a:bodyPr wrap="square" lIns="0" tIns="0" rIns="0" bIns="0" anchor="ctr">
            <a:normAutofit/>
          </a:bodyPr>
          <a:lstStyle/>
          <a:p>
            <a:pPr algn="ctr">
              <a:defRPr sz="1500" b="1">
                <a:solidFill>
                  <a:srgbClr val="15191D"/>
                </a:solidFill>
                <a:latin typeface="Arial"/>
                <a:ea typeface="Arial"/>
                <a:cs typeface="Arial"/>
              </a:defRPr>
            </a:pPr>
            <a:r>
              <a:t>Alert
consumer</a:t>
            </a:r>
          </a:p>
        </p:txBody>
      </p:sp>
      <p:cxnSp>
        <p:nvCxnSpPr>
          <p:cNvPr id="7" name="Straight Arrow Connector 6">
            <a:extLst>
              <a:ext uri="{FF2B5EF4-FFF2-40B4-BE49-F238E27FC236}">
                <a16:creationId xmlns:a16="http://schemas.microsoft.com/office/drawing/2014/main" id="{48B0F057-4ACF-0030-F36F-5DF0339D7D02}"/>
              </a:ext>
            </a:extLst>
          </p:cNvPr>
          <p:cNvCxnSpPr>
            <a:stCxn id="24" idx="0"/>
            <a:endCxn id="12" idx="2"/>
          </p:cNvCxnSpPr>
          <p:nvPr/>
        </p:nvCxnSpPr>
        <p:spPr>
          <a:xfrm flipH="1" flipV="1">
            <a:off x="6677025" y="2747963"/>
            <a:ext cx="1280583" cy="9620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423F71FD-EBF6-B453-EE44-0F6CF3A444A1}"/>
              </a:ext>
            </a:extLst>
          </p:cNvPr>
          <p:cNvCxnSpPr>
            <a:endCxn id="10" idx="1"/>
          </p:cNvCxnSpPr>
          <p:nvPr/>
        </p:nvCxnSpPr>
        <p:spPr>
          <a:xfrm>
            <a:off x="3039533" y="2347913"/>
            <a:ext cx="42756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4903AFFB-A1F1-7F59-E94F-8A7D8ECC74CC}"/>
              </a:ext>
            </a:extLst>
          </p:cNvPr>
          <p:cNvCxnSpPr>
            <a:stCxn id="10" idx="3"/>
            <a:endCxn id="12" idx="1"/>
          </p:cNvCxnSpPr>
          <p:nvPr/>
        </p:nvCxnSpPr>
        <p:spPr>
          <a:xfrm>
            <a:off x="5276850" y="2347913"/>
            <a:ext cx="4953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2182996B-1C63-D32B-6B1B-7DF7A05A38AA}"/>
              </a:ext>
            </a:extLst>
          </p:cNvPr>
          <p:cNvCxnSpPr>
            <a:stCxn id="12" idx="3"/>
            <a:endCxn id="14" idx="1"/>
          </p:cNvCxnSpPr>
          <p:nvPr/>
        </p:nvCxnSpPr>
        <p:spPr>
          <a:xfrm>
            <a:off x="7581900" y="2347913"/>
            <a:ext cx="4953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6FF509C4-44EC-7D30-A886-26335163B787}"/>
              </a:ext>
            </a:extLst>
          </p:cNvPr>
          <p:cNvCxnSpPr>
            <a:stCxn id="14" idx="3"/>
            <a:endCxn id="16" idx="1"/>
          </p:cNvCxnSpPr>
          <p:nvPr/>
        </p:nvCxnSpPr>
        <p:spPr>
          <a:xfrm>
            <a:off x="9886950" y="2347913"/>
            <a:ext cx="4953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4FEF218F-7D5B-FF89-0109-FCDD8CE6BA10}"/>
              </a:ext>
            </a:extLst>
          </p:cNvPr>
          <p:cNvCxnSpPr>
            <a:stCxn id="18" idx="3"/>
            <a:endCxn id="20" idx="1"/>
          </p:cNvCxnSpPr>
          <p:nvPr/>
        </p:nvCxnSpPr>
        <p:spPr>
          <a:xfrm>
            <a:off x="1947333" y="4110038"/>
            <a:ext cx="4953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0DC8BB8C-865F-A2C6-4BE9-D8503BFD879D}"/>
              </a:ext>
            </a:extLst>
          </p:cNvPr>
          <p:cNvCxnSpPr>
            <a:stCxn id="20" idx="3"/>
            <a:endCxn id="22" idx="1"/>
          </p:cNvCxnSpPr>
          <p:nvPr/>
        </p:nvCxnSpPr>
        <p:spPr>
          <a:xfrm>
            <a:off x="4252383" y="4110038"/>
            <a:ext cx="4953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1BA3CA73-1C81-F564-F696-AEAB2CC78682}"/>
              </a:ext>
            </a:extLst>
          </p:cNvPr>
          <p:cNvCxnSpPr>
            <a:stCxn id="22" idx="3"/>
            <a:endCxn id="24" idx="1"/>
          </p:cNvCxnSpPr>
          <p:nvPr/>
        </p:nvCxnSpPr>
        <p:spPr>
          <a:xfrm>
            <a:off x="6557433" y="4110038"/>
            <a:ext cx="4953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1" name="Rectangle: Rounded Corners 50">
            <a:extLst>
              <a:ext uri="{FF2B5EF4-FFF2-40B4-BE49-F238E27FC236}">
                <a16:creationId xmlns:a16="http://schemas.microsoft.com/office/drawing/2014/main" id="{65C95296-B855-E3E4-6C45-FB7E735F5697}"/>
              </a:ext>
            </a:extLst>
          </p:cNvPr>
          <p:cNvSpPr>
            <a:spLocks noGrp="1"/>
          </p:cNvSpPr>
          <p:nvPr/>
        </p:nvSpPr>
        <p:spPr>
          <a:xfrm>
            <a:off x="137584" y="4763035"/>
            <a:ext cx="11940116" cy="1899703"/>
          </a:xfrm>
          <a:prstGeom prst="roundRect">
            <a:avLst>
              <a:gd name="adj" fmla="val 2797"/>
            </a:avLst>
          </a:prstGeom>
          <a:solidFill>
            <a:srgbClr val="EAF6FB"/>
          </a:solidFill>
          <a:ln w="9525">
            <a:solidFill>
              <a:srgbClr val="C9CED2"/>
            </a:solidFill>
            <a:prstDash val="solid"/>
          </a:ln>
        </p:spPr>
        <p:txBody>
          <a:bodyPr/>
          <a:lstStyle/>
          <a:p>
            <a:endParaRPr lang="en-US"/>
          </a:p>
        </p:txBody>
      </p:sp>
      <p:sp>
        <p:nvSpPr>
          <p:cNvPr id="53" name="Rectangle 52">
            <a:extLst>
              <a:ext uri="{FF2B5EF4-FFF2-40B4-BE49-F238E27FC236}">
                <a16:creationId xmlns:a16="http://schemas.microsoft.com/office/drawing/2014/main" id="{0520F05F-1EE5-02B9-3BF6-1F35A94D5A01}"/>
              </a:ext>
            </a:extLst>
          </p:cNvPr>
          <p:cNvSpPr>
            <a:spLocks noGrp="1"/>
          </p:cNvSpPr>
          <p:nvPr/>
        </p:nvSpPr>
        <p:spPr>
          <a:xfrm>
            <a:off x="642494" y="5043039"/>
            <a:ext cx="11308206" cy="1827672"/>
          </a:xfrm>
          <a:prstGeom prst="rect">
            <a:avLst/>
          </a:prstGeom>
        </p:spPr>
        <p:txBody>
          <a:bodyPr wrap="square" lIns="0" tIns="0" rIns="0" bIns="0" anchor="t">
            <a:normAutofit/>
          </a:bodyPr>
          <a:lstStyle/>
          <a:p>
            <a:r>
              <a:rPr lang="en-US" sz="1400" dirty="0"/>
              <a:t>The platform uses two connected data-processing paths. In the batch path, Apache Airflow runs an ETL pipeline every five minutes to retrieve Capital Bikeshare GBFS data, clean and validate it, and store raw data, station information, and availability history in PostgreSQL. In the streaming path, the station producer retrieves new observations every minute and publishes them to the Kafka station-status topic. The alert consumer processes these events, identifies stations at risk of bike depletion, and stores warning or critical alerts in the same PostgreSQL database. The Express API reads station information, historical data, and active alerts from PostgreSQL and provides them to the React dashboard, where operators can monitor inventory, view alerts, inspect station history, and explore station locations on a map. All components run together as an isolated and reproducible environment using Docker Compose.</a:t>
            </a:r>
          </a:p>
        </p:txBody>
      </p:sp>
    </p:spTree>
    <p:extLst>
      <p:ext uri="{BB962C8B-B14F-4D97-AF65-F5344CB8AC3E}">
        <p14:creationId xmlns:p14="http://schemas.microsoft.com/office/powerpoint/2010/main" val="15677157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F837C-207C-789A-02F9-2A727B0C1087}"/>
            </a:ext>
          </a:extLst>
        </p:cNvPr>
        <p:cNvGrpSpPr/>
        <p:nvPr/>
      </p:nvGrpSpPr>
      <p:grpSpPr>
        <a:xfrm>
          <a:off x="0" y="0"/>
          <a:ext cx="0" cy="0"/>
          <a:chOff x="0" y="0"/>
          <a:chExt cx="0" cy="0"/>
        </a:xfrm>
      </p:grpSpPr>
      <p:sp>
        <p:nvSpPr>
          <p:cNvPr id="32" name="Rectangle 31">
            <a:extLst>
              <a:ext uri="{FF2B5EF4-FFF2-40B4-BE49-F238E27FC236}">
                <a16:creationId xmlns:a16="http://schemas.microsoft.com/office/drawing/2014/main" id="{660AE8A2-1511-4756-47AD-F51D801009D6}"/>
              </a:ext>
            </a:extLst>
          </p:cNvPr>
          <p:cNvSpPr>
            <a:spLocks noGrp="1"/>
          </p:cNvSpPr>
          <p:nvPr/>
        </p:nvSpPr>
        <p:spPr>
          <a:xfrm>
            <a:off x="400050" y="276225"/>
            <a:ext cx="4953000" cy="209550"/>
          </a:xfrm>
          <a:prstGeom prst="rect">
            <a:avLst/>
          </a:prstGeom>
        </p:spPr>
        <p:txBody>
          <a:bodyPr wrap="square" lIns="0" tIns="0" rIns="0" bIns="0" anchor="t">
            <a:normAutofit/>
          </a:bodyPr>
          <a:lstStyle/>
          <a:p>
            <a:pPr algn="l">
              <a:defRPr sz="975" b="1">
                <a:solidFill>
                  <a:srgbClr val="D9232E"/>
                </a:solidFill>
                <a:latin typeface="Arial"/>
                <a:ea typeface="Arial"/>
                <a:cs typeface="Arial"/>
              </a:defRPr>
            </a:pPr>
            <a:r>
              <a:t>CAPITAL BIKESHARE OPERATIONS</a:t>
            </a:r>
          </a:p>
        </p:txBody>
      </p:sp>
      <p:sp>
        <p:nvSpPr>
          <p:cNvPr id="2" name="Rectangle 1">
            <a:extLst>
              <a:ext uri="{FF2B5EF4-FFF2-40B4-BE49-F238E27FC236}">
                <a16:creationId xmlns:a16="http://schemas.microsoft.com/office/drawing/2014/main" id="{61AF15BC-D6D9-9C64-A379-B2A2A2702D22}"/>
              </a:ext>
            </a:extLst>
          </p:cNvPr>
          <p:cNvSpPr>
            <a:spLocks noGrp="1"/>
          </p:cNvSpPr>
          <p:nvPr/>
        </p:nvSpPr>
        <p:spPr>
          <a:xfrm>
            <a:off x="400050" y="581025"/>
            <a:ext cx="11391900" cy="628650"/>
          </a:xfrm>
          <a:prstGeom prst="rect">
            <a:avLst/>
          </a:prstGeom>
        </p:spPr>
        <p:txBody>
          <a:bodyPr wrap="square" lIns="0" tIns="0" rIns="0" bIns="0" anchor="t">
            <a:normAutofit fontScale="96455"/>
          </a:bodyPr>
          <a:lstStyle/>
          <a:p>
            <a:pPr>
              <a:defRPr sz="3600" b="1">
                <a:solidFill>
                  <a:srgbClr val="15191D"/>
                </a:solidFill>
                <a:latin typeface="Arial"/>
                <a:ea typeface="Arial"/>
                <a:cs typeface="Arial"/>
              </a:defRPr>
            </a:pPr>
            <a:r>
              <a:rPr lang="en-US" sz="3600" b="1" dirty="0">
                <a:solidFill>
                  <a:srgbClr val="15191D"/>
                </a:solidFill>
                <a:latin typeface="Arial"/>
              </a:rPr>
              <a:t>Project Structure and Component Responsibilities</a:t>
            </a:r>
            <a:endParaRPr dirty="0"/>
          </a:p>
        </p:txBody>
      </p:sp>
      <p:cxnSp>
        <p:nvCxnSpPr>
          <p:cNvPr id="34" name="Straight Arrow Connector 33">
            <a:extLst>
              <a:ext uri="{FF2B5EF4-FFF2-40B4-BE49-F238E27FC236}">
                <a16:creationId xmlns:a16="http://schemas.microsoft.com/office/drawing/2014/main" id="{EF46D887-5521-7BAC-0168-64742EA6C36C}"/>
              </a:ext>
            </a:extLst>
          </p:cNvPr>
          <p:cNvCxnSpPr/>
          <p:nvPr/>
        </p:nvCxnSpPr>
        <p:spPr>
          <a:xfrm>
            <a:off x="400050" y="1304925"/>
            <a:ext cx="11391900" cy="9525"/>
          </a:xfrm>
          <a:prstGeom prst="straightConnector1">
            <a:avLst/>
          </a:prstGeom>
          <a:ln w="9525">
            <a:solidFill>
              <a:srgbClr val="C9CED2"/>
            </a:solidFill>
            <a:prstDash val="solid"/>
          </a:ln>
        </p:spPr>
      </p:cxnSp>
      <p:graphicFrame>
        <p:nvGraphicFramePr>
          <p:cNvPr id="5" name="Table 4">
            <a:extLst>
              <a:ext uri="{FF2B5EF4-FFF2-40B4-BE49-F238E27FC236}">
                <a16:creationId xmlns:a16="http://schemas.microsoft.com/office/drawing/2014/main" id="{0E13C1AC-11D0-4D70-23E6-042B19C226F4}"/>
              </a:ext>
            </a:extLst>
          </p:cNvPr>
          <p:cNvGraphicFramePr>
            <a:graphicFrameLocks noGrp="1"/>
          </p:cNvGraphicFramePr>
          <p:nvPr/>
        </p:nvGraphicFramePr>
        <p:xfrm>
          <a:off x="1994329" y="1825625"/>
          <a:ext cx="8203341" cy="4351338"/>
        </p:xfrm>
        <a:graphic>
          <a:graphicData uri="http://schemas.openxmlformats.org/drawingml/2006/table">
            <a:tbl>
              <a:tblPr>
                <a:tableStyleId>{5C22544A-7EE6-4342-B048-85BDC9FD1C3A}</a:tableStyleId>
              </a:tblPr>
              <a:tblGrid>
                <a:gridCol w="2734447">
                  <a:extLst>
                    <a:ext uri="{9D8B030D-6E8A-4147-A177-3AD203B41FA5}">
                      <a16:colId xmlns:a16="http://schemas.microsoft.com/office/drawing/2014/main" val="986536464"/>
                    </a:ext>
                  </a:extLst>
                </a:gridCol>
                <a:gridCol w="2734447">
                  <a:extLst>
                    <a:ext uri="{9D8B030D-6E8A-4147-A177-3AD203B41FA5}">
                      <a16:colId xmlns:a16="http://schemas.microsoft.com/office/drawing/2014/main" val="3523680562"/>
                    </a:ext>
                  </a:extLst>
                </a:gridCol>
                <a:gridCol w="2734447">
                  <a:extLst>
                    <a:ext uri="{9D8B030D-6E8A-4147-A177-3AD203B41FA5}">
                      <a16:colId xmlns:a16="http://schemas.microsoft.com/office/drawing/2014/main" val="3727476819"/>
                    </a:ext>
                  </a:extLst>
                </a:gridCol>
              </a:tblGrid>
              <a:tr h="285334">
                <a:tc>
                  <a:txBody>
                    <a:bodyPr/>
                    <a:lstStyle/>
                    <a:p>
                      <a:pPr>
                        <a:buNone/>
                      </a:pPr>
                      <a:r>
                        <a:rPr lang="en-US" sz="1400"/>
                        <a:t>Component</a:t>
                      </a:r>
                    </a:p>
                  </a:txBody>
                  <a:tcPr marL="71333" marR="71333" marT="35667" marB="35667" anchor="ctr"/>
                </a:tc>
                <a:tc>
                  <a:txBody>
                    <a:bodyPr/>
                    <a:lstStyle/>
                    <a:p>
                      <a:pPr>
                        <a:buNone/>
                      </a:pPr>
                      <a:r>
                        <a:rPr lang="en-US" sz="1400"/>
                        <a:t>Folder</a:t>
                      </a:r>
                    </a:p>
                  </a:txBody>
                  <a:tcPr marL="71333" marR="71333" marT="35667" marB="35667" anchor="ctr"/>
                </a:tc>
                <a:tc>
                  <a:txBody>
                    <a:bodyPr/>
                    <a:lstStyle/>
                    <a:p>
                      <a:pPr>
                        <a:buNone/>
                      </a:pPr>
                      <a:r>
                        <a:rPr lang="en-US" sz="1400"/>
                        <a:t>Responsibility</a:t>
                      </a:r>
                    </a:p>
                  </a:txBody>
                  <a:tcPr marL="71333" marR="71333" marT="35667" marB="35667" anchor="ctr"/>
                </a:tc>
                <a:extLst>
                  <a:ext uri="{0D108BD9-81ED-4DB2-BD59-A6C34878D82A}">
                    <a16:rowId xmlns:a16="http://schemas.microsoft.com/office/drawing/2014/main" val="2449423869"/>
                  </a:ext>
                </a:extLst>
              </a:tr>
              <a:tr h="713334">
                <a:tc>
                  <a:txBody>
                    <a:bodyPr/>
                    <a:lstStyle/>
                    <a:p>
                      <a:pPr>
                        <a:buNone/>
                      </a:pPr>
                      <a:r>
                        <a:rPr lang="en-US" sz="1400"/>
                        <a:t>Frontend</a:t>
                      </a:r>
                    </a:p>
                  </a:txBody>
                  <a:tcPr marL="71333" marR="71333" marT="35667" marB="35667" anchor="ctr"/>
                </a:tc>
                <a:tc>
                  <a:txBody>
                    <a:bodyPr/>
                    <a:lstStyle/>
                    <a:p>
                      <a:pPr>
                        <a:buNone/>
                      </a:pPr>
                      <a:r>
                        <a:rPr lang="en-US" sz="1400"/>
                        <a:t>client/</a:t>
                      </a:r>
                    </a:p>
                  </a:txBody>
                  <a:tcPr marL="71333" marR="71333" marT="35667" marB="35667" anchor="ctr"/>
                </a:tc>
                <a:tc>
                  <a:txBody>
                    <a:bodyPr/>
                    <a:lstStyle/>
                    <a:p>
                      <a:pPr>
                        <a:buNone/>
                      </a:pPr>
                      <a:r>
                        <a:rPr lang="en-US" sz="1400"/>
                        <a:t>React and Leaflet dashboard for station inventory, maps, alerts, and history.</a:t>
                      </a:r>
                    </a:p>
                  </a:txBody>
                  <a:tcPr marL="71333" marR="71333" marT="35667" marB="35667" anchor="ctr"/>
                </a:tc>
                <a:extLst>
                  <a:ext uri="{0D108BD9-81ED-4DB2-BD59-A6C34878D82A}">
                    <a16:rowId xmlns:a16="http://schemas.microsoft.com/office/drawing/2014/main" val="1062372333"/>
                  </a:ext>
                </a:extLst>
              </a:tr>
              <a:tr h="713334">
                <a:tc>
                  <a:txBody>
                    <a:bodyPr/>
                    <a:lstStyle/>
                    <a:p>
                      <a:pPr>
                        <a:buNone/>
                      </a:pPr>
                      <a:r>
                        <a:rPr lang="en-US" sz="1400"/>
                        <a:t>Backend</a:t>
                      </a:r>
                    </a:p>
                  </a:txBody>
                  <a:tcPr marL="71333" marR="71333" marT="35667" marB="35667" anchor="ctr"/>
                </a:tc>
                <a:tc>
                  <a:txBody>
                    <a:bodyPr/>
                    <a:lstStyle/>
                    <a:p>
                      <a:pPr>
                        <a:buNone/>
                      </a:pPr>
                      <a:r>
                        <a:rPr lang="en-US" sz="1400"/>
                        <a:t>server/</a:t>
                      </a:r>
                    </a:p>
                  </a:txBody>
                  <a:tcPr marL="71333" marR="71333" marT="35667" marB="35667" anchor="ctr"/>
                </a:tc>
                <a:tc>
                  <a:txBody>
                    <a:bodyPr/>
                    <a:lstStyle/>
                    <a:p>
                      <a:pPr>
                        <a:buNone/>
                      </a:pPr>
                      <a:r>
                        <a:rPr lang="en-US" sz="1400"/>
                        <a:t>Express API that retrieves PostgreSQL data and provides it to the frontend.</a:t>
                      </a:r>
                    </a:p>
                  </a:txBody>
                  <a:tcPr marL="71333" marR="71333" marT="35667" marB="35667" anchor="ctr"/>
                </a:tc>
                <a:extLst>
                  <a:ext uri="{0D108BD9-81ED-4DB2-BD59-A6C34878D82A}">
                    <a16:rowId xmlns:a16="http://schemas.microsoft.com/office/drawing/2014/main" val="663500591"/>
                  </a:ext>
                </a:extLst>
              </a:tr>
              <a:tr h="499334">
                <a:tc>
                  <a:txBody>
                    <a:bodyPr/>
                    <a:lstStyle/>
                    <a:p>
                      <a:pPr>
                        <a:buNone/>
                      </a:pPr>
                      <a:r>
                        <a:rPr lang="en-US" sz="1400"/>
                        <a:t>Database</a:t>
                      </a:r>
                    </a:p>
                  </a:txBody>
                  <a:tcPr marL="71333" marR="71333" marT="35667" marB="35667" anchor="ctr"/>
                </a:tc>
                <a:tc>
                  <a:txBody>
                    <a:bodyPr/>
                    <a:lstStyle/>
                    <a:p>
                      <a:pPr>
                        <a:buNone/>
                      </a:pPr>
                      <a:r>
                        <a:rPr lang="en-US" sz="1400"/>
                        <a:t>database/</a:t>
                      </a:r>
                    </a:p>
                  </a:txBody>
                  <a:tcPr marL="71333" marR="71333" marT="35667" marB="35667" anchor="ctr"/>
                </a:tc>
                <a:tc>
                  <a:txBody>
                    <a:bodyPr/>
                    <a:lstStyle/>
                    <a:p>
                      <a:pPr>
                        <a:buNone/>
                      </a:pPr>
                      <a:r>
                        <a:rPr lang="en-US" sz="1400"/>
                        <a:t>PostgreSQL schema for raw data, stations, status history, and alerts.</a:t>
                      </a:r>
                    </a:p>
                  </a:txBody>
                  <a:tcPr marL="71333" marR="71333" marT="35667" marB="35667" anchor="ctr"/>
                </a:tc>
                <a:extLst>
                  <a:ext uri="{0D108BD9-81ED-4DB2-BD59-A6C34878D82A}">
                    <a16:rowId xmlns:a16="http://schemas.microsoft.com/office/drawing/2014/main" val="1007257302"/>
                  </a:ext>
                </a:extLst>
              </a:tr>
              <a:tr h="713334">
                <a:tc>
                  <a:txBody>
                    <a:bodyPr/>
                    <a:lstStyle/>
                    <a:p>
                      <a:pPr>
                        <a:buNone/>
                      </a:pPr>
                      <a:r>
                        <a:rPr lang="en-US" sz="1400"/>
                        <a:t>Data pipeline</a:t>
                      </a:r>
                    </a:p>
                  </a:txBody>
                  <a:tcPr marL="71333" marR="71333" marT="35667" marB="35667" anchor="ctr"/>
                </a:tc>
                <a:tc>
                  <a:txBody>
                    <a:bodyPr/>
                    <a:lstStyle/>
                    <a:p>
                      <a:pPr>
                        <a:buNone/>
                      </a:pPr>
                      <a:r>
                        <a:rPr lang="en-US" sz="1400"/>
                        <a:t>pipeline/</a:t>
                      </a:r>
                    </a:p>
                  </a:txBody>
                  <a:tcPr marL="71333" marR="71333" marT="35667" marB="35667" anchor="ctr"/>
                </a:tc>
                <a:tc>
                  <a:txBody>
                    <a:bodyPr/>
                    <a:lstStyle/>
                    <a:p>
                      <a:pPr>
                        <a:buNone/>
                      </a:pPr>
                      <a:r>
                        <a:rPr lang="en-US" sz="1400"/>
                        <a:t>Python code for extracting, cleaning, validating, and loading bikeshare data.</a:t>
                      </a:r>
                    </a:p>
                  </a:txBody>
                  <a:tcPr marL="71333" marR="71333" marT="35667" marB="35667" anchor="ctr"/>
                </a:tc>
                <a:extLst>
                  <a:ext uri="{0D108BD9-81ED-4DB2-BD59-A6C34878D82A}">
                    <a16:rowId xmlns:a16="http://schemas.microsoft.com/office/drawing/2014/main" val="3565887584"/>
                  </a:ext>
                </a:extLst>
              </a:tr>
              <a:tr h="713334">
                <a:tc>
                  <a:txBody>
                    <a:bodyPr/>
                    <a:lstStyle/>
                    <a:p>
                      <a:pPr>
                        <a:buNone/>
                      </a:pPr>
                      <a:r>
                        <a:rPr lang="en-US" sz="1400"/>
                        <a:t>Orchestration</a:t>
                      </a:r>
                    </a:p>
                  </a:txBody>
                  <a:tcPr marL="71333" marR="71333" marT="35667" marB="35667" anchor="ctr"/>
                </a:tc>
                <a:tc>
                  <a:txBody>
                    <a:bodyPr/>
                    <a:lstStyle/>
                    <a:p>
                      <a:pPr>
                        <a:buNone/>
                      </a:pPr>
                      <a:r>
                        <a:rPr lang="en-US" sz="1400"/>
                        <a:t>airflow/</a:t>
                      </a:r>
                    </a:p>
                  </a:txBody>
                  <a:tcPr marL="71333" marR="71333" marT="35667" marB="35667" anchor="ctr"/>
                </a:tc>
                <a:tc>
                  <a:txBody>
                    <a:bodyPr/>
                    <a:lstStyle/>
                    <a:p>
                      <a:pPr>
                        <a:buNone/>
                      </a:pPr>
                      <a:r>
                        <a:rPr lang="en-US" sz="1400"/>
                        <a:t>Airflow DAG that schedules and monitors the ETL pipeline every five minutes.</a:t>
                      </a:r>
                    </a:p>
                  </a:txBody>
                  <a:tcPr marL="71333" marR="71333" marT="35667" marB="35667" anchor="ctr"/>
                </a:tc>
                <a:extLst>
                  <a:ext uri="{0D108BD9-81ED-4DB2-BD59-A6C34878D82A}">
                    <a16:rowId xmlns:a16="http://schemas.microsoft.com/office/drawing/2014/main" val="2314163143"/>
                  </a:ext>
                </a:extLst>
              </a:tr>
              <a:tr h="713334">
                <a:tc>
                  <a:txBody>
                    <a:bodyPr/>
                    <a:lstStyle/>
                    <a:p>
                      <a:pPr>
                        <a:buNone/>
                      </a:pPr>
                      <a:r>
                        <a:rPr lang="en-US" sz="1400"/>
                        <a:t>Event streaming</a:t>
                      </a:r>
                    </a:p>
                  </a:txBody>
                  <a:tcPr marL="71333" marR="71333" marT="35667" marB="35667" anchor="ctr"/>
                </a:tc>
                <a:tc>
                  <a:txBody>
                    <a:bodyPr/>
                    <a:lstStyle/>
                    <a:p>
                      <a:pPr>
                        <a:buNone/>
                      </a:pPr>
                      <a:r>
                        <a:rPr lang="en-US" sz="1400" dirty="0"/>
                        <a:t>streaming/</a:t>
                      </a:r>
                    </a:p>
                  </a:txBody>
                  <a:tcPr marL="71333" marR="71333" marT="35667" marB="35667" anchor="ctr"/>
                </a:tc>
                <a:tc>
                  <a:txBody>
                    <a:bodyPr/>
                    <a:lstStyle/>
                    <a:p>
                      <a:pPr>
                        <a:buNone/>
                      </a:pPr>
                      <a:r>
                        <a:rPr lang="en-US" sz="1400" dirty="0"/>
                        <a:t>Kafka producer, alert consumer, depletion-detection rules, and tests.</a:t>
                      </a:r>
                    </a:p>
                  </a:txBody>
                  <a:tcPr marL="71333" marR="71333" marT="35667" marB="35667" anchor="ctr"/>
                </a:tc>
                <a:extLst>
                  <a:ext uri="{0D108BD9-81ED-4DB2-BD59-A6C34878D82A}">
                    <a16:rowId xmlns:a16="http://schemas.microsoft.com/office/drawing/2014/main" val="4139485517"/>
                  </a:ext>
                </a:extLst>
              </a:tr>
            </a:tbl>
          </a:graphicData>
        </a:graphic>
      </p:graphicFrame>
    </p:spTree>
    <p:extLst>
      <p:ext uri="{BB962C8B-B14F-4D97-AF65-F5344CB8AC3E}">
        <p14:creationId xmlns:p14="http://schemas.microsoft.com/office/powerpoint/2010/main" val="16619831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B9979-7A77-0009-71C0-B49CBFBF8F91}"/>
            </a:ext>
          </a:extLst>
        </p:cNvPr>
        <p:cNvGrpSpPr/>
        <p:nvPr/>
      </p:nvGrpSpPr>
      <p:grpSpPr>
        <a:xfrm>
          <a:off x="0" y="0"/>
          <a:ext cx="0" cy="0"/>
          <a:chOff x="0" y="0"/>
          <a:chExt cx="0" cy="0"/>
        </a:xfrm>
      </p:grpSpPr>
      <p:sp>
        <p:nvSpPr>
          <p:cNvPr id="32" name="Rectangle 31">
            <a:extLst>
              <a:ext uri="{FF2B5EF4-FFF2-40B4-BE49-F238E27FC236}">
                <a16:creationId xmlns:a16="http://schemas.microsoft.com/office/drawing/2014/main" id="{15B2789E-6980-1D1F-0968-A8B12995FC52}"/>
              </a:ext>
            </a:extLst>
          </p:cNvPr>
          <p:cNvSpPr>
            <a:spLocks noGrp="1"/>
          </p:cNvSpPr>
          <p:nvPr/>
        </p:nvSpPr>
        <p:spPr>
          <a:xfrm>
            <a:off x="400050" y="276225"/>
            <a:ext cx="4953000" cy="209550"/>
          </a:xfrm>
          <a:prstGeom prst="rect">
            <a:avLst/>
          </a:prstGeom>
        </p:spPr>
        <p:txBody>
          <a:bodyPr wrap="square" lIns="0" tIns="0" rIns="0" bIns="0" anchor="t">
            <a:normAutofit/>
          </a:bodyPr>
          <a:lstStyle/>
          <a:p>
            <a:pPr algn="l">
              <a:defRPr sz="975" b="1">
                <a:solidFill>
                  <a:srgbClr val="D9232E"/>
                </a:solidFill>
                <a:latin typeface="Arial"/>
                <a:ea typeface="Arial"/>
                <a:cs typeface="Arial"/>
              </a:defRPr>
            </a:pPr>
            <a:r>
              <a:t>CAPITAL BIKESHARE OPERATIONS</a:t>
            </a:r>
          </a:p>
        </p:txBody>
      </p:sp>
      <p:sp>
        <p:nvSpPr>
          <p:cNvPr id="2" name="Rectangle 1">
            <a:extLst>
              <a:ext uri="{FF2B5EF4-FFF2-40B4-BE49-F238E27FC236}">
                <a16:creationId xmlns:a16="http://schemas.microsoft.com/office/drawing/2014/main" id="{97FA94B9-42AA-680D-F18E-A9D4E0505ADD}"/>
              </a:ext>
            </a:extLst>
          </p:cNvPr>
          <p:cNvSpPr>
            <a:spLocks noGrp="1"/>
          </p:cNvSpPr>
          <p:nvPr/>
        </p:nvSpPr>
        <p:spPr>
          <a:xfrm>
            <a:off x="400050" y="581025"/>
            <a:ext cx="11391900" cy="628650"/>
          </a:xfrm>
          <a:prstGeom prst="rect">
            <a:avLst/>
          </a:prstGeom>
        </p:spPr>
        <p:txBody>
          <a:bodyPr wrap="square" lIns="0" tIns="0" rIns="0" bIns="0" anchor="t">
            <a:normAutofit fontScale="96455"/>
          </a:bodyPr>
          <a:lstStyle/>
          <a:p>
            <a:pPr>
              <a:defRPr sz="3600" b="1">
                <a:solidFill>
                  <a:srgbClr val="15191D"/>
                </a:solidFill>
                <a:latin typeface="Arial"/>
                <a:ea typeface="Arial"/>
                <a:cs typeface="Arial"/>
              </a:defRPr>
            </a:pPr>
            <a:r>
              <a:rPr lang="en-US" sz="3600" b="1" dirty="0">
                <a:solidFill>
                  <a:srgbClr val="15191D"/>
                </a:solidFill>
                <a:latin typeface="Arial"/>
              </a:rPr>
              <a:t>Capital Bikeshare GBFS API</a:t>
            </a:r>
            <a:endParaRPr dirty="0"/>
          </a:p>
        </p:txBody>
      </p:sp>
      <p:cxnSp>
        <p:nvCxnSpPr>
          <p:cNvPr id="34" name="Straight Arrow Connector 33">
            <a:extLst>
              <a:ext uri="{FF2B5EF4-FFF2-40B4-BE49-F238E27FC236}">
                <a16:creationId xmlns:a16="http://schemas.microsoft.com/office/drawing/2014/main" id="{0CB6461C-1753-E315-D740-71ECEF25E76C}"/>
              </a:ext>
            </a:extLst>
          </p:cNvPr>
          <p:cNvCxnSpPr/>
          <p:nvPr/>
        </p:nvCxnSpPr>
        <p:spPr>
          <a:xfrm>
            <a:off x="400050" y="1304925"/>
            <a:ext cx="11391900" cy="9525"/>
          </a:xfrm>
          <a:prstGeom prst="straightConnector1">
            <a:avLst/>
          </a:prstGeom>
          <a:ln w="9525">
            <a:solidFill>
              <a:srgbClr val="C9CED2"/>
            </a:solidFill>
            <a:prstDash val="solid"/>
          </a:ln>
        </p:spPr>
      </p:cxnSp>
      <p:sp>
        <p:nvSpPr>
          <p:cNvPr id="4" name="Rectangle: Rounded Corners 3">
            <a:extLst>
              <a:ext uri="{FF2B5EF4-FFF2-40B4-BE49-F238E27FC236}">
                <a16:creationId xmlns:a16="http://schemas.microsoft.com/office/drawing/2014/main" id="{7722EF48-D551-B54B-F34E-8EBE1288320E}"/>
              </a:ext>
            </a:extLst>
          </p:cNvPr>
          <p:cNvSpPr>
            <a:spLocks noGrp="1"/>
          </p:cNvSpPr>
          <p:nvPr/>
        </p:nvSpPr>
        <p:spPr>
          <a:xfrm>
            <a:off x="689948" y="1618922"/>
            <a:ext cx="10618258" cy="512564"/>
          </a:xfrm>
          <a:prstGeom prst="roundRect">
            <a:avLst>
              <a:gd name="adj" fmla="val 2797"/>
            </a:avLst>
          </a:prstGeom>
          <a:solidFill>
            <a:srgbClr val="EAF6FB"/>
          </a:solidFill>
          <a:ln w="9525">
            <a:solidFill>
              <a:srgbClr val="C9CED2"/>
            </a:solidFill>
            <a:prstDash val="solid"/>
          </a:ln>
        </p:spPr>
        <p:txBody>
          <a:bodyPr/>
          <a:lstStyle/>
          <a:p>
            <a:endParaRPr lang="en-US"/>
          </a:p>
        </p:txBody>
      </p:sp>
      <p:sp>
        <p:nvSpPr>
          <p:cNvPr id="7" name="Rectangle 6">
            <a:extLst>
              <a:ext uri="{FF2B5EF4-FFF2-40B4-BE49-F238E27FC236}">
                <a16:creationId xmlns:a16="http://schemas.microsoft.com/office/drawing/2014/main" id="{56DB4954-9AD1-4B48-4A13-B3A5FD21FF93}"/>
              </a:ext>
            </a:extLst>
          </p:cNvPr>
          <p:cNvSpPr>
            <a:spLocks noGrp="1"/>
          </p:cNvSpPr>
          <p:nvPr/>
        </p:nvSpPr>
        <p:spPr>
          <a:xfrm>
            <a:off x="883794" y="1723696"/>
            <a:ext cx="11308206" cy="1827672"/>
          </a:xfrm>
          <a:prstGeom prst="rect">
            <a:avLst/>
          </a:prstGeom>
        </p:spPr>
        <p:txBody>
          <a:bodyPr wrap="square" lIns="0" tIns="0" rIns="0" bIns="0" anchor="t">
            <a:normAutofit/>
          </a:bodyPr>
          <a:lstStyle/>
          <a:p>
            <a:r>
              <a:rPr lang="en-US" sz="1400" dirty="0"/>
              <a:t>The project uses the </a:t>
            </a:r>
            <a:r>
              <a:rPr lang="en-US" sz="1400" b="1" dirty="0"/>
              <a:t>Capital Bikeshare General Bikeshare Feed Specification (GBFS) API</a:t>
            </a:r>
            <a:r>
              <a:rPr lang="en-US" sz="1400" dirty="0"/>
              <a:t>. </a:t>
            </a:r>
          </a:p>
        </p:txBody>
      </p:sp>
      <p:graphicFrame>
        <p:nvGraphicFramePr>
          <p:cNvPr id="9" name="Table 8">
            <a:extLst>
              <a:ext uri="{FF2B5EF4-FFF2-40B4-BE49-F238E27FC236}">
                <a16:creationId xmlns:a16="http://schemas.microsoft.com/office/drawing/2014/main" id="{4E601E0F-906D-0987-F6B6-438A51EBCB2B}"/>
              </a:ext>
            </a:extLst>
          </p:cNvPr>
          <p:cNvGraphicFramePr>
            <a:graphicFrameLocks noGrp="1"/>
          </p:cNvGraphicFramePr>
          <p:nvPr>
            <p:extLst>
              <p:ext uri="{D42A27DB-BD31-4B8C-83A1-F6EECF244321}">
                <p14:modId xmlns:p14="http://schemas.microsoft.com/office/powerpoint/2010/main" val="3503184626"/>
              </p:ext>
            </p:extLst>
          </p:nvPr>
        </p:nvGraphicFramePr>
        <p:xfrm>
          <a:off x="883794" y="2645507"/>
          <a:ext cx="10618260" cy="3538217"/>
        </p:xfrm>
        <a:graphic>
          <a:graphicData uri="http://schemas.openxmlformats.org/drawingml/2006/table">
            <a:tbl>
              <a:tblPr>
                <a:tableStyleId>{5C22544A-7EE6-4342-B048-85BDC9FD1C3A}</a:tableStyleId>
              </a:tblPr>
              <a:tblGrid>
                <a:gridCol w="2654565">
                  <a:extLst>
                    <a:ext uri="{9D8B030D-6E8A-4147-A177-3AD203B41FA5}">
                      <a16:colId xmlns:a16="http://schemas.microsoft.com/office/drawing/2014/main" val="3060482573"/>
                    </a:ext>
                  </a:extLst>
                </a:gridCol>
                <a:gridCol w="2654565">
                  <a:extLst>
                    <a:ext uri="{9D8B030D-6E8A-4147-A177-3AD203B41FA5}">
                      <a16:colId xmlns:a16="http://schemas.microsoft.com/office/drawing/2014/main" val="2616777617"/>
                    </a:ext>
                  </a:extLst>
                </a:gridCol>
                <a:gridCol w="2654565">
                  <a:extLst>
                    <a:ext uri="{9D8B030D-6E8A-4147-A177-3AD203B41FA5}">
                      <a16:colId xmlns:a16="http://schemas.microsoft.com/office/drawing/2014/main" val="1245683008"/>
                    </a:ext>
                  </a:extLst>
                </a:gridCol>
                <a:gridCol w="2654565">
                  <a:extLst>
                    <a:ext uri="{9D8B030D-6E8A-4147-A177-3AD203B41FA5}">
                      <a16:colId xmlns:a16="http://schemas.microsoft.com/office/drawing/2014/main" val="4027433134"/>
                    </a:ext>
                  </a:extLst>
                </a:gridCol>
              </a:tblGrid>
              <a:tr h="237687">
                <a:tc>
                  <a:txBody>
                    <a:bodyPr/>
                    <a:lstStyle/>
                    <a:p>
                      <a:pPr>
                        <a:buNone/>
                      </a:pPr>
                      <a:r>
                        <a:rPr lang="en-US" sz="1600"/>
                        <a:t>API/feed</a:t>
                      </a:r>
                    </a:p>
                  </a:txBody>
                  <a:tcPr marL="79115" marR="79115" marT="39558" marB="39558" anchor="ctr"/>
                </a:tc>
                <a:tc>
                  <a:txBody>
                    <a:bodyPr/>
                    <a:lstStyle/>
                    <a:p>
                      <a:pPr>
                        <a:buNone/>
                      </a:pPr>
                      <a:r>
                        <a:rPr lang="en-US" sz="1600" dirty="0"/>
                        <a:t>Exact endpoint</a:t>
                      </a:r>
                    </a:p>
                  </a:txBody>
                  <a:tcPr marL="79115" marR="79115" marT="39558" marB="39558" anchor="ctr"/>
                </a:tc>
                <a:tc>
                  <a:txBody>
                    <a:bodyPr/>
                    <a:lstStyle/>
                    <a:p>
                      <a:pPr>
                        <a:buNone/>
                      </a:pPr>
                      <a:r>
                        <a:rPr lang="en-US" sz="1600"/>
                        <a:t>Why it is used</a:t>
                      </a:r>
                    </a:p>
                  </a:txBody>
                  <a:tcPr marL="79115" marR="79115" marT="39558" marB="39558" anchor="ctr"/>
                </a:tc>
                <a:tc>
                  <a:txBody>
                    <a:bodyPr/>
                    <a:lstStyle/>
                    <a:p>
                      <a:pPr>
                        <a:buNone/>
                      </a:pPr>
                      <a:r>
                        <a:rPr lang="en-US" sz="1600"/>
                        <a:t>Code location</a:t>
                      </a:r>
                    </a:p>
                  </a:txBody>
                  <a:tcPr marL="79115" marR="79115" marT="39558" marB="39558" anchor="ctr"/>
                </a:tc>
                <a:extLst>
                  <a:ext uri="{0D108BD9-81ED-4DB2-BD59-A6C34878D82A}">
                    <a16:rowId xmlns:a16="http://schemas.microsoft.com/office/drawing/2014/main" val="707811824"/>
                  </a:ext>
                </a:extLst>
              </a:tr>
              <a:tr h="1106309">
                <a:tc>
                  <a:txBody>
                    <a:bodyPr/>
                    <a:lstStyle/>
                    <a:p>
                      <a:pPr>
                        <a:buNone/>
                      </a:pPr>
                      <a:r>
                        <a:rPr lang="en-US" sz="1600"/>
                        <a:t>GBFS discovery</a:t>
                      </a:r>
                    </a:p>
                  </a:txBody>
                  <a:tcPr marL="79115" marR="79115" marT="39558" marB="39558" anchor="ctr"/>
                </a:tc>
                <a:tc>
                  <a:txBody>
                    <a:bodyPr/>
                    <a:lstStyle/>
                    <a:p>
                      <a:pPr>
                        <a:buNone/>
                      </a:pPr>
                      <a:r>
                        <a:rPr lang="en-US" sz="1600"/>
                        <a:t>https://gbfs.capitalbikeshare.com/gbfs/2.3/gbfs.json</a:t>
                      </a:r>
                    </a:p>
                  </a:txBody>
                  <a:tcPr marL="79115" marR="79115" marT="39558" marB="39558" anchor="ctr"/>
                </a:tc>
                <a:tc>
                  <a:txBody>
                    <a:bodyPr/>
                    <a:lstStyle/>
                    <a:p>
                      <a:pPr>
                        <a:buNone/>
                      </a:pPr>
                      <a:r>
                        <a:rPr lang="en-US" sz="1600"/>
                        <a:t>Provides the current URLs of all available feeds, avoiding hard-coded data-feed addresses.</a:t>
                      </a:r>
                    </a:p>
                  </a:txBody>
                  <a:tcPr marL="79115" marR="79115" marT="39558" marB="39558" anchor="ctr"/>
                </a:tc>
                <a:tc>
                  <a:txBody>
                    <a:bodyPr/>
                    <a:lstStyle/>
                    <a:p>
                      <a:pPr>
                        <a:buNone/>
                      </a:pPr>
                      <a:r>
                        <a:rPr lang="en-US" sz="1600"/>
                        <a:t>DEFAULT_DISCOVERY_URL and discover_feed_urls() in pipeline/extract.py</a:t>
                      </a:r>
                    </a:p>
                  </a:txBody>
                  <a:tcPr marL="79115" marR="79115" marT="39558" marB="39558" anchor="ctr"/>
                </a:tc>
                <a:extLst>
                  <a:ext uri="{0D108BD9-81ED-4DB2-BD59-A6C34878D82A}">
                    <a16:rowId xmlns:a16="http://schemas.microsoft.com/office/drawing/2014/main" val="2238005156"/>
                  </a:ext>
                </a:extLst>
              </a:tr>
              <a:tr h="931629">
                <a:tc>
                  <a:txBody>
                    <a:bodyPr/>
                    <a:lstStyle/>
                    <a:p>
                      <a:pPr>
                        <a:buNone/>
                      </a:pPr>
                      <a:r>
                        <a:rPr lang="en-US" sz="1600"/>
                        <a:t>Station information</a:t>
                      </a:r>
                    </a:p>
                  </a:txBody>
                  <a:tcPr marL="79115" marR="79115" marT="39558" marB="39558" anchor="ctr"/>
                </a:tc>
                <a:tc>
                  <a:txBody>
                    <a:bodyPr/>
                    <a:lstStyle/>
                    <a:p>
                      <a:pPr>
                        <a:buNone/>
                      </a:pPr>
                      <a:r>
                        <a:rPr lang="en-US" sz="1600"/>
                        <a:t>https://gbfs.lyft.com/gbfs/2.3/dca-cabi/en/station_information.json</a:t>
                      </a:r>
                    </a:p>
                  </a:txBody>
                  <a:tcPr marL="79115" marR="79115" marT="39558" marB="39558" anchor="ctr"/>
                </a:tc>
                <a:tc>
                  <a:txBody>
                    <a:bodyPr/>
                    <a:lstStyle/>
                    <a:p>
                      <a:pPr>
                        <a:buNone/>
                      </a:pPr>
                      <a:r>
                        <a:rPr lang="en-US" sz="1600"/>
                        <a:t>Supplies station IDs, names, coordinates and capacities for PostgreSQL and the dashboard map.</a:t>
                      </a:r>
                    </a:p>
                  </a:txBody>
                  <a:tcPr marL="79115" marR="79115" marT="39558" marB="39558" anchor="ctr"/>
                </a:tc>
                <a:tc>
                  <a:txBody>
                    <a:bodyPr/>
                    <a:lstStyle/>
                    <a:p>
                      <a:pPr>
                        <a:buNone/>
                      </a:pPr>
                      <a:r>
                        <a:rPr lang="en-US" sz="1600"/>
                        <a:t>Retrieved by fetch_station_feeds() in pipeline/extract.py</a:t>
                      </a:r>
                    </a:p>
                  </a:txBody>
                  <a:tcPr marL="79115" marR="79115" marT="39558" marB="39558" anchor="ctr"/>
                </a:tc>
                <a:extLst>
                  <a:ext uri="{0D108BD9-81ED-4DB2-BD59-A6C34878D82A}">
                    <a16:rowId xmlns:a16="http://schemas.microsoft.com/office/drawing/2014/main" val="778525920"/>
                  </a:ext>
                </a:extLst>
              </a:tr>
              <a:tr h="931629">
                <a:tc>
                  <a:txBody>
                    <a:bodyPr/>
                    <a:lstStyle/>
                    <a:p>
                      <a:pPr>
                        <a:buNone/>
                      </a:pPr>
                      <a:r>
                        <a:rPr lang="en-US" sz="1600"/>
                        <a:t>Station status</a:t>
                      </a:r>
                    </a:p>
                  </a:txBody>
                  <a:tcPr marL="79115" marR="79115" marT="39558" marB="39558" anchor="ctr"/>
                </a:tc>
                <a:tc>
                  <a:txBody>
                    <a:bodyPr/>
                    <a:lstStyle/>
                    <a:p>
                      <a:pPr>
                        <a:buNone/>
                      </a:pPr>
                      <a:r>
                        <a:rPr lang="en-US" sz="1600"/>
                        <a:t>https://gbfs.lyft.com/gbfs/2.3/dca-cabi/en/station_status.json</a:t>
                      </a:r>
                    </a:p>
                  </a:txBody>
                  <a:tcPr marL="79115" marR="79115" marT="39558" marB="39558" anchor="ctr"/>
                </a:tc>
                <a:tc>
                  <a:txBody>
                    <a:bodyPr/>
                    <a:lstStyle/>
                    <a:p>
                      <a:pPr>
                        <a:buNone/>
                      </a:pPr>
                      <a:r>
                        <a:rPr lang="en-US" sz="1600"/>
                        <a:t>Supplies current bikes, docks, operating flags and timestamps for history and depletion alerts.</a:t>
                      </a:r>
                    </a:p>
                  </a:txBody>
                  <a:tcPr marL="79115" marR="79115" marT="39558" marB="39558" anchor="ctr"/>
                </a:tc>
                <a:tc>
                  <a:txBody>
                    <a:bodyPr/>
                    <a:lstStyle/>
                    <a:p>
                      <a:pPr>
                        <a:buNone/>
                      </a:pPr>
                      <a:r>
                        <a:rPr lang="en-US" sz="1600" dirty="0"/>
                        <a:t>Retrieved by </a:t>
                      </a:r>
                      <a:r>
                        <a:rPr lang="en-US" sz="1600" dirty="0" err="1"/>
                        <a:t>fetch_station_feeds</a:t>
                      </a:r>
                      <a:r>
                        <a:rPr lang="en-US" sz="1600" dirty="0"/>
                        <a:t>() in pipeline/extract.py</a:t>
                      </a:r>
                    </a:p>
                  </a:txBody>
                  <a:tcPr marL="79115" marR="79115" marT="39558" marB="39558" anchor="ctr"/>
                </a:tc>
                <a:extLst>
                  <a:ext uri="{0D108BD9-81ED-4DB2-BD59-A6C34878D82A}">
                    <a16:rowId xmlns:a16="http://schemas.microsoft.com/office/drawing/2014/main" val="1890625242"/>
                  </a:ext>
                </a:extLst>
              </a:tr>
            </a:tbl>
          </a:graphicData>
        </a:graphic>
      </p:graphicFrame>
    </p:spTree>
    <p:extLst>
      <p:ext uri="{BB962C8B-B14F-4D97-AF65-F5344CB8AC3E}">
        <p14:creationId xmlns:p14="http://schemas.microsoft.com/office/powerpoint/2010/main" val="23627415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02262-D16E-CEF7-6CFA-3130B430B2B5}"/>
            </a:ext>
          </a:extLst>
        </p:cNvPr>
        <p:cNvGrpSpPr/>
        <p:nvPr/>
      </p:nvGrpSpPr>
      <p:grpSpPr>
        <a:xfrm>
          <a:off x="0" y="0"/>
          <a:ext cx="0" cy="0"/>
          <a:chOff x="0" y="0"/>
          <a:chExt cx="0" cy="0"/>
        </a:xfrm>
      </p:grpSpPr>
      <p:sp>
        <p:nvSpPr>
          <p:cNvPr id="21" name="Rectangle 20">
            <a:extLst>
              <a:ext uri="{FF2B5EF4-FFF2-40B4-BE49-F238E27FC236}">
                <a16:creationId xmlns:a16="http://schemas.microsoft.com/office/drawing/2014/main" id="{DD289277-A4F3-3680-3716-8901A201E647}"/>
              </a:ext>
            </a:extLst>
          </p:cNvPr>
          <p:cNvSpPr>
            <a:spLocks noGrp="1"/>
          </p:cNvSpPr>
          <p:nvPr/>
        </p:nvSpPr>
        <p:spPr>
          <a:xfrm>
            <a:off x="400050" y="276225"/>
            <a:ext cx="4953000" cy="209550"/>
          </a:xfrm>
          <a:prstGeom prst="rect">
            <a:avLst/>
          </a:prstGeom>
        </p:spPr>
        <p:txBody>
          <a:bodyPr wrap="square" lIns="0" tIns="0" rIns="0" bIns="0" anchor="t">
            <a:normAutofit/>
          </a:bodyPr>
          <a:lstStyle/>
          <a:p>
            <a:pPr algn="l">
              <a:defRPr sz="975" b="1">
                <a:solidFill>
                  <a:srgbClr val="D9232E"/>
                </a:solidFill>
                <a:latin typeface="Arial"/>
                <a:ea typeface="Arial"/>
                <a:cs typeface="Arial"/>
              </a:defRPr>
            </a:pPr>
            <a:r>
              <a:t>CAPITAL BIKESHARE OPERATIONS</a:t>
            </a:r>
          </a:p>
        </p:txBody>
      </p:sp>
      <p:sp>
        <p:nvSpPr>
          <p:cNvPr id="2" name="Rectangle 1">
            <a:extLst>
              <a:ext uri="{FF2B5EF4-FFF2-40B4-BE49-F238E27FC236}">
                <a16:creationId xmlns:a16="http://schemas.microsoft.com/office/drawing/2014/main" id="{6DF6E0BA-73F1-51FA-F816-456299600831}"/>
              </a:ext>
            </a:extLst>
          </p:cNvPr>
          <p:cNvSpPr>
            <a:spLocks noGrp="1"/>
          </p:cNvSpPr>
          <p:nvPr/>
        </p:nvSpPr>
        <p:spPr>
          <a:xfrm>
            <a:off x="400050" y="581025"/>
            <a:ext cx="11391900" cy="628650"/>
          </a:xfrm>
          <a:prstGeom prst="rect">
            <a:avLst/>
          </a:prstGeom>
        </p:spPr>
        <p:txBody>
          <a:bodyPr wrap="square" lIns="0" tIns="0" rIns="0" bIns="0" anchor="t">
            <a:normAutofit/>
          </a:bodyPr>
          <a:lstStyle/>
          <a:p>
            <a:pPr algn="l">
              <a:defRPr sz="3000" b="1">
                <a:solidFill>
                  <a:srgbClr val="15191D"/>
                </a:solidFill>
                <a:latin typeface="Arial"/>
                <a:ea typeface="Arial"/>
                <a:cs typeface="Arial"/>
              </a:defRPr>
            </a:pPr>
            <a:r>
              <a:rPr lang="en-US" dirty="0"/>
              <a:t>Airflow </a:t>
            </a:r>
            <a:endParaRPr dirty="0"/>
          </a:p>
        </p:txBody>
      </p:sp>
      <p:cxnSp>
        <p:nvCxnSpPr>
          <p:cNvPr id="23" name="Straight Arrow Connector 22">
            <a:extLst>
              <a:ext uri="{FF2B5EF4-FFF2-40B4-BE49-F238E27FC236}">
                <a16:creationId xmlns:a16="http://schemas.microsoft.com/office/drawing/2014/main" id="{3E52292D-6264-4179-CBCF-B1220FB6C856}"/>
              </a:ext>
            </a:extLst>
          </p:cNvPr>
          <p:cNvCxnSpPr/>
          <p:nvPr/>
        </p:nvCxnSpPr>
        <p:spPr>
          <a:xfrm>
            <a:off x="400050" y="1304925"/>
            <a:ext cx="11391900" cy="9525"/>
          </a:xfrm>
          <a:prstGeom prst="straightConnector1">
            <a:avLst/>
          </a:prstGeom>
          <a:ln w="9525">
            <a:solidFill>
              <a:srgbClr val="C9CED2"/>
            </a:solidFill>
            <a:prstDash val="solid"/>
          </a:ln>
        </p:spPr>
      </p:cxnSp>
      <p:sp>
        <p:nvSpPr>
          <p:cNvPr id="7" name="Rectangle 6">
            <a:extLst>
              <a:ext uri="{FF2B5EF4-FFF2-40B4-BE49-F238E27FC236}">
                <a16:creationId xmlns:a16="http://schemas.microsoft.com/office/drawing/2014/main" id="{75F1B98E-6436-5CA0-31C9-5F5B18D49F05}"/>
              </a:ext>
            </a:extLst>
          </p:cNvPr>
          <p:cNvSpPr>
            <a:spLocks noGrp="1"/>
          </p:cNvSpPr>
          <p:nvPr/>
        </p:nvSpPr>
        <p:spPr>
          <a:xfrm>
            <a:off x="174624" y="3204633"/>
            <a:ext cx="3669242" cy="1231900"/>
          </a:xfrm>
          <a:prstGeom prst="rect">
            <a:avLst/>
          </a:prstGeom>
        </p:spPr>
        <p:txBody>
          <a:bodyPr wrap="square" lIns="0" tIns="0" rIns="0" bIns="0" anchor="t">
            <a:normAutofit/>
          </a:bodyPr>
          <a:lstStyle/>
          <a:p>
            <a:r>
              <a:rPr lang="en-US" sz="1100" dirty="0"/>
              <a:t>Apache Airflow automatically executes the ETL pipeline every five minutes:</a:t>
            </a:r>
          </a:p>
          <a:p>
            <a:endParaRPr lang="en-US" sz="1100" dirty="0"/>
          </a:p>
          <a:p>
            <a:pPr marL="171450" indent="-171450">
              <a:buFont typeface="Arial" panose="020B0604020202020204" pitchFamily="34" charset="0"/>
              <a:buChar char="•"/>
            </a:pPr>
            <a:r>
              <a:rPr lang="en-US" sz="1100" b="1" dirty="0"/>
              <a:t>extract </a:t>
            </a:r>
            <a:r>
              <a:rPr lang="en-US" sz="1100" dirty="0"/>
              <a:t>– fetches the latest Capital Bikeshare data.</a:t>
            </a:r>
          </a:p>
          <a:p>
            <a:pPr marL="171450" indent="-171450">
              <a:buFont typeface="Arial" panose="020B0604020202020204" pitchFamily="34" charset="0"/>
              <a:buChar char="•"/>
            </a:pPr>
            <a:r>
              <a:rPr lang="en-US" sz="1100" b="1" dirty="0"/>
              <a:t>transform</a:t>
            </a:r>
            <a:r>
              <a:rPr lang="en-US" sz="1100" dirty="0"/>
              <a:t> – cleans and validates the records.</a:t>
            </a:r>
          </a:p>
          <a:p>
            <a:pPr marL="171450" indent="-171450">
              <a:buFont typeface="Arial" panose="020B0604020202020204" pitchFamily="34" charset="0"/>
              <a:buChar char="•"/>
            </a:pPr>
            <a:r>
              <a:rPr lang="en-US" sz="1100" b="1" dirty="0"/>
              <a:t>load </a:t>
            </a:r>
            <a:r>
              <a:rPr lang="en-US" sz="1100" dirty="0"/>
              <a:t>– stores the results in PostgreSQL.</a:t>
            </a:r>
          </a:p>
        </p:txBody>
      </p:sp>
      <p:pic>
        <p:nvPicPr>
          <p:cNvPr id="4" name="Picture 3">
            <a:extLst>
              <a:ext uri="{FF2B5EF4-FFF2-40B4-BE49-F238E27FC236}">
                <a16:creationId xmlns:a16="http://schemas.microsoft.com/office/drawing/2014/main" id="{C44B5AF8-1BAF-DA21-F138-596DC02E99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35501" y="1772154"/>
            <a:ext cx="8188766" cy="4190496"/>
          </a:xfrm>
          <a:prstGeom prst="rect">
            <a:avLst/>
          </a:prstGeom>
        </p:spPr>
      </p:pic>
    </p:spTree>
    <p:extLst>
      <p:ext uri="{BB962C8B-B14F-4D97-AF65-F5344CB8AC3E}">
        <p14:creationId xmlns:p14="http://schemas.microsoft.com/office/powerpoint/2010/main" val="16233521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F0AD14-DD93-A70F-AE5F-2BFB9290F597}"/>
            </a:ext>
          </a:extLst>
        </p:cNvPr>
        <p:cNvGrpSpPr/>
        <p:nvPr/>
      </p:nvGrpSpPr>
      <p:grpSpPr>
        <a:xfrm>
          <a:off x="0" y="0"/>
          <a:ext cx="0" cy="0"/>
          <a:chOff x="0" y="0"/>
          <a:chExt cx="0" cy="0"/>
        </a:xfrm>
      </p:grpSpPr>
      <p:sp>
        <p:nvSpPr>
          <p:cNvPr id="21" name="Rectangle 20">
            <a:extLst>
              <a:ext uri="{FF2B5EF4-FFF2-40B4-BE49-F238E27FC236}">
                <a16:creationId xmlns:a16="http://schemas.microsoft.com/office/drawing/2014/main" id="{F4B70AC6-B681-5931-6C62-6AA23407A96F}"/>
              </a:ext>
            </a:extLst>
          </p:cNvPr>
          <p:cNvSpPr>
            <a:spLocks noGrp="1"/>
          </p:cNvSpPr>
          <p:nvPr/>
        </p:nvSpPr>
        <p:spPr>
          <a:xfrm>
            <a:off x="400050" y="276225"/>
            <a:ext cx="4953000" cy="209550"/>
          </a:xfrm>
          <a:prstGeom prst="rect">
            <a:avLst/>
          </a:prstGeom>
        </p:spPr>
        <p:txBody>
          <a:bodyPr wrap="square" lIns="0" tIns="0" rIns="0" bIns="0" anchor="t">
            <a:normAutofit/>
          </a:bodyPr>
          <a:lstStyle/>
          <a:p>
            <a:pPr algn="l">
              <a:defRPr sz="975" b="1">
                <a:solidFill>
                  <a:srgbClr val="D9232E"/>
                </a:solidFill>
                <a:latin typeface="Arial"/>
                <a:ea typeface="Arial"/>
                <a:cs typeface="Arial"/>
              </a:defRPr>
            </a:pPr>
            <a:r>
              <a:t>CAPITAL BIKESHARE OPERATIONS</a:t>
            </a:r>
          </a:p>
        </p:txBody>
      </p:sp>
      <p:sp>
        <p:nvSpPr>
          <p:cNvPr id="2" name="Rectangle 1">
            <a:extLst>
              <a:ext uri="{FF2B5EF4-FFF2-40B4-BE49-F238E27FC236}">
                <a16:creationId xmlns:a16="http://schemas.microsoft.com/office/drawing/2014/main" id="{D13E4512-CE41-8EA3-106C-A7302E99E888}"/>
              </a:ext>
            </a:extLst>
          </p:cNvPr>
          <p:cNvSpPr>
            <a:spLocks noGrp="1"/>
          </p:cNvSpPr>
          <p:nvPr/>
        </p:nvSpPr>
        <p:spPr>
          <a:xfrm>
            <a:off x="400050" y="581025"/>
            <a:ext cx="11391900" cy="628650"/>
          </a:xfrm>
          <a:prstGeom prst="rect">
            <a:avLst/>
          </a:prstGeom>
        </p:spPr>
        <p:txBody>
          <a:bodyPr wrap="square" lIns="0" tIns="0" rIns="0" bIns="0" anchor="t">
            <a:normAutofit/>
          </a:bodyPr>
          <a:lstStyle/>
          <a:p>
            <a:pPr>
              <a:defRPr sz="3000" b="1">
                <a:solidFill>
                  <a:srgbClr val="15191D"/>
                </a:solidFill>
                <a:latin typeface="Arial"/>
                <a:ea typeface="Arial"/>
                <a:cs typeface="Arial"/>
              </a:defRPr>
            </a:pPr>
            <a:r>
              <a:rPr lang="en-US" sz="3000" b="1" dirty="0">
                <a:solidFill>
                  <a:srgbClr val="15191D"/>
                </a:solidFill>
                <a:latin typeface="Arial"/>
              </a:rPr>
              <a:t>Airflow Implementation: Automated ETL Orchestration</a:t>
            </a:r>
            <a:r>
              <a:rPr lang="en-US" dirty="0"/>
              <a:t> </a:t>
            </a:r>
            <a:endParaRPr dirty="0"/>
          </a:p>
        </p:txBody>
      </p:sp>
      <p:cxnSp>
        <p:nvCxnSpPr>
          <p:cNvPr id="23" name="Straight Arrow Connector 22">
            <a:extLst>
              <a:ext uri="{FF2B5EF4-FFF2-40B4-BE49-F238E27FC236}">
                <a16:creationId xmlns:a16="http://schemas.microsoft.com/office/drawing/2014/main" id="{1D658554-2A06-16C1-BCC3-6D2E34F8F957}"/>
              </a:ext>
            </a:extLst>
          </p:cNvPr>
          <p:cNvCxnSpPr/>
          <p:nvPr/>
        </p:nvCxnSpPr>
        <p:spPr>
          <a:xfrm>
            <a:off x="400050" y="1304925"/>
            <a:ext cx="11391900" cy="9525"/>
          </a:xfrm>
          <a:prstGeom prst="straightConnector1">
            <a:avLst/>
          </a:prstGeom>
          <a:ln w="9525">
            <a:solidFill>
              <a:srgbClr val="C9CED2"/>
            </a:solidFill>
            <a:prstDash val="solid"/>
          </a:ln>
        </p:spPr>
      </p:cxnSp>
      <p:graphicFrame>
        <p:nvGraphicFramePr>
          <p:cNvPr id="6" name="Table 5">
            <a:extLst>
              <a:ext uri="{FF2B5EF4-FFF2-40B4-BE49-F238E27FC236}">
                <a16:creationId xmlns:a16="http://schemas.microsoft.com/office/drawing/2014/main" id="{7A198911-7A5D-3C87-E5E9-8FDACC1CAD2B}"/>
              </a:ext>
            </a:extLst>
          </p:cNvPr>
          <p:cNvGraphicFramePr>
            <a:graphicFrameLocks noGrp="1"/>
          </p:cNvGraphicFramePr>
          <p:nvPr>
            <p:extLst>
              <p:ext uri="{D42A27DB-BD31-4B8C-83A1-F6EECF244321}">
                <p14:modId xmlns:p14="http://schemas.microsoft.com/office/powerpoint/2010/main" val="920443376"/>
              </p:ext>
            </p:extLst>
          </p:nvPr>
        </p:nvGraphicFramePr>
        <p:xfrm>
          <a:off x="3039731" y="1419224"/>
          <a:ext cx="6900135" cy="5186898"/>
        </p:xfrm>
        <a:graphic>
          <a:graphicData uri="http://schemas.openxmlformats.org/drawingml/2006/table">
            <a:tbl>
              <a:tblPr>
                <a:tableStyleId>{5C22544A-7EE6-4342-B048-85BDC9FD1C3A}</a:tableStyleId>
              </a:tblPr>
              <a:tblGrid>
                <a:gridCol w="1353149">
                  <a:extLst>
                    <a:ext uri="{9D8B030D-6E8A-4147-A177-3AD203B41FA5}">
                      <a16:colId xmlns:a16="http://schemas.microsoft.com/office/drawing/2014/main" val="2886756476"/>
                    </a:ext>
                  </a:extLst>
                </a:gridCol>
                <a:gridCol w="3246941">
                  <a:extLst>
                    <a:ext uri="{9D8B030D-6E8A-4147-A177-3AD203B41FA5}">
                      <a16:colId xmlns:a16="http://schemas.microsoft.com/office/drawing/2014/main" val="1904485059"/>
                    </a:ext>
                  </a:extLst>
                </a:gridCol>
                <a:gridCol w="2300045">
                  <a:extLst>
                    <a:ext uri="{9D8B030D-6E8A-4147-A177-3AD203B41FA5}">
                      <a16:colId xmlns:a16="http://schemas.microsoft.com/office/drawing/2014/main" val="2890784741"/>
                    </a:ext>
                  </a:extLst>
                </a:gridCol>
              </a:tblGrid>
              <a:tr h="203602">
                <a:tc>
                  <a:txBody>
                    <a:bodyPr/>
                    <a:lstStyle/>
                    <a:p>
                      <a:pPr>
                        <a:buNone/>
                      </a:pPr>
                      <a:r>
                        <a:rPr lang="en-US" sz="1100" dirty="0"/>
                        <a:t>Implementation</a:t>
                      </a:r>
                    </a:p>
                  </a:txBody>
                  <a:tcPr marL="35961" marR="35961" marT="17981" marB="17981" anchor="ctr"/>
                </a:tc>
                <a:tc>
                  <a:txBody>
                    <a:bodyPr/>
                    <a:lstStyle/>
                    <a:p>
                      <a:pPr>
                        <a:buNone/>
                      </a:pPr>
                      <a:r>
                        <a:rPr lang="en-US" sz="1100"/>
                        <a:t>What was done</a:t>
                      </a:r>
                    </a:p>
                  </a:txBody>
                  <a:tcPr marL="35961" marR="35961" marT="17981" marB="17981" anchor="ctr"/>
                </a:tc>
                <a:tc>
                  <a:txBody>
                    <a:bodyPr/>
                    <a:lstStyle/>
                    <a:p>
                      <a:pPr>
                        <a:buNone/>
                      </a:pPr>
                      <a:r>
                        <a:rPr lang="en-US" sz="1100"/>
                        <a:t>Code location</a:t>
                      </a:r>
                    </a:p>
                  </a:txBody>
                  <a:tcPr marL="35961" marR="35961" marT="17981" marB="17981" anchor="ctr"/>
                </a:tc>
                <a:extLst>
                  <a:ext uri="{0D108BD9-81ED-4DB2-BD59-A6C34878D82A}">
                    <a16:rowId xmlns:a16="http://schemas.microsoft.com/office/drawing/2014/main" val="391779521"/>
                  </a:ext>
                </a:extLst>
              </a:tr>
              <a:tr h="521958">
                <a:tc>
                  <a:txBody>
                    <a:bodyPr/>
                    <a:lstStyle/>
                    <a:p>
                      <a:pPr>
                        <a:buNone/>
                      </a:pPr>
                      <a:r>
                        <a:rPr lang="en-US" sz="1100"/>
                        <a:t>DAG</a:t>
                      </a:r>
                    </a:p>
                  </a:txBody>
                  <a:tcPr marL="35961" marR="35961" marT="17981" marB="17981" anchor="ctr"/>
                </a:tc>
                <a:tc>
                  <a:txBody>
                    <a:bodyPr/>
                    <a:lstStyle/>
                    <a:p>
                      <a:pPr>
                        <a:buNone/>
                      </a:pPr>
                      <a:r>
                        <a:rPr lang="en-US" sz="1100" dirty="0"/>
                        <a:t>Created </a:t>
                      </a:r>
                      <a:r>
                        <a:rPr lang="en-US" sz="1100" dirty="0" err="1"/>
                        <a:t>capital_bikeshare_etl</a:t>
                      </a:r>
                      <a:r>
                        <a:rPr lang="en-US" sz="1100" dirty="0"/>
                        <a:t> to coordinate the complete ETL workflow.</a:t>
                      </a:r>
                    </a:p>
                  </a:txBody>
                  <a:tcPr marL="35961" marR="35961" marT="17981" marB="17981" anchor="ctr"/>
                </a:tc>
                <a:tc>
                  <a:txBody>
                    <a:bodyPr/>
                    <a:lstStyle/>
                    <a:p>
                      <a:pPr>
                        <a:buNone/>
                      </a:pPr>
                      <a:r>
                        <a:rPr lang="en-US" sz="1100"/>
                        <a:t>airflow/dags/capital_bikeshare_etl.py</a:t>
                      </a:r>
                    </a:p>
                  </a:txBody>
                  <a:tcPr marL="35961" marR="35961" marT="17981" marB="17981" anchor="ctr"/>
                </a:tc>
                <a:extLst>
                  <a:ext uri="{0D108BD9-81ED-4DB2-BD59-A6C34878D82A}">
                    <a16:rowId xmlns:a16="http://schemas.microsoft.com/office/drawing/2014/main" val="2527023835"/>
                  </a:ext>
                </a:extLst>
              </a:tr>
              <a:tr h="371242">
                <a:tc>
                  <a:txBody>
                    <a:bodyPr/>
                    <a:lstStyle/>
                    <a:p>
                      <a:pPr>
                        <a:buNone/>
                      </a:pPr>
                      <a:r>
                        <a:rPr lang="en-US" sz="1100"/>
                        <a:t>Scheduling</a:t>
                      </a:r>
                    </a:p>
                  </a:txBody>
                  <a:tcPr marL="35961" marR="35961" marT="17981" marB="17981" anchor="ctr"/>
                </a:tc>
                <a:tc>
                  <a:txBody>
                    <a:bodyPr/>
                    <a:lstStyle/>
                    <a:p>
                      <a:pPr>
                        <a:buNone/>
                      </a:pPr>
                      <a:r>
                        <a:rPr lang="en-US" sz="1100"/>
                        <a:t>Configured automatic execution every five minutes.</a:t>
                      </a:r>
                    </a:p>
                  </a:txBody>
                  <a:tcPr marL="35961" marR="35961" marT="17981" marB="17981" anchor="ctr"/>
                </a:tc>
                <a:tc>
                  <a:txBody>
                    <a:bodyPr/>
                    <a:lstStyle/>
                    <a:p>
                      <a:pPr>
                        <a:buNone/>
                      </a:pPr>
                      <a:r>
                        <a:rPr lang="en-US" sz="1100"/>
                        <a:t>airflow/dags/capital_bikeshare_etl.py</a:t>
                      </a:r>
                    </a:p>
                  </a:txBody>
                  <a:tcPr marL="35961" marR="35961" marT="17981" marB="17981" anchor="ctr"/>
                </a:tc>
                <a:extLst>
                  <a:ext uri="{0D108BD9-81ED-4DB2-BD59-A6C34878D82A}">
                    <a16:rowId xmlns:a16="http://schemas.microsoft.com/office/drawing/2014/main" val="31007080"/>
                  </a:ext>
                </a:extLst>
              </a:tr>
              <a:tr h="1005855">
                <a:tc>
                  <a:txBody>
                    <a:bodyPr/>
                    <a:lstStyle/>
                    <a:p>
                      <a:pPr>
                        <a:buNone/>
                      </a:pPr>
                      <a:r>
                        <a:rPr lang="en-US" sz="1100"/>
                        <a:t>Extract task</a:t>
                      </a:r>
                    </a:p>
                  </a:txBody>
                  <a:tcPr marL="35961" marR="35961" marT="17981" marB="17981" anchor="ctr"/>
                </a:tc>
                <a:tc>
                  <a:txBody>
                    <a:bodyPr/>
                    <a:lstStyle/>
                    <a:p>
                      <a:pPr>
                        <a:buNone/>
                      </a:pPr>
                      <a:r>
                        <a:rPr lang="en-US" sz="1100"/>
                        <a:t>Reads the Capital Bikeshare GBFS discovery API to locate current feed URLs. It downloads station_information for station metadata and station_status for live availability.</a:t>
                      </a:r>
                    </a:p>
                  </a:txBody>
                  <a:tcPr marL="35961" marR="35961" marT="17981" marB="17981" anchor="ctr"/>
                </a:tc>
                <a:tc>
                  <a:txBody>
                    <a:bodyPr/>
                    <a:lstStyle/>
                    <a:p>
                      <a:pPr>
                        <a:buNone/>
                      </a:pPr>
                      <a:r>
                        <a:rPr lang="en-US" sz="1100"/>
                        <a:t>pipeline/extract.py</a:t>
                      </a:r>
                    </a:p>
                  </a:txBody>
                  <a:tcPr marL="35961" marR="35961" marT="17981" marB="17981" anchor="ctr"/>
                </a:tc>
                <a:extLst>
                  <a:ext uri="{0D108BD9-81ED-4DB2-BD59-A6C34878D82A}">
                    <a16:rowId xmlns:a16="http://schemas.microsoft.com/office/drawing/2014/main" val="3118266171"/>
                  </a:ext>
                </a:extLst>
              </a:tr>
              <a:tr h="844556">
                <a:tc>
                  <a:txBody>
                    <a:bodyPr/>
                    <a:lstStyle/>
                    <a:p>
                      <a:pPr>
                        <a:buNone/>
                      </a:pPr>
                      <a:r>
                        <a:rPr lang="en-US" sz="1100"/>
                        <a:t>Transform task</a:t>
                      </a:r>
                    </a:p>
                  </a:txBody>
                  <a:tcPr marL="35961" marR="35961" marT="17981" marB="17981" anchor="ctr"/>
                </a:tc>
                <a:tc>
                  <a:txBody>
                    <a:bodyPr/>
                    <a:lstStyle/>
                    <a:p>
                      <a:pPr>
                        <a:buNone/>
                      </a:pPr>
                      <a:r>
                        <a:rPr lang="en-US" sz="1100"/>
                        <a:t>Normalizes timestamps, text, booleans, coordinates, and availability counts. It validates records and joins both feeds using station_id.</a:t>
                      </a:r>
                    </a:p>
                  </a:txBody>
                  <a:tcPr marL="35961" marR="35961" marT="17981" marB="17981" anchor="ctr"/>
                </a:tc>
                <a:tc>
                  <a:txBody>
                    <a:bodyPr/>
                    <a:lstStyle/>
                    <a:p>
                      <a:pPr>
                        <a:buNone/>
                      </a:pPr>
                      <a:r>
                        <a:rPr lang="en-US" sz="1100"/>
                        <a:t>pipeline/transform.py</a:t>
                      </a:r>
                    </a:p>
                  </a:txBody>
                  <a:tcPr marL="35961" marR="35961" marT="17981" marB="17981" anchor="ctr"/>
                </a:tc>
                <a:extLst>
                  <a:ext uri="{0D108BD9-81ED-4DB2-BD59-A6C34878D82A}">
                    <a16:rowId xmlns:a16="http://schemas.microsoft.com/office/drawing/2014/main" val="1335042524"/>
                  </a:ext>
                </a:extLst>
              </a:tr>
              <a:tr h="1005855">
                <a:tc>
                  <a:txBody>
                    <a:bodyPr/>
                    <a:lstStyle/>
                    <a:p>
                      <a:pPr>
                        <a:buNone/>
                      </a:pPr>
                      <a:r>
                        <a:rPr lang="en-US" sz="1100"/>
                        <a:t>Load task</a:t>
                      </a:r>
                    </a:p>
                  </a:txBody>
                  <a:tcPr marL="35961" marR="35961" marT="17981" marB="17981" anchor="ctr"/>
                </a:tc>
                <a:tc>
                  <a:txBody>
                    <a:bodyPr/>
                    <a:lstStyle/>
                    <a:p>
                      <a:pPr>
                        <a:buNone/>
                      </a:pPr>
                      <a:r>
                        <a:rPr lang="en-US" sz="1100"/>
                        <a:t>Uses Psycopg and a PostgreSQL transaction to store raw responses, update station metadata, and append new status observations without duplicates.</a:t>
                      </a:r>
                    </a:p>
                  </a:txBody>
                  <a:tcPr marL="35961" marR="35961" marT="17981" marB="17981" anchor="ctr"/>
                </a:tc>
                <a:tc>
                  <a:txBody>
                    <a:bodyPr/>
                    <a:lstStyle/>
                    <a:p>
                      <a:pPr>
                        <a:buNone/>
                      </a:pPr>
                      <a:r>
                        <a:rPr lang="en-US" sz="1100"/>
                        <a:t>pipeline/load.py</a:t>
                      </a:r>
                    </a:p>
                  </a:txBody>
                  <a:tcPr marL="35961" marR="35961" marT="17981" marB="17981" anchor="ctr"/>
                </a:tc>
                <a:extLst>
                  <a:ext uri="{0D108BD9-81ED-4DB2-BD59-A6C34878D82A}">
                    <a16:rowId xmlns:a16="http://schemas.microsoft.com/office/drawing/2014/main" val="1494177737"/>
                  </a:ext>
                </a:extLst>
              </a:tr>
              <a:tr h="683257">
                <a:tc>
                  <a:txBody>
                    <a:bodyPr/>
                    <a:lstStyle/>
                    <a:p>
                      <a:pPr>
                        <a:buNone/>
                      </a:pPr>
                      <a:r>
                        <a:rPr lang="en-US" sz="1100"/>
                        <a:t>Data exchange</a:t>
                      </a:r>
                    </a:p>
                  </a:txBody>
                  <a:tcPr marL="35961" marR="35961" marT="17981" marB="17981" anchor="ctr"/>
                </a:tc>
                <a:tc>
                  <a:txBody>
                    <a:bodyPr/>
                    <a:lstStyle/>
                    <a:p>
                      <a:pPr>
                        <a:buNone/>
                      </a:pPr>
                      <a:r>
                        <a:rPr lang="en-US" sz="1100"/>
                        <a:t>Saves temporary JSON artifacts and passes their file paths between Airflow tasks through XCom.</a:t>
                      </a:r>
                    </a:p>
                  </a:txBody>
                  <a:tcPr marL="35961" marR="35961" marT="17981" marB="17981" anchor="ctr"/>
                </a:tc>
                <a:tc>
                  <a:txBody>
                    <a:bodyPr/>
                    <a:lstStyle/>
                    <a:p>
                      <a:pPr>
                        <a:buNone/>
                      </a:pPr>
                      <a:r>
                        <a:rPr lang="en-US" sz="1100"/>
                        <a:t>pipeline/artifacts.py and the Airflow DAG</a:t>
                      </a:r>
                    </a:p>
                  </a:txBody>
                  <a:tcPr marL="35961" marR="35961" marT="17981" marB="17981" anchor="ctr"/>
                </a:tc>
                <a:extLst>
                  <a:ext uri="{0D108BD9-81ED-4DB2-BD59-A6C34878D82A}">
                    <a16:rowId xmlns:a16="http://schemas.microsoft.com/office/drawing/2014/main" val="4138730093"/>
                  </a:ext>
                </a:extLst>
              </a:tr>
              <a:tr h="550573">
                <a:tc>
                  <a:txBody>
                    <a:bodyPr/>
                    <a:lstStyle/>
                    <a:p>
                      <a:pPr>
                        <a:buNone/>
                      </a:pPr>
                      <a:r>
                        <a:rPr lang="en-US" sz="1100"/>
                        <a:t>Reliability</a:t>
                      </a:r>
                    </a:p>
                  </a:txBody>
                  <a:tcPr marL="35961" marR="35961" marT="17981" marB="17981" anchor="ctr"/>
                </a:tc>
                <a:tc>
                  <a:txBody>
                    <a:bodyPr/>
                    <a:lstStyle/>
                    <a:p>
                      <a:pPr>
                        <a:buNone/>
                      </a:pPr>
                      <a:r>
                        <a:rPr lang="en-US" sz="1100"/>
                        <a:t>Uses two retries, a 30-second retry delay, no historical catch-up, and one active run at a time.</a:t>
                      </a:r>
                    </a:p>
                  </a:txBody>
                  <a:tcPr marL="35961" marR="35961" marT="17981" marB="17981" anchor="ctr"/>
                </a:tc>
                <a:tc>
                  <a:txBody>
                    <a:bodyPr/>
                    <a:lstStyle/>
                    <a:p>
                      <a:pPr>
                        <a:buNone/>
                      </a:pPr>
                      <a:r>
                        <a:rPr lang="en-US" sz="1100" dirty="0"/>
                        <a:t>airflow/dags/capital_bikeshare_etl.py</a:t>
                      </a:r>
                    </a:p>
                  </a:txBody>
                  <a:tcPr marL="35961" marR="35961" marT="17981" marB="17981" anchor="ctr"/>
                </a:tc>
                <a:extLst>
                  <a:ext uri="{0D108BD9-81ED-4DB2-BD59-A6C34878D82A}">
                    <a16:rowId xmlns:a16="http://schemas.microsoft.com/office/drawing/2014/main" val="27288634"/>
                  </a:ext>
                </a:extLst>
              </a:tr>
            </a:tbl>
          </a:graphicData>
        </a:graphic>
      </p:graphicFrame>
    </p:spTree>
    <p:extLst>
      <p:ext uri="{BB962C8B-B14F-4D97-AF65-F5344CB8AC3E}">
        <p14:creationId xmlns:p14="http://schemas.microsoft.com/office/powerpoint/2010/main" val="8105821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287D04-6CD9-A964-AD4D-40CA6F157E7E}"/>
            </a:ext>
          </a:extLst>
        </p:cNvPr>
        <p:cNvGrpSpPr/>
        <p:nvPr/>
      </p:nvGrpSpPr>
      <p:grpSpPr>
        <a:xfrm>
          <a:off x="0" y="0"/>
          <a:ext cx="0" cy="0"/>
          <a:chOff x="0" y="0"/>
          <a:chExt cx="0" cy="0"/>
        </a:xfrm>
      </p:grpSpPr>
      <p:sp>
        <p:nvSpPr>
          <p:cNvPr id="21" name="Rectangle 20">
            <a:extLst>
              <a:ext uri="{FF2B5EF4-FFF2-40B4-BE49-F238E27FC236}">
                <a16:creationId xmlns:a16="http://schemas.microsoft.com/office/drawing/2014/main" id="{9DD936DF-D511-C3B8-5929-82B333B5D261}"/>
              </a:ext>
            </a:extLst>
          </p:cNvPr>
          <p:cNvSpPr>
            <a:spLocks noGrp="1"/>
          </p:cNvSpPr>
          <p:nvPr/>
        </p:nvSpPr>
        <p:spPr>
          <a:xfrm>
            <a:off x="400050" y="276225"/>
            <a:ext cx="4953000" cy="209550"/>
          </a:xfrm>
          <a:prstGeom prst="rect">
            <a:avLst/>
          </a:prstGeom>
        </p:spPr>
        <p:txBody>
          <a:bodyPr wrap="square" lIns="0" tIns="0" rIns="0" bIns="0" anchor="t">
            <a:normAutofit/>
          </a:bodyPr>
          <a:lstStyle/>
          <a:p>
            <a:pPr algn="l">
              <a:defRPr sz="975" b="1">
                <a:solidFill>
                  <a:srgbClr val="D9232E"/>
                </a:solidFill>
                <a:latin typeface="Arial"/>
                <a:ea typeface="Arial"/>
                <a:cs typeface="Arial"/>
              </a:defRPr>
            </a:pPr>
            <a:r>
              <a:t>CAPITAL BIKESHARE OPERATIONS</a:t>
            </a:r>
          </a:p>
        </p:txBody>
      </p:sp>
      <p:sp>
        <p:nvSpPr>
          <p:cNvPr id="2" name="Rectangle 1">
            <a:extLst>
              <a:ext uri="{FF2B5EF4-FFF2-40B4-BE49-F238E27FC236}">
                <a16:creationId xmlns:a16="http://schemas.microsoft.com/office/drawing/2014/main" id="{1A12BDF5-05FD-F4FB-E076-3235E3498724}"/>
              </a:ext>
            </a:extLst>
          </p:cNvPr>
          <p:cNvSpPr>
            <a:spLocks noGrp="1"/>
          </p:cNvSpPr>
          <p:nvPr/>
        </p:nvSpPr>
        <p:spPr>
          <a:xfrm>
            <a:off x="400050" y="581025"/>
            <a:ext cx="11391900" cy="628650"/>
          </a:xfrm>
          <a:prstGeom prst="rect">
            <a:avLst/>
          </a:prstGeom>
        </p:spPr>
        <p:txBody>
          <a:bodyPr wrap="square" lIns="0" tIns="0" rIns="0" bIns="0" anchor="t">
            <a:normAutofit/>
          </a:bodyPr>
          <a:lstStyle/>
          <a:p>
            <a:pPr algn="l">
              <a:defRPr sz="3000" b="1">
                <a:solidFill>
                  <a:srgbClr val="15191D"/>
                </a:solidFill>
                <a:latin typeface="Arial"/>
                <a:ea typeface="Arial"/>
                <a:cs typeface="Arial"/>
              </a:defRPr>
            </a:pPr>
            <a:r>
              <a:rPr lang="en-US" dirty="0"/>
              <a:t>PostgreSQL </a:t>
            </a:r>
            <a:endParaRPr dirty="0"/>
          </a:p>
        </p:txBody>
      </p:sp>
      <p:cxnSp>
        <p:nvCxnSpPr>
          <p:cNvPr id="23" name="Straight Arrow Connector 22">
            <a:extLst>
              <a:ext uri="{FF2B5EF4-FFF2-40B4-BE49-F238E27FC236}">
                <a16:creationId xmlns:a16="http://schemas.microsoft.com/office/drawing/2014/main" id="{701F63C5-42E4-28C9-4055-77EAA8DE539C}"/>
              </a:ext>
            </a:extLst>
          </p:cNvPr>
          <p:cNvCxnSpPr/>
          <p:nvPr/>
        </p:nvCxnSpPr>
        <p:spPr>
          <a:xfrm>
            <a:off x="400050" y="1304925"/>
            <a:ext cx="11391900" cy="9525"/>
          </a:xfrm>
          <a:prstGeom prst="straightConnector1">
            <a:avLst/>
          </a:prstGeom>
          <a:ln w="9525">
            <a:solidFill>
              <a:srgbClr val="C9CED2"/>
            </a:solidFill>
            <a:prstDash val="solid"/>
          </a:ln>
        </p:spPr>
      </p:cxnSp>
      <p:pic>
        <p:nvPicPr>
          <p:cNvPr id="6" name="Picture 5">
            <a:extLst>
              <a:ext uri="{FF2B5EF4-FFF2-40B4-BE49-F238E27FC236}">
                <a16:creationId xmlns:a16="http://schemas.microsoft.com/office/drawing/2014/main" id="{8DE14099-BCED-9C9B-9C53-0FD10A60DA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6000" y="1314450"/>
            <a:ext cx="9304867" cy="5523703"/>
          </a:xfrm>
          <a:prstGeom prst="rect">
            <a:avLst/>
          </a:prstGeom>
        </p:spPr>
      </p:pic>
    </p:spTree>
    <p:extLst>
      <p:ext uri="{BB962C8B-B14F-4D97-AF65-F5344CB8AC3E}">
        <p14:creationId xmlns:p14="http://schemas.microsoft.com/office/powerpoint/2010/main" val="36423258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C06F0-A8E0-0AA5-E01B-F6F49BD05052}"/>
            </a:ext>
          </a:extLst>
        </p:cNvPr>
        <p:cNvGrpSpPr/>
        <p:nvPr/>
      </p:nvGrpSpPr>
      <p:grpSpPr>
        <a:xfrm>
          <a:off x="0" y="0"/>
          <a:ext cx="0" cy="0"/>
          <a:chOff x="0" y="0"/>
          <a:chExt cx="0" cy="0"/>
        </a:xfrm>
      </p:grpSpPr>
      <p:sp>
        <p:nvSpPr>
          <p:cNvPr id="21" name="Rectangle 20">
            <a:extLst>
              <a:ext uri="{FF2B5EF4-FFF2-40B4-BE49-F238E27FC236}">
                <a16:creationId xmlns:a16="http://schemas.microsoft.com/office/drawing/2014/main" id="{3F5034B5-8671-B009-536F-AEB731145F7B}"/>
              </a:ext>
            </a:extLst>
          </p:cNvPr>
          <p:cNvSpPr>
            <a:spLocks noGrp="1"/>
          </p:cNvSpPr>
          <p:nvPr/>
        </p:nvSpPr>
        <p:spPr>
          <a:xfrm>
            <a:off x="400050" y="276225"/>
            <a:ext cx="4953000" cy="209550"/>
          </a:xfrm>
          <a:prstGeom prst="rect">
            <a:avLst/>
          </a:prstGeom>
        </p:spPr>
        <p:txBody>
          <a:bodyPr wrap="square" lIns="0" tIns="0" rIns="0" bIns="0" anchor="t">
            <a:normAutofit/>
          </a:bodyPr>
          <a:lstStyle/>
          <a:p>
            <a:pPr algn="l">
              <a:defRPr sz="975" b="1">
                <a:solidFill>
                  <a:srgbClr val="D9232E"/>
                </a:solidFill>
                <a:latin typeface="Arial"/>
                <a:ea typeface="Arial"/>
                <a:cs typeface="Arial"/>
              </a:defRPr>
            </a:pPr>
            <a:r>
              <a:t>CAPITAL BIKESHARE OPERATIONS</a:t>
            </a:r>
          </a:p>
        </p:txBody>
      </p:sp>
      <p:sp>
        <p:nvSpPr>
          <p:cNvPr id="2" name="Rectangle 1">
            <a:extLst>
              <a:ext uri="{FF2B5EF4-FFF2-40B4-BE49-F238E27FC236}">
                <a16:creationId xmlns:a16="http://schemas.microsoft.com/office/drawing/2014/main" id="{94B57C39-A125-533B-375D-2DAB2F4567D2}"/>
              </a:ext>
            </a:extLst>
          </p:cNvPr>
          <p:cNvSpPr>
            <a:spLocks noGrp="1"/>
          </p:cNvSpPr>
          <p:nvPr/>
        </p:nvSpPr>
        <p:spPr>
          <a:xfrm>
            <a:off x="400050" y="581025"/>
            <a:ext cx="11391900" cy="628650"/>
          </a:xfrm>
          <a:prstGeom prst="rect">
            <a:avLst/>
          </a:prstGeom>
        </p:spPr>
        <p:txBody>
          <a:bodyPr wrap="square" lIns="0" tIns="0" rIns="0" bIns="0" anchor="t">
            <a:normAutofit/>
          </a:bodyPr>
          <a:lstStyle/>
          <a:p>
            <a:pPr>
              <a:defRPr sz="3000" b="1">
                <a:solidFill>
                  <a:srgbClr val="15191D"/>
                </a:solidFill>
                <a:latin typeface="Arial"/>
                <a:ea typeface="Arial"/>
                <a:cs typeface="Arial"/>
              </a:defRPr>
            </a:pPr>
            <a:r>
              <a:rPr lang="en-US" sz="3000" b="1" dirty="0">
                <a:solidFill>
                  <a:srgbClr val="15191D"/>
                </a:solidFill>
                <a:latin typeface="Arial"/>
              </a:rPr>
              <a:t>PostgreSQL Tables and Attributes</a:t>
            </a:r>
            <a:r>
              <a:rPr lang="en-US" dirty="0"/>
              <a:t> </a:t>
            </a:r>
            <a:endParaRPr dirty="0"/>
          </a:p>
        </p:txBody>
      </p:sp>
      <p:cxnSp>
        <p:nvCxnSpPr>
          <p:cNvPr id="23" name="Straight Arrow Connector 22">
            <a:extLst>
              <a:ext uri="{FF2B5EF4-FFF2-40B4-BE49-F238E27FC236}">
                <a16:creationId xmlns:a16="http://schemas.microsoft.com/office/drawing/2014/main" id="{BEC492DD-C54B-C0E8-154B-E31D1342BB63}"/>
              </a:ext>
            </a:extLst>
          </p:cNvPr>
          <p:cNvCxnSpPr/>
          <p:nvPr/>
        </p:nvCxnSpPr>
        <p:spPr>
          <a:xfrm>
            <a:off x="400050" y="1304925"/>
            <a:ext cx="11391900" cy="9525"/>
          </a:xfrm>
          <a:prstGeom prst="straightConnector1">
            <a:avLst/>
          </a:prstGeom>
          <a:ln w="9525">
            <a:solidFill>
              <a:srgbClr val="C9CED2"/>
            </a:solidFill>
            <a:prstDash val="solid"/>
          </a:ln>
        </p:spPr>
      </p:cxnSp>
      <p:graphicFrame>
        <p:nvGraphicFramePr>
          <p:cNvPr id="3" name="Table 2">
            <a:extLst>
              <a:ext uri="{FF2B5EF4-FFF2-40B4-BE49-F238E27FC236}">
                <a16:creationId xmlns:a16="http://schemas.microsoft.com/office/drawing/2014/main" id="{D72A2C61-9CFF-718A-5B85-F0EE501F4E9F}"/>
              </a:ext>
            </a:extLst>
          </p:cNvPr>
          <p:cNvGraphicFramePr>
            <a:graphicFrameLocks noGrp="1"/>
          </p:cNvGraphicFramePr>
          <p:nvPr>
            <p:extLst>
              <p:ext uri="{D42A27DB-BD31-4B8C-83A1-F6EECF244321}">
                <p14:modId xmlns:p14="http://schemas.microsoft.com/office/powerpoint/2010/main" val="2543007"/>
              </p:ext>
            </p:extLst>
          </p:nvPr>
        </p:nvGraphicFramePr>
        <p:xfrm>
          <a:off x="2466372" y="1542060"/>
          <a:ext cx="7259256" cy="4968805"/>
        </p:xfrm>
        <a:graphic>
          <a:graphicData uri="http://schemas.openxmlformats.org/drawingml/2006/table">
            <a:tbl>
              <a:tblPr>
                <a:tableStyleId>{5C22544A-7EE6-4342-B048-85BDC9FD1C3A}</a:tableStyleId>
              </a:tblPr>
              <a:tblGrid>
                <a:gridCol w="2419752">
                  <a:extLst>
                    <a:ext uri="{9D8B030D-6E8A-4147-A177-3AD203B41FA5}">
                      <a16:colId xmlns:a16="http://schemas.microsoft.com/office/drawing/2014/main" val="3088779863"/>
                    </a:ext>
                  </a:extLst>
                </a:gridCol>
                <a:gridCol w="2419752">
                  <a:extLst>
                    <a:ext uri="{9D8B030D-6E8A-4147-A177-3AD203B41FA5}">
                      <a16:colId xmlns:a16="http://schemas.microsoft.com/office/drawing/2014/main" val="885618328"/>
                    </a:ext>
                  </a:extLst>
                </a:gridCol>
                <a:gridCol w="2419752">
                  <a:extLst>
                    <a:ext uri="{9D8B030D-6E8A-4147-A177-3AD203B41FA5}">
                      <a16:colId xmlns:a16="http://schemas.microsoft.com/office/drawing/2014/main" val="2885627469"/>
                    </a:ext>
                  </a:extLst>
                </a:gridCol>
              </a:tblGrid>
              <a:tr h="253279">
                <a:tc>
                  <a:txBody>
                    <a:bodyPr/>
                    <a:lstStyle/>
                    <a:p>
                      <a:pPr>
                        <a:buNone/>
                      </a:pPr>
                      <a:r>
                        <a:rPr lang="en-US" sz="1100"/>
                        <a:t>Table</a:t>
                      </a:r>
                    </a:p>
                  </a:txBody>
                  <a:tcPr marL="54392" marR="54392" marT="27196" marB="27196" anchor="ctr"/>
                </a:tc>
                <a:tc>
                  <a:txBody>
                    <a:bodyPr/>
                    <a:lstStyle/>
                    <a:p>
                      <a:pPr>
                        <a:buNone/>
                      </a:pPr>
                      <a:r>
                        <a:rPr lang="en-US" sz="1100"/>
                        <a:t>Main attributes</a:t>
                      </a:r>
                    </a:p>
                  </a:txBody>
                  <a:tcPr marL="54392" marR="54392" marT="27196" marB="27196" anchor="ctr"/>
                </a:tc>
                <a:tc>
                  <a:txBody>
                    <a:bodyPr/>
                    <a:lstStyle/>
                    <a:p>
                      <a:pPr>
                        <a:buNone/>
                      </a:pPr>
                      <a:r>
                        <a:rPr lang="en-US" sz="1100"/>
                        <a:t>Why they are stored</a:t>
                      </a:r>
                    </a:p>
                  </a:txBody>
                  <a:tcPr marL="54392" marR="54392" marT="27196" marB="27196" anchor="ctr"/>
                </a:tc>
                <a:extLst>
                  <a:ext uri="{0D108BD9-81ED-4DB2-BD59-A6C34878D82A}">
                    <a16:rowId xmlns:a16="http://schemas.microsoft.com/office/drawing/2014/main" val="2276205697"/>
                  </a:ext>
                </a:extLst>
              </a:tr>
              <a:tr h="806603">
                <a:tc>
                  <a:txBody>
                    <a:bodyPr/>
                    <a:lstStyle/>
                    <a:p>
                      <a:pPr>
                        <a:buNone/>
                      </a:pPr>
                      <a:r>
                        <a:rPr lang="en-US" sz="1100"/>
                        <a:t>gbfs_raw_data</a:t>
                      </a:r>
                    </a:p>
                  </a:txBody>
                  <a:tcPr marL="54392" marR="54392" marT="27196" marB="27196" anchor="ctr"/>
                </a:tc>
                <a:tc>
                  <a:txBody>
                    <a:bodyPr/>
                    <a:lstStyle/>
                    <a:p>
                      <a:pPr>
                        <a:buNone/>
                      </a:pPr>
                      <a:r>
                        <a:rPr lang="en-US" sz="1100"/>
                        <a:t>id, feed_name, gbfs_version, source_last_updated, fetched_at, payload</a:t>
                      </a:r>
                    </a:p>
                  </a:txBody>
                  <a:tcPr marL="54392" marR="54392" marT="27196" marB="27196" anchor="ctr"/>
                </a:tc>
                <a:tc>
                  <a:txBody>
                    <a:bodyPr/>
                    <a:lstStyle/>
                    <a:p>
                      <a:pPr>
                        <a:buNone/>
                      </a:pPr>
                      <a:r>
                        <a:rPr lang="en-US" sz="1100"/>
                        <a:t>Preserves original API responses for auditing, troubleshooting, and replaying transformations.</a:t>
                      </a:r>
                    </a:p>
                  </a:txBody>
                  <a:tcPr marL="54392" marR="54392" marT="27196" marB="27196" anchor="ctr"/>
                </a:tc>
                <a:extLst>
                  <a:ext uri="{0D108BD9-81ED-4DB2-BD59-A6C34878D82A}">
                    <a16:rowId xmlns:a16="http://schemas.microsoft.com/office/drawing/2014/main" val="1545860352"/>
                  </a:ext>
                </a:extLst>
              </a:tr>
              <a:tr h="806603">
                <a:tc>
                  <a:txBody>
                    <a:bodyPr/>
                    <a:lstStyle/>
                    <a:p>
                      <a:pPr>
                        <a:buNone/>
                      </a:pPr>
                      <a:r>
                        <a:rPr lang="en-US" sz="1100"/>
                        <a:t>stations</a:t>
                      </a:r>
                    </a:p>
                  </a:txBody>
                  <a:tcPr marL="54392" marR="54392" marT="27196" marB="27196" anchor="ctr"/>
                </a:tc>
                <a:tc>
                  <a:txBody>
                    <a:bodyPr/>
                    <a:lstStyle/>
                    <a:p>
                      <a:pPr>
                        <a:buNone/>
                      </a:pPr>
                      <a:r>
                        <a:rPr lang="en-US" sz="1100"/>
                        <a:t>station_id, name, short_name, latitude, longitude, capacity, source_last_updated</a:t>
                      </a:r>
                    </a:p>
                  </a:txBody>
                  <a:tcPr marL="54392" marR="54392" marT="27196" marB="27196" anchor="ctr"/>
                </a:tc>
                <a:tc>
                  <a:txBody>
                    <a:bodyPr/>
                    <a:lstStyle/>
                    <a:p>
                      <a:pPr>
                        <a:buNone/>
                      </a:pPr>
                      <a:r>
                        <a:rPr lang="en-US" sz="1100"/>
                        <a:t>Stores the latest descriptive information for each station and provides coordinates for the map.</a:t>
                      </a:r>
                    </a:p>
                  </a:txBody>
                  <a:tcPr marL="54392" marR="54392" marT="27196" marB="27196" anchor="ctr"/>
                </a:tc>
                <a:extLst>
                  <a:ext uri="{0D108BD9-81ED-4DB2-BD59-A6C34878D82A}">
                    <a16:rowId xmlns:a16="http://schemas.microsoft.com/office/drawing/2014/main" val="1331441143"/>
                  </a:ext>
                </a:extLst>
              </a:tr>
              <a:tr h="1365021">
                <a:tc>
                  <a:txBody>
                    <a:bodyPr/>
                    <a:lstStyle/>
                    <a:p>
                      <a:pPr>
                        <a:buNone/>
                      </a:pPr>
                      <a:r>
                        <a:rPr lang="en-US" sz="1100"/>
                        <a:t>station_status_history</a:t>
                      </a:r>
                    </a:p>
                  </a:txBody>
                  <a:tcPr marL="54392" marR="54392" marT="27196" marB="27196" anchor="ctr"/>
                </a:tc>
                <a:tc>
                  <a:txBody>
                    <a:bodyPr/>
                    <a:lstStyle/>
                    <a:p>
                      <a:pPr>
                        <a:buNone/>
                      </a:pPr>
                      <a:r>
                        <a:rPr lang="en-US" sz="1100"/>
                        <a:t>station_id, reported_at, bikes_available, bikes_disabled, docks_available, docks_disabled, is_installed, is_renting, is_returning</a:t>
                      </a:r>
                    </a:p>
                  </a:txBody>
                  <a:tcPr marL="54392" marR="54392" marT="27196" marB="27196" anchor="ctr"/>
                </a:tc>
                <a:tc>
                  <a:txBody>
                    <a:bodyPr/>
                    <a:lstStyle/>
                    <a:p>
                      <a:pPr>
                        <a:buNone/>
                      </a:pPr>
                      <a:r>
                        <a:rPr lang="en-US" sz="1100"/>
                        <a:t>Records changing availability over time for trend analysis and depletion prediction.</a:t>
                      </a:r>
                    </a:p>
                  </a:txBody>
                  <a:tcPr marL="54392" marR="54392" marT="27196" marB="27196" anchor="ctr"/>
                </a:tc>
                <a:extLst>
                  <a:ext uri="{0D108BD9-81ED-4DB2-BD59-A6C34878D82A}">
                    <a16:rowId xmlns:a16="http://schemas.microsoft.com/office/drawing/2014/main" val="2311727869"/>
                  </a:ext>
                </a:extLst>
              </a:tr>
              <a:tr h="1737299">
                <a:tc>
                  <a:txBody>
                    <a:bodyPr/>
                    <a:lstStyle/>
                    <a:p>
                      <a:pPr>
                        <a:buNone/>
                      </a:pPr>
                      <a:r>
                        <a:rPr lang="en-US" sz="1100"/>
                        <a:t>station_alerts</a:t>
                      </a:r>
                    </a:p>
                  </a:txBody>
                  <a:tcPr marL="54392" marR="54392" marT="27196" marB="27196" anchor="ctr"/>
                </a:tc>
                <a:tc>
                  <a:txBody>
                    <a:bodyPr/>
                    <a:lstStyle/>
                    <a:p>
                      <a:pPr>
                        <a:buNone/>
                      </a:pPr>
                      <a:r>
                        <a:rPr lang="en-US" sz="1100"/>
                        <a:t>station_id, station_name, severity, bikes_available, depletion_rate_per_minute, predicted_minutes_to_empty, reason, first_reported_at, last_reported_at, resolved_at</a:t>
                      </a:r>
                    </a:p>
                  </a:txBody>
                  <a:tcPr marL="54392" marR="54392" marT="27196" marB="27196" anchor="ctr"/>
                </a:tc>
                <a:tc>
                  <a:txBody>
                    <a:bodyPr/>
                    <a:lstStyle/>
                    <a:p>
                      <a:pPr>
                        <a:buNone/>
                      </a:pPr>
                      <a:r>
                        <a:rPr lang="en-US" sz="1100" dirty="0"/>
                        <a:t>Stores warning and critical alerts, their cause, prediction values, duration, and resolution status.</a:t>
                      </a:r>
                    </a:p>
                  </a:txBody>
                  <a:tcPr marL="54392" marR="54392" marT="27196" marB="27196" anchor="ctr"/>
                </a:tc>
                <a:extLst>
                  <a:ext uri="{0D108BD9-81ED-4DB2-BD59-A6C34878D82A}">
                    <a16:rowId xmlns:a16="http://schemas.microsoft.com/office/drawing/2014/main" val="1758663376"/>
                  </a:ext>
                </a:extLst>
              </a:tr>
            </a:tbl>
          </a:graphicData>
        </a:graphic>
      </p:graphicFrame>
    </p:spTree>
    <p:extLst>
      <p:ext uri="{BB962C8B-B14F-4D97-AF65-F5344CB8AC3E}">
        <p14:creationId xmlns:p14="http://schemas.microsoft.com/office/powerpoint/2010/main" val="14066730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EBF689-8D12-5462-865E-AA7AADF59A3D}"/>
            </a:ext>
          </a:extLst>
        </p:cNvPr>
        <p:cNvGrpSpPr/>
        <p:nvPr/>
      </p:nvGrpSpPr>
      <p:grpSpPr>
        <a:xfrm>
          <a:off x="0" y="0"/>
          <a:ext cx="0" cy="0"/>
          <a:chOff x="0" y="0"/>
          <a:chExt cx="0" cy="0"/>
        </a:xfrm>
      </p:grpSpPr>
      <p:sp>
        <p:nvSpPr>
          <p:cNvPr id="21" name="Rectangle 20">
            <a:extLst>
              <a:ext uri="{FF2B5EF4-FFF2-40B4-BE49-F238E27FC236}">
                <a16:creationId xmlns:a16="http://schemas.microsoft.com/office/drawing/2014/main" id="{20CD678A-CE8B-5F3D-76CD-F5805A21CB51}"/>
              </a:ext>
            </a:extLst>
          </p:cNvPr>
          <p:cNvSpPr>
            <a:spLocks noGrp="1"/>
          </p:cNvSpPr>
          <p:nvPr/>
        </p:nvSpPr>
        <p:spPr>
          <a:xfrm>
            <a:off x="400050" y="276225"/>
            <a:ext cx="4953000" cy="209550"/>
          </a:xfrm>
          <a:prstGeom prst="rect">
            <a:avLst/>
          </a:prstGeom>
        </p:spPr>
        <p:txBody>
          <a:bodyPr wrap="square" lIns="0" tIns="0" rIns="0" bIns="0" anchor="t">
            <a:normAutofit/>
          </a:bodyPr>
          <a:lstStyle/>
          <a:p>
            <a:pPr algn="l">
              <a:defRPr sz="975" b="1">
                <a:solidFill>
                  <a:srgbClr val="D9232E"/>
                </a:solidFill>
                <a:latin typeface="Arial"/>
                <a:ea typeface="Arial"/>
                <a:cs typeface="Arial"/>
              </a:defRPr>
            </a:pPr>
            <a:r>
              <a:t>CAPITAL BIKESHARE OPERATIONS</a:t>
            </a:r>
          </a:p>
        </p:txBody>
      </p:sp>
      <p:sp>
        <p:nvSpPr>
          <p:cNvPr id="2" name="Rectangle 1">
            <a:extLst>
              <a:ext uri="{FF2B5EF4-FFF2-40B4-BE49-F238E27FC236}">
                <a16:creationId xmlns:a16="http://schemas.microsoft.com/office/drawing/2014/main" id="{6B49A3F9-7DFF-9E4D-572C-6759A2DD21EA}"/>
              </a:ext>
            </a:extLst>
          </p:cNvPr>
          <p:cNvSpPr>
            <a:spLocks noGrp="1"/>
          </p:cNvSpPr>
          <p:nvPr/>
        </p:nvSpPr>
        <p:spPr>
          <a:xfrm>
            <a:off x="400050" y="581025"/>
            <a:ext cx="11391900" cy="628650"/>
          </a:xfrm>
          <a:prstGeom prst="rect">
            <a:avLst/>
          </a:prstGeom>
        </p:spPr>
        <p:txBody>
          <a:bodyPr wrap="square" lIns="0" tIns="0" rIns="0" bIns="0" anchor="t">
            <a:normAutofit/>
          </a:bodyPr>
          <a:lstStyle/>
          <a:p>
            <a:pPr algn="l">
              <a:defRPr sz="3000" b="1">
                <a:solidFill>
                  <a:srgbClr val="15191D"/>
                </a:solidFill>
                <a:latin typeface="Arial"/>
                <a:ea typeface="Arial"/>
                <a:cs typeface="Arial"/>
              </a:defRPr>
            </a:pPr>
            <a:r>
              <a:rPr lang="en-US" dirty="0"/>
              <a:t>Kafka </a:t>
            </a:r>
            <a:endParaRPr dirty="0"/>
          </a:p>
        </p:txBody>
      </p:sp>
      <p:cxnSp>
        <p:nvCxnSpPr>
          <p:cNvPr id="23" name="Straight Arrow Connector 22">
            <a:extLst>
              <a:ext uri="{FF2B5EF4-FFF2-40B4-BE49-F238E27FC236}">
                <a16:creationId xmlns:a16="http://schemas.microsoft.com/office/drawing/2014/main" id="{36450370-24AB-9E3E-FC3A-FB1F4D80B751}"/>
              </a:ext>
            </a:extLst>
          </p:cNvPr>
          <p:cNvCxnSpPr/>
          <p:nvPr/>
        </p:nvCxnSpPr>
        <p:spPr>
          <a:xfrm>
            <a:off x="400050" y="1304925"/>
            <a:ext cx="11391900" cy="9525"/>
          </a:xfrm>
          <a:prstGeom prst="straightConnector1">
            <a:avLst/>
          </a:prstGeom>
          <a:ln w="9525">
            <a:solidFill>
              <a:srgbClr val="C9CED2"/>
            </a:solidFill>
            <a:prstDash val="solid"/>
          </a:ln>
        </p:spPr>
      </p:cxnSp>
      <p:sp>
        <p:nvSpPr>
          <p:cNvPr id="5" name="Rectangle: Rounded Corners 4">
            <a:extLst>
              <a:ext uri="{FF2B5EF4-FFF2-40B4-BE49-F238E27FC236}">
                <a16:creationId xmlns:a16="http://schemas.microsoft.com/office/drawing/2014/main" id="{47892220-A556-A14F-D6D1-302CC649D45F}"/>
              </a:ext>
            </a:extLst>
          </p:cNvPr>
          <p:cNvSpPr>
            <a:spLocks noGrp="1"/>
          </p:cNvSpPr>
          <p:nvPr/>
        </p:nvSpPr>
        <p:spPr>
          <a:xfrm>
            <a:off x="67733" y="2244724"/>
            <a:ext cx="3776133" cy="2763305"/>
          </a:xfrm>
          <a:prstGeom prst="roundRect">
            <a:avLst>
              <a:gd name="adj" fmla="val 2797"/>
            </a:avLst>
          </a:prstGeom>
          <a:solidFill>
            <a:srgbClr val="EAF6FB"/>
          </a:solidFill>
          <a:ln w="9525">
            <a:solidFill>
              <a:srgbClr val="C9CED2"/>
            </a:solidFill>
            <a:prstDash val="solid"/>
          </a:ln>
        </p:spPr>
        <p:txBody>
          <a:bodyPr/>
          <a:lstStyle/>
          <a:p>
            <a:endParaRPr lang="en-US"/>
          </a:p>
        </p:txBody>
      </p:sp>
      <p:sp>
        <p:nvSpPr>
          <p:cNvPr id="7" name="Rectangle 6">
            <a:extLst>
              <a:ext uri="{FF2B5EF4-FFF2-40B4-BE49-F238E27FC236}">
                <a16:creationId xmlns:a16="http://schemas.microsoft.com/office/drawing/2014/main" id="{AFA4D4F0-3C41-2976-17AE-5D74CA41843C}"/>
              </a:ext>
            </a:extLst>
          </p:cNvPr>
          <p:cNvSpPr>
            <a:spLocks noGrp="1"/>
          </p:cNvSpPr>
          <p:nvPr/>
        </p:nvSpPr>
        <p:spPr>
          <a:xfrm>
            <a:off x="174624" y="3204633"/>
            <a:ext cx="3669242" cy="1231900"/>
          </a:xfrm>
          <a:prstGeom prst="rect">
            <a:avLst/>
          </a:prstGeom>
        </p:spPr>
        <p:txBody>
          <a:bodyPr wrap="square" lIns="0" tIns="0" rIns="0" bIns="0" anchor="t">
            <a:normAutofit fontScale="92500"/>
          </a:bodyPr>
          <a:lstStyle/>
          <a:p>
            <a:r>
              <a:rPr lang="en-US" sz="1100" dirty="0"/>
              <a:t>Kafka supports the real-time alerting :</a:t>
            </a:r>
          </a:p>
          <a:p>
            <a:endParaRPr lang="en-US" sz="1100" dirty="0"/>
          </a:p>
          <a:p>
            <a:pPr marL="171450" indent="-171450">
              <a:buFont typeface="Arial" panose="020B0604020202020204" pitchFamily="34" charset="0"/>
              <a:buChar char="•"/>
            </a:pPr>
            <a:r>
              <a:rPr lang="en-US" sz="1100" dirty="0"/>
              <a:t>station-producer fetches new station observations every minute.</a:t>
            </a:r>
          </a:p>
          <a:p>
            <a:pPr marL="171450" indent="-171450">
              <a:buFont typeface="Arial" panose="020B0604020202020204" pitchFamily="34" charset="0"/>
              <a:buChar char="•"/>
            </a:pPr>
            <a:r>
              <a:rPr lang="en-US" sz="1100" dirty="0"/>
              <a:t>Observations are published to the station-status Kafka topic.</a:t>
            </a:r>
          </a:p>
          <a:p>
            <a:pPr marL="171450" indent="-171450">
              <a:buFont typeface="Arial" panose="020B0604020202020204" pitchFamily="34" charset="0"/>
              <a:buChar char="•"/>
            </a:pPr>
            <a:r>
              <a:rPr lang="en-US" sz="1100" dirty="0"/>
              <a:t>alert-consumer processes the events and detects depletion risks.</a:t>
            </a:r>
          </a:p>
          <a:p>
            <a:pPr marL="171450" indent="-171450">
              <a:buFont typeface="Arial" panose="020B0604020202020204" pitchFamily="34" charset="0"/>
              <a:buChar char="•"/>
            </a:pPr>
            <a:r>
              <a:rPr lang="en-US" sz="1100" dirty="0"/>
              <a:t>Warning and critical alerts are stored in PostgreSQL and displayed on the dashboard.</a:t>
            </a:r>
          </a:p>
        </p:txBody>
      </p:sp>
      <p:pic>
        <p:nvPicPr>
          <p:cNvPr id="6" name="Picture 5">
            <a:extLst>
              <a:ext uri="{FF2B5EF4-FFF2-40B4-BE49-F238E27FC236}">
                <a16:creationId xmlns:a16="http://schemas.microsoft.com/office/drawing/2014/main" id="{9DCE8E70-63E4-EDC9-E840-55B6501AE7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01065" y="1409700"/>
            <a:ext cx="7823201" cy="4530525"/>
          </a:xfrm>
          <a:prstGeom prst="rect">
            <a:avLst/>
          </a:prstGeom>
        </p:spPr>
      </p:pic>
    </p:spTree>
    <p:extLst>
      <p:ext uri="{BB962C8B-B14F-4D97-AF65-F5344CB8AC3E}">
        <p14:creationId xmlns:p14="http://schemas.microsoft.com/office/powerpoint/2010/main" val="40661431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961D3-D39E-515B-1BF6-9DF8A0B8DBD9}"/>
            </a:ext>
          </a:extLst>
        </p:cNvPr>
        <p:cNvGrpSpPr/>
        <p:nvPr/>
      </p:nvGrpSpPr>
      <p:grpSpPr>
        <a:xfrm>
          <a:off x="0" y="0"/>
          <a:ext cx="0" cy="0"/>
          <a:chOff x="0" y="0"/>
          <a:chExt cx="0" cy="0"/>
        </a:xfrm>
      </p:grpSpPr>
      <p:sp>
        <p:nvSpPr>
          <p:cNvPr id="21" name="Rectangle 20">
            <a:extLst>
              <a:ext uri="{FF2B5EF4-FFF2-40B4-BE49-F238E27FC236}">
                <a16:creationId xmlns:a16="http://schemas.microsoft.com/office/drawing/2014/main" id="{B47D766D-4693-A90F-E5E4-895F6F4AF28D}"/>
              </a:ext>
            </a:extLst>
          </p:cNvPr>
          <p:cNvSpPr>
            <a:spLocks noGrp="1"/>
          </p:cNvSpPr>
          <p:nvPr/>
        </p:nvSpPr>
        <p:spPr>
          <a:xfrm>
            <a:off x="400050" y="276225"/>
            <a:ext cx="4953000" cy="209550"/>
          </a:xfrm>
          <a:prstGeom prst="rect">
            <a:avLst/>
          </a:prstGeom>
        </p:spPr>
        <p:txBody>
          <a:bodyPr wrap="square" lIns="0" tIns="0" rIns="0" bIns="0" anchor="t">
            <a:normAutofit/>
          </a:bodyPr>
          <a:lstStyle/>
          <a:p>
            <a:pPr algn="l">
              <a:defRPr sz="975" b="1">
                <a:solidFill>
                  <a:srgbClr val="D9232E"/>
                </a:solidFill>
                <a:latin typeface="Arial"/>
                <a:ea typeface="Arial"/>
                <a:cs typeface="Arial"/>
              </a:defRPr>
            </a:pPr>
            <a:r>
              <a:t>CAPITAL BIKESHARE OPERATIONS</a:t>
            </a:r>
          </a:p>
        </p:txBody>
      </p:sp>
      <p:sp>
        <p:nvSpPr>
          <p:cNvPr id="2" name="Rectangle 1">
            <a:extLst>
              <a:ext uri="{FF2B5EF4-FFF2-40B4-BE49-F238E27FC236}">
                <a16:creationId xmlns:a16="http://schemas.microsoft.com/office/drawing/2014/main" id="{0B09D8E6-4727-4569-FF6E-2441FFA32F87}"/>
              </a:ext>
            </a:extLst>
          </p:cNvPr>
          <p:cNvSpPr>
            <a:spLocks noGrp="1"/>
          </p:cNvSpPr>
          <p:nvPr/>
        </p:nvSpPr>
        <p:spPr>
          <a:xfrm>
            <a:off x="400050" y="581025"/>
            <a:ext cx="11391900" cy="628650"/>
          </a:xfrm>
          <a:prstGeom prst="rect">
            <a:avLst/>
          </a:prstGeom>
        </p:spPr>
        <p:txBody>
          <a:bodyPr wrap="square" lIns="0" tIns="0" rIns="0" bIns="0" anchor="t">
            <a:normAutofit/>
          </a:bodyPr>
          <a:lstStyle/>
          <a:p>
            <a:pPr>
              <a:defRPr sz="3000" b="1">
                <a:solidFill>
                  <a:srgbClr val="15191D"/>
                </a:solidFill>
                <a:latin typeface="Arial"/>
                <a:ea typeface="Arial"/>
                <a:cs typeface="Arial"/>
              </a:defRPr>
            </a:pPr>
            <a:r>
              <a:rPr lang="en-US" sz="3000" b="1" dirty="0">
                <a:solidFill>
                  <a:srgbClr val="15191D"/>
                </a:solidFill>
                <a:latin typeface="Arial"/>
              </a:rPr>
              <a:t>Kafka Implementation: Real-Time Alert Processing</a:t>
            </a:r>
            <a:r>
              <a:rPr lang="en-US" dirty="0"/>
              <a:t> </a:t>
            </a:r>
            <a:endParaRPr dirty="0"/>
          </a:p>
        </p:txBody>
      </p:sp>
      <p:cxnSp>
        <p:nvCxnSpPr>
          <p:cNvPr id="23" name="Straight Arrow Connector 22">
            <a:extLst>
              <a:ext uri="{FF2B5EF4-FFF2-40B4-BE49-F238E27FC236}">
                <a16:creationId xmlns:a16="http://schemas.microsoft.com/office/drawing/2014/main" id="{7A5D8983-929D-DD3F-4767-F8BFBEB94195}"/>
              </a:ext>
            </a:extLst>
          </p:cNvPr>
          <p:cNvCxnSpPr/>
          <p:nvPr/>
        </p:nvCxnSpPr>
        <p:spPr>
          <a:xfrm>
            <a:off x="400050" y="1304925"/>
            <a:ext cx="11391900" cy="9525"/>
          </a:xfrm>
          <a:prstGeom prst="straightConnector1">
            <a:avLst/>
          </a:prstGeom>
          <a:ln w="9525">
            <a:solidFill>
              <a:srgbClr val="C9CED2"/>
            </a:solidFill>
            <a:prstDash val="solid"/>
          </a:ln>
        </p:spPr>
      </p:cxnSp>
      <p:graphicFrame>
        <p:nvGraphicFramePr>
          <p:cNvPr id="3" name="Table 2">
            <a:extLst>
              <a:ext uri="{FF2B5EF4-FFF2-40B4-BE49-F238E27FC236}">
                <a16:creationId xmlns:a16="http://schemas.microsoft.com/office/drawing/2014/main" id="{AED74D8A-B90B-8B9E-795F-E2147BD37B0B}"/>
              </a:ext>
            </a:extLst>
          </p:cNvPr>
          <p:cNvGraphicFramePr>
            <a:graphicFrameLocks noGrp="1"/>
          </p:cNvGraphicFramePr>
          <p:nvPr>
            <p:extLst>
              <p:ext uri="{D42A27DB-BD31-4B8C-83A1-F6EECF244321}">
                <p14:modId xmlns:p14="http://schemas.microsoft.com/office/powerpoint/2010/main" val="2471682743"/>
              </p:ext>
            </p:extLst>
          </p:nvPr>
        </p:nvGraphicFramePr>
        <p:xfrm>
          <a:off x="1337733" y="1419227"/>
          <a:ext cx="8966199" cy="5196894"/>
        </p:xfrm>
        <a:graphic>
          <a:graphicData uri="http://schemas.openxmlformats.org/drawingml/2006/table">
            <a:tbl>
              <a:tblPr>
                <a:tableStyleId>{5C22544A-7EE6-4342-B048-85BDC9FD1C3A}</a:tableStyleId>
              </a:tblPr>
              <a:tblGrid>
                <a:gridCol w="1693334">
                  <a:extLst>
                    <a:ext uri="{9D8B030D-6E8A-4147-A177-3AD203B41FA5}">
                      <a16:colId xmlns:a16="http://schemas.microsoft.com/office/drawing/2014/main" val="1632147508"/>
                    </a:ext>
                  </a:extLst>
                </a:gridCol>
                <a:gridCol w="4284132">
                  <a:extLst>
                    <a:ext uri="{9D8B030D-6E8A-4147-A177-3AD203B41FA5}">
                      <a16:colId xmlns:a16="http://schemas.microsoft.com/office/drawing/2014/main" val="1009953726"/>
                    </a:ext>
                  </a:extLst>
                </a:gridCol>
                <a:gridCol w="2988733">
                  <a:extLst>
                    <a:ext uri="{9D8B030D-6E8A-4147-A177-3AD203B41FA5}">
                      <a16:colId xmlns:a16="http://schemas.microsoft.com/office/drawing/2014/main" val="455490219"/>
                    </a:ext>
                  </a:extLst>
                </a:gridCol>
              </a:tblGrid>
              <a:tr h="147229">
                <a:tc>
                  <a:txBody>
                    <a:bodyPr/>
                    <a:lstStyle/>
                    <a:p>
                      <a:pPr>
                        <a:buNone/>
                      </a:pPr>
                      <a:r>
                        <a:rPr lang="en-US" sz="1050"/>
                        <a:t>Implementation</a:t>
                      </a:r>
                    </a:p>
                  </a:txBody>
                  <a:tcPr marL="31081" marR="31081" marT="15540" marB="15540" anchor="ctr"/>
                </a:tc>
                <a:tc>
                  <a:txBody>
                    <a:bodyPr/>
                    <a:lstStyle/>
                    <a:p>
                      <a:pPr>
                        <a:buNone/>
                      </a:pPr>
                      <a:r>
                        <a:rPr lang="en-US" sz="1050"/>
                        <a:t>What was done</a:t>
                      </a:r>
                    </a:p>
                  </a:txBody>
                  <a:tcPr marL="31081" marR="31081" marT="15540" marB="15540" anchor="ctr"/>
                </a:tc>
                <a:tc>
                  <a:txBody>
                    <a:bodyPr/>
                    <a:lstStyle/>
                    <a:p>
                      <a:pPr>
                        <a:buNone/>
                      </a:pPr>
                      <a:r>
                        <a:rPr lang="en-US" sz="1050"/>
                        <a:t>Code location</a:t>
                      </a:r>
                    </a:p>
                  </a:txBody>
                  <a:tcPr marL="31081" marR="31081" marT="15540" marB="15540" anchor="ctr"/>
                </a:tc>
                <a:extLst>
                  <a:ext uri="{0D108BD9-81ED-4DB2-BD59-A6C34878D82A}">
                    <a16:rowId xmlns:a16="http://schemas.microsoft.com/office/drawing/2014/main" val="2481255386"/>
                  </a:ext>
                </a:extLst>
              </a:tr>
              <a:tr h="368073">
                <a:tc>
                  <a:txBody>
                    <a:bodyPr/>
                    <a:lstStyle/>
                    <a:p>
                      <a:pPr>
                        <a:buNone/>
                      </a:pPr>
                      <a:r>
                        <a:rPr lang="en-US" sz="1050"/>
                        <a:t>Kafka broker</a:t>
                      </a:r>
                    </a:p>
                  </a:txBody>
                  <a:tcPr marL="31081" marR="31081" marT="15540" marB="15540" anchor="ctr"/>
                </a:tc>
                <a:tc>
                  <a:txBody>
                    <a:bodyPr/>
                    <a:lstStyle/>
                    <a:p>
                      <a:pPr>
                        <a:buNone/>
                      </a:pPr>
                      <a:r>
                        <a:rPr lang="en-US" sz="1050" dirty="0"/>
                        <a:t>Configured a single Apache Kafka broker using </a:t>
                      </a:r>
                      <a:r>
                        <a:rPr lang="en-US" sz="1050" dirty="0" err="1"/>
                        <a:t>KRaft</a:t>
                      </a:r>
                      <a:r>
                        <a:rPr lang="en-US" sz="1050" dirty="0"/>
                        <a:t> mode.</a:t>
                      </a:r>
                    </a:p>
                  </a:txBody>
                  <a:tcPr marL="31081" marR="31081" marT="15540" marB="15540" anchor="ctr"/>
                </a:tc>
                <a:tc>
                  <a:txBody>
                    <a:bodyPr/>
                    <a:lstStyle/>
                    <a:p>
                      <a:pPr>
                        <a:buNone/>
                      </a:pPr>
                      <a:r>
                        <a:rPr lang="en-US" sz="1050"/>
                        <a:t>compose.yaml</a:t>
                      </a:r>
                    </a:p>
                  </a:txBody>
                  <a:tcPr marL="31081" marR="31081" marT="15540" marB="15540" anchor="ctr"/>
                </a:tc>
                <a:extLst>
                  <a:ext uri="{0D108BD9-81ED-4DB2-BD59-A6C34878D82A}">
                    <a16:rowId xmlns:a16="http://schemas.microsoft.com/office/drawing/2014/main" val="1751516521"/>
                  </a:ext>
                </a:extLst>
              </a:tr>
              <a:tr h="478495">
                <a:tc>
                  <a:txBody>
                    <a:bodyPr/>
                    <a:lstStyle/>
                    <a:p>
                      <a:pPr>
                        <a:buNone/>
                      </a:pPr>
                      <a:r>
                        <a:rPr lang="en-US" sz="1050"/>
                        <a:t>Kafka topic</a:t>
                      </a:r>
                    </a:p>
                  </a:txBody>
                  <a:tcPr marL="31081" marR="31081" marT="15540" marB="15540" anchor="ctr"/>
                </a:tc>
                <a:tc>
                  <a:txBody>
                    <a:bodyPr/>
                    <a:lstStyle/>
                    <a:p>
                      <a:pPr>
                        <a:buNone/>
                      </a:pPr>
                      <a:r>
                        <a:rPr lang="en-US" sz="1050"/>
                        <a:t>Created the station-status topic with three partitions using the one-time kafka-init container.</a:t>
                      </a:r>
                    </a:p>
                  </a:txBody>
                  <a:tcPr marL="31081" marR="31081" marT="15540" marB="15540" anchor="ctr"/>
                </a:tc>
                <a:tc>
                  <a:txBody>
                    <a:bodyPr/>
                    <a:lstStyle/>
                    <a:p>
                      <a:pPr>
                        <a:buNone/>
                      </a:pPr>
                      <a:r>
                        <a:rPr lang="en-US" sz="1050"/>
                        <a:t>compose.yaml</a:t>
                      </a:r>
                    </a:p>
                  </a:txBody>
                  <a:tcPr marL="31081" marR="31081" marT="15540" marB="15540" anchor="ctr"/>
                </a:tc>
                <a:extLst>
                  <a:ext uri="{0D108BD9-81ED-4DB2-BD59-A6C34878D82A}">
                    <a16:rowId xmlns:a16="http://schemas.microsoft.com/office/drawing/2014/main" val="459817171"/>
                  </a:ext>
                </a:extLst>
              </a:tr>
              <a:tr h="478495">
                <a:tc>
                  <a:txBody>
                    <a:bodyPr/>
                    <a:lstStyle/>
                    <a:p>
                      <a:pPr>
                        <a:buNone/>
                      </a:pPr>
                      <a:r>
                        <a:rPr lang="en-US" sz="1050"/>
                        <a:t>Station producer</a:t>
                      </a:r>
                    </a:p>
                  </a:txBody>
                  <a:tcPr marL="31081" marR="31081" marT="15540" marB="15540" anchor="ctr"/>
                </a:tc>
                <a:tc>
                  <a:txBody>
                    <a:bodyPr/>
                    <a:lstStyle/>
                    <a:p>
                      <a:pPr>
                        <a:buNone/>
                      </a:pPr>
                      <a:r>
                        <a:rPr lang="en-US" sz="1050"/>
                        <a:t>Calls the Capital Bikeshare GBFS API every 60 seconds and retrieves the latest station information and availability data.</a:t>
                      </a:r>
                    </a:p>
                  </a:txBody>
                  <a:tcPr marL="31081" marR="31081" marT="15540" marB="15540" anchor="ctr"/>
                </a:tc>
                <a:tc>
                  <a:txBody>
                    <a:bodyPr/>
                    <a:lstStyle/>
                    <a:p>
                      <a:pPr>
                        <a:buNone/>
                      </a:pPr>
                      <a:r>
                        <a:rPr lang="en-US" sz="1050"/>
                        <a:t>streaming/producer.py and pipeline/extract.py</a:t>
                      </a:r>
                    </a:p>
                  </a:txBody>
                  <a:tcPr marL="31081" marR="31081" marT="15540" marB="15540" anchor="ctr"/>
                </a:tc>
                <a:extLst>
                  <a:ext uri="{0D108BD9-81ED-4DB2-BD59-A6C34878D82A}">
                    <a16:rowId xmlns:a16="http://schemas.microsoft.com/office/drawing/2014/main" val="3710595135"/>
                  </a:ext>
                </a:extLst>
              </a:tr>
              <a:tr h="588917">
                <a:tc>
                  <a:txBody>
                    <a:bodyPr/>
                    <a:lstStyle/>
                    <a:p>
                      <a:pPr>
                        <a:buNone/>
                      </a:pPr>
                      <a:r>
                        <a:rPr lang="en-US" sz="1050"/>
                        <a:t>Event creation</a:t>
                      </a:r>
                    </a:p>
                  </a:txBody>
                  <a:tcPr marL="31081" marR="31081" marT="15540" marB="15540" anchor="ctr"/>
                </a:tc>
                <a:tc>
                  <a:txBody>
                    <a:bodyPr/>
                    <a:lstStyle/>
                    <a:p>
                      <a:pPr>
                        <a:buNone/>
                      </a:pPr>
                      <a:r>
                        <a:rPr lang="en-US" sz="1050"/>
                        <a:t>Converts each new station observation into a JSON event containing the station ID, name, timestamp, available bikes, docks, and operating status.</a:t>
                      </a:r>
                    </a:p>
                  </a:txBody>
                  <a:tcPr marL="31081" marR="31081" marT="15540" marB="15540" anchor="ctr"/>
                </a:tc>
                <a:tc>
                  <a:txBody>
                    <a:bodyPr/>
                    <a:lstStyle/>
                    <a:p>
                      <a:pPr>
                        <a:buNone/>
                      </a:pPr>
                      <a:r>
                        <a:rPr lang="en-US" sz="1050"/>
                        <a:t>streaming/producer.py</a:t>
                      </a:r>
                    </a:p>
                  </a:txBody>
                  <a:tcPr marL="31081" marR="31081" marT="15540" marB="15540" anchor="ctr"/>
                </a:tc>
                <a:extLst>
                  <a:ext uri="{0D108BD9-81ED-4DB2-BD59-A6C34878D82A}">
                    <a16:rowId xmlns:a16="http://schemas.microsoft.com/office/drawing/2014/main" val="1757299537"/>
                  </a:ext>
                </a:extLst>
              </a:tr>
              <a:tr h="478495">
                <a:tc>
                  <a:txBody>
                    <a:bodyPr/>
                    <a:lstStyle/>
                    <a:p>
                      <a:pPr>
                        <a:buNone/>
                      </a:pPr>
                      <a:r>
                        <a:rPr lang="en-US" sz="1050"/>
                        <a:t>Message key</a:t>
                      </a:r>
                    </a:p>
                  </a:txBody>
                  <a:tcPr marL="31081" marR="31081" marT="15540" marB="15540" anchor="ctr"/>
                </a:tc>
                <a:tc>
                  <a:txBody>
                    <a:bodyPr/>
                    <a:lstStyle/>
                    <a:p>
                      <a:pPr>
                        <a:buNone/>
                      </a:pPr>
                      <a:r>
                        <a:rPr lang="en-US" sz="1050"/>
                        <a:t>Uses station_id as the Kafka message key so events for the same station remain in the same partition and maintain order.</a:t>
                      </a:r>
                    </a:p>
                  </a:txBody>
                  <a:tcPr marL="31081" marR="31081" marT="15540" marB="15540" anchor="ctr"/>
                </a:tc>
                <a:tc>
                  <a:txBody>
                    <a:bodyPr/>
                    <a:lstStyle/>
                    <a:p>
                      <a:pPr>
                        <a:buNone/>
                      </a:pPr>
                      <a:r>
                        <a:rPr lang="en-US" sz="1050"/>
                        <a:t>streaming/producer.py</a:t>
                      </a:r>
                    </a:p>
                  </a:txBody>
                  <a:tcPr marL="31081" marR="31081" marT="15540" marB="15540" anchor="ctr"/>
                </a:tc>
                <a:extLst>
                  <a:ext uri="{0D108BD9-81ED-4DB2-BD59-A6C34878D82A}">
                    <a16:rowId xmlns:a16="http://schemas.microsoft.com/office/drawing/2014/main" val="155366199"/>
                  </a:ext>
                </a:extLst>
              </a:tr>
              <a:tr h="588917">
                <a:tc>
                  <a:txBody>
                    <a:bodyPr/>
                    <a:lstStyle/>
                    <a:p>
                      <a:pPr>
                        <a:buNone/>
                      </a:pPr>
                      <a:r>
                        <a:rPr lang="en-US" sz="1050"/>
                        <a:t>Duplicate filtering</a:t>
                      </a:r>
                    </a:p>
                  </a:txBody>
                  <a:tcPr marL="31081" marR="31081" marT="15540" marB="15540" anchor="ctr"/>
                </a:tc>
                <a:tc>
                  <a:txBody>
                    <a:bodyPr/>
                    <a:lstStyle/>
                    <a:p>
                      <a:pPr>
                        <a:buNone/>
                      </a:pPr>
                      <a:r>
                        <a:rPr lang="en-US" sz="1050"/>
                        <a:t>Publishes an observation only when its reported_at timestamp differs from the last observation published for that station.</a:t>
                      </a:r>
                    </a:p>
                  </a:txBody>
                  <a:tcPr marL="31081" marR="31081" marT="15540" marB="15540" anchor="ctr"/>
                </a:tc>
                <a:tc>
                  <a:txBody>
                    <a:bodyPr/>
                    <a:lstStyle/>
                    <a:p>
                      <a:pPr>
                        <a:buNone/>
                      </a:pPr>
                      <a:r>
                        <a:rPr lang="en-US" sz="1050"/>
                        <a:t>streaming/producer.py</a:t>
                      </a:r>
                    </a:p>
                  </a:txBody>
                  <a:tcPr marL="31081" marR="31081" marT="15540" marB="15540" anchor="ctr"/>
                </a:tc>
                <a:extLst>
                  <a:ext uri="{0D108BD9-81ED-4DB2-BD59-A6C34878D82A}">
                    <a16:rowId xmlns:a16="http://schemas.microsoft.com/office/drawing/2014/main" val="2983985275"/>
                  </a:ext>
                </a:extLst>
              </a:tr>
              <a:tr h="588917">
                <a:tc>
                  <a:txBody>
                    <a:bodyPr/>
                    <a:lstStyle/>
                    <a:p>
                      <a:pPr>
                        <a:buNone/>
                      </a:pPr>
                      <a:r>
                        <a:rPr lang="en-US" sz="1050"/>
                        <a:t>Alert consumer</a:t>
                      </a:r>
                    </a:p>
                  </a:txBody>
                  <a:tcPr marL="31081" marR="31081" marT="15540" marB="15540" anchor="ctr"/>
                </a:tc>
                <a:tc>
                  <a:txBody>
                    <a:bodyPr/>
                    <a:lstStyle/>
                    <a:p>
                      <a:pPr>
                        <a:buNone/>
                      </a:pPr>
                      <a:r>
                        <a:rPr lang="en-US" sz="1050"/>
                        <a:t>Subscribes to station-status using the station-depletion-alerts-v1 consumer group and processes events continuously.</a:t>
                      </a:r>
                    </a:p>
                  </a:txBody>
                  <a:tcPr marL="31081" marR="31081" marT="15540" marB="15540" anchor="ctr"/>
                </a:tc>
                <a:tc>
                  <a:txBody>
                    <a:bodyPr/>
                    <a:lstStyle/>
                    <a:p>
                      <a:pPr>
                        <a:buNone/>
                      </a:pPr>
                      <a:r>
                        <a:rPr lang="en-US" sz="1050"/>
                        <a:t>streaming/alert_consumer.py</a:t>
                      </a:r>
                    </a:p>
                  </a:txBody>
                  <a:tcPr marL="31081" marR="31081" marT="15540" marB="15540" anchor="ctr"/>
                </a:tc>
                <a:extLst>
                  <a:ext uri="{0D108BD9-81ED-4DB2-BD59-A6C34878D82A}">
                    <a16:rowId xmlns:a16="http://schemas.microsoft.com/office/drawing/2014/main" val="1047917305"/>
                  </a:ext>
                </a:extLst>
              </a:tr>
              <a:tr h="478495">
                <a:tc>
                  <a:txBody>
                    <a:bodyPr/>
                    <a:lstStyle/>
                    <a:p>
                      <a:pPr>
                        <a:buNone/>
                      </a:pPr>
                      <a:r>
                        <a:rPr lang="en-US" sz="1050"/>
                        <a:t>Alert rules</a:t>
                      </a:r>
                    </a:p>
                  </a:txBody>
                  <a:tcPr marL="31081" marR="31081" marT="15540" marB="15540" anchor="ctr"/>
                </a:tc>
                <a:tc>
                  <a:txBody>
                    <a:bodyPr/>
                    <a:lstStyle/>
                    <a:p>
                      <a:pPr>
                        <a:buNone/>
                      </a:pPr>
                      <a:r>
                        <a:rPr lang="en-US" sz="1050"/>
                        <a:t>Creates critical alerts at two bikes or five predicted minutes to empty, and warnings at five bikes or fifteen predicted minutes.</a:t>
                      </a:r>
                    </a:p>
                  </a:txBody>
                  <a:tcPr marL="31081" marR="31081" marT="15540" marB="15540" anchor="ctr"/>
                </a:tc>
                <a:tc>
                  <a:txBody>
                    <a:bodyPr/>
                    <a:lstStyle/>
                    <a:p>
                      <a:pPr>
                        <a:buNone/>
                      </a:pPr>
                      <a:r>
                        <a:rPr lang="en-US" sz="1050"/>
                        <a:t>streaming/alert_rules.py</a:t>
                      </a:r>
                    </a:p>
                  </a:txBody>
                  <a:tcPr marL="31081" marR="31081" marT="15540" marB="15540" anchor="ctr"/>
                </a:tc>
                <a:extLst>
                  <a:ext uri="{0D108BD9-81ED-4DB2-BD59-A6C34878D82A}">
                    <a16:rowId xmlns:a16="http://schemas.microsoft.com/office/drawing/2014/main" val="2349711949"/>
                  </a:ext>
                </a:extLst>
              </a:tr>
              <a:tr h="478495">
                <a:tc>
                  <a:txBody>
                    <a:bodyPr/>
                    <a:lstStyle/>
                    <a:p>
                      <a:pPr>
                        <a:buNone/>
                      </a:pPr>
                      <a:r>
                        <a:rPr lang="en-US" sz="1050"/>
                        <a:t>Alert storage</a:t>
                      </a:r>
                    </a:p>
                  </a:txBody>
                  <a:tcPr marL="31081" marR="31081" marT="15540" marB="15540" anchor="ctr"/>
                </a:tc>
                <a:tc>
                  <a:txBody>
                    <a:bodyPr/>
                    <a:lstStyle/>
                    <a:p>
                      <a:pPr>
                        <a:buNone/>
                      </a:pPr>
                      <a:r>
                        <a:rPr lang="en-US" sz="1050"/>
                        <a:t>Creates, updates, escalates, or resolves alerts in PostgreSQL. Kafka offsets are committed only after the database operation succeeds.</a:t>
                      </a:r>
                    </a:p>
                  </a:txBody>
                  <a:tcPr marL="31081" marR="31081" marT="15540" marB="15540" anchor="ctr"/>
                </a:tc>
                <a:tc>
                  <a:txBody>
                    <a:bodyPr/>
                    <a:lstStyle/>
                    <a:p>
                      <a:pPr>
                        <a:buNone/>
                      </a:pPr>
                      <a:r>
                        <a:rPr lang="en-US" sz="1050"/>
                        <a:t>streaming/alert_store.py and streaming/alert_consumer.py</a:t>
                      </a:r>
                    </a:p>
                  </a:txBody>
                  <a:tcPr marL="31081" marR="31081" marT="15540" marB="15540" anchor="ctr"/>
                </a:tc>
                <a:extLst>
                  <a:ext uri="{0D108BD9-81ED-4DB2-BD59-A6C34878D82A}">
                    <a16:rowId xmlns:a16="http://schemas.microsoft.com/office/drawing/2014/main" val="4150336313"/>
                  </a:ext>
                </a:extLst>
              </a:tr>
              <a:tr h="478495">
                <a:tc>
                  <a:txBody>
                    <a:bodyPr/>
                    <a:lstStyle/>
                    <a:p>
                      <a:pPr>
                        <a:buNone/>
                      </a:pPr>
                      <a:r>
                        <a:rPr lang="en-US" sz="1050"/>
                        <a:t>Deployment</a:t>
                      </a:r>
                    </a:p>
                  </a:txBody>
                  <a:tcPr marL="31081" marR="31081" marT="15540" marB="15540" anchor="ctr"/>
                </a:tc>
                <a:tc>
                  <a:txBody>
                    <a:bodyPr/>
                    <a:lstStyle/>
                    <a:p>
                      <a:pPr>
                        <a:buNone/>
                      </a:pPr>
                      <a:r>
                        <a:rPr lang="en-US" sz="1050"/>
                        <a:t>Packages the producer and consumer with their Python and Kafka dependencies and runs them as separate Docker services.</a:t>
                      </a:r>
                    </a:p>
                  </a:txBody>
                  <a:tcPr marL="31081" marR="31081" marT="15540" marB="15540" anchor="ctr"/>
                </a:tc>
                <a:tc>
                  <a:txBody>
                    <a:bodyPr/>
                    <a:lstStyle/>
                    <a:p>
                      <a:pPr>
                        <a:buNone/>
                      </a:pPr>
                      <a:r>
                        <a:rPr lang="en-US" sz="1050" dirty="0"/>
                        <a:t>streaming/</a:t>
                      </a:r>
                      <a:r>
                        <a:rPr lang="en-US" sz="1050" dirty="0" err="1"/>
                        <a:t>Dockerfile</a:t>
                      </a:r>
                      <a:r>
                        <a:rPr lang="en-US" sz="1050" dirty="0"/>
                        <a:t>, streaming/requirements.txt, and </a:t>
                      </a:r>
                      <a:r>
                        <a:rPr lang="en-US" sz="1050" dirty="0" err="1"/>
                        <a:t>compose.yaml</a:t>
                      </a:r>
                      <a:endParaRPr lang="en-US" sz="1050" dirty="0"/>
                    </a:p>
                  </a:txBody>
                  <a:tcPr marL="31081" marR="31081" marT="15540" marB="15540" anchor="ctr"/>
                </a:tc>
                <a:extLst>
                  <a:ext uri="{0D108BD9-81ED-4DB2-BD59-A6C34878D82A}">
                    <a16:rowId xmlns:a16="http://schemas.microsoft.com/office/drawing/2014/main" val="3687884870"/>
                  </a:ext>
                </a:extLst>
              </a:tr>
            </a:tbl>
          </a:graphicData>
        </a:graphic>
      </p:graphicFrame>
    </p:spTree>
    <p:extLst>
      <p:ext uri="{BB962C8B-B14F-4D97-AF65-F5344CB8AC3E}">
        <p14:creationId xmlns:p14="http://schemas.microsoft.com/office/powerpoint/2010/main" val="13343534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653FE-7DD9-A063-1242-3B7C28A8B4B6}"/>
            </a:ext>
          </a:extLst>
        </p:cNvPr>
        <p:cNvGrpSpPr/>
        <p:nvPr/>
      </p:nvGrpSpPr>
      <p:grpSpPr>
        <a:xfrm>
          <a:off x="0" y="0"/>
          <a:ext cx="0" cy="0"/>
          <a:chOff x="0" y="0"/>
          <a:chExt cx="0" cy="0"/>
        </a:xfrm>
      </p:grpSpPr>
      <p:sp>
        <p:nvSpPr>
          <p:cNvPr id="21" name="Rectangle 20">
            <a:extLst>
              <a:ext uri="{FF2B5EF4-FFF2-40B4-BE49-F238E27FC236}">
                <a16:creationId xmlns:a16="http://schemas.microsoft.com/office/drawing/2014/main" id="{9C88D855-21C6-6F52-908F-3B62DBC86F83}"/>
              </a:ext>
            </a:extLst>
          </p:cNvPr>
          <p:cNvSpPr>
            <a:spLocks noGrp="1"/>
          </p:cNvSpPr>
          <p:nvPr/>
        </p:nvSpPr>
        <p:spPr>
          <a:xfrm>
            <a:off x="400050" y="276225"/>
            <a:ext cx="4953000" cy="209550"/>
          </a:xfrm>
          <a:prstGeom prst="rect">
            <a:avLst/>
          </a:prstGeom>
        </p:spPr>
        <p:txBody>
          <a:bodyPr wrap="square" lIns="0" tIns="0" rIns="0" bIns="0" anchor="t">
            <a:normAutofit/>
          </a:bodyPr>
          <a:lstStyle/>
          <a:p>
            <a:pPr algn="l">
              <a:defRPr sz="975" b="1">
                <a:solidFill>
                  <a:srgbClr val="D9232E"/>
                </a:solidFill>
                <a:latin typeface="Arial"/>
                <a:ea typeface="Arial"/>
                <a:cs typeface="Arial"/>
              </a:defRPr>
            </a:pPr>
            <a:r>
              <a:t>CAPITAL BIKESHARE OPERATIONS</a:t>
            </a:r>
          </a:p>
        </p:txBody>
      </p:sp>
      <p:sp>
        <p:nvSpPr>
          <p:cNvPr id="2" name="Rectangle 1">
            <a:extLst>
              <a:ext uri="{FF2B5EF4-FFF2-40B4-BE49-F238E27FC236}">
                <a16:creationId xmlns:a16="http://schemas.microsoft.com/office/drawing/2014/main" id="{CBC4AB1D-C1A0-BC7E-8F4D-E17ADFEC854D}"/>
              </a:ext>
            </a:extLst>
          </p:cNvPr>
          <p:cNvSpPr>
            <a:spLocks noGrp="1"/>
          </p:cNvSpPr>
          <p:nvPr/>
        </p:nvSpPr>
        <p:spPr>
          <a:xfrm>
            <a:off x="400050" y="581025"/>
            <a:ext cx="11391900" cy="628650"/>
          </a:xfrm>
          <a:prstGeom prst="rect">
            <a:avLst/>
          </a:prstGeom>
        </p:spPr>
        <p:txBody>
          <a:bodyPr wrap="square" lIns="0" tIns="0" rIns="0" bIns="0" anchor="t">
            <a:normAutofit/>
          </a:bodyPr>
          <a:lstStyle/>
          <a:p>
            <a:pPr algn="l">
              <a:defRPr sz="3000" b="1">
                <a:solidFill>
                  <a:srgbClr val="15191D"/>
                </a:solidFill>
                <a:latin typeface="Arial"/>
                <a:ea typeface="Arial"/>
                <a:cs typeface="Arial"/>
              </a:defRPr>
            </a:pPr>
            <a:r>
              <a:rPr lang="en-US" dirty="0"/>
              <a:t>Express (Back-End) </a:t>
            </a:r>
            <a:endParaRPr dirty="0"/>
          </a:p>
        </p:txBody>
      </p:sp>
      <p:cxnSp>
        <p:nvCxnSpPr>
          <p:cNvPr id="23" name="Straight Arrow Connector 22">
            <a:extLst>
              <a:ext uri="{FF2B5EF4-FFF2-40B4-BE49-F238E27FC236}">
                <a16:creationId xmlns:a16="http://schemas.microsoft.com/office/drawing/2014/main" id="{2CDF94B7-66E9-56D0-363D-A133FF9F12A9}"/>
              </a:ext>
            </a:extLst>
          </p:cNvPr>
          <p:cNvCxnSpPr/>
          <p:nvPr/>
        </p:nvCxnSpPr>
        <p:spPr>
          <a:xfrm>
            <a:off x="400050" y="1304925"/>
            <a:ext cx="11391900" cy="9525"/>
          </a:xfrm>
          <a:prstGeom prst="straightConnector1">
            <a:avLst/>
          </a:prstGeom>
          <a:ln w="9525">
            <a:solidFill>
              <a:srgbClr val="C9CED2"/>
            </a:solidFill>
            <a:prstDash val="solid"/>
          </a:ln>
        </p:spPr>
      </p:cxnSp>
      <p:graphicFrame>
        <p:nvGraphicFramePr>
          <p:cNvPr id="3" name="Table 2">
            <a:extLst>
              <a:ext uri="{FF2B5EF4-FFF2-40B4-BE49-F238E27FC236}">
                <a16:creationId xmlns:a16="http://schemas.microsoft.com/office/drawing/2014/main" id="{A2125F34-C26C-05E4-FB86-CCF73DC7B808}"/>
              </a:ext>
            </a:extLst>
          </p:cNvPr>
          <p:cNvGraphicFramePr>
            <a:graphicFrameLocks noGrp="1"/>
          </p:cNvGraphicFramePr>
          <p:nvPr>
            <p:extLst>
              <p:ext uri="{D42A27DB-BD31-4B8C-83A1-F6EECF244321}">
                <p14:modId xmlns:p14="http://schemas.microsoft.com/office/powerpoint/2010/main" val="2614243794"/>
              </p:ext>
            </p:extLst>
          </p:nvPr>
        </p:nvGraphicFramePr>
        <p:xfrm>
          <a:off x="973666" y="1710034"/>
          <a:ext cx="10109199" cy="4541463"/>
        </p:xfrm>
        <a:graphic>
          <a:graphicData uri="http://schemas.openxmlformats.org/drawingml/2006/table">
            <a:tbl>
              <a:tblPr>
                <a:tableStyleId>{5C22544A-7EE6-4342-B048-85BDC9FD1C3A}</a:tableStyleId>
              </a:tblPr>
              <a:tblGrid>
                <a:gridCol w="1865885">
                  <a:extLst>
                    <a:ext uri="{9D8B030D-6E8A-4147-A177-3AD203B41FA5}">
                      <a16:colId xmlns:a16="http://schemas.microsoft.com/office/drawing/2014/main" val="3163305933"/>
                    </a:ext>
                  </a:extLst>
                </a:gridCol>
                <a:gridCol w="4873581">
                  <a:extLst>
                    <a:ext uri="{9D8B030D-6E8A-4147-A177-3AD203B41FA5}">
                      <a16:colId xmlns:a16="http://schemas.microsoft.com/office/drawing/2014/main" val="812118686"/>
                    </a:ext>
                  </a:extLst>
                </a:gridCol>
                <a:gridCol w="3369733">
                  <a:extLst>
                    <a:ext uri="{9D8B030D-6E8A-4147-A177-3AD203B41FA5}">
                      <a16:colId xmlns:a16="http://schemas.microsoft.com/office/drawing/2014/main" val="2103490393"/>
                    </a:ext>
                  </a:extLst>
                </a:gridCol>
              </a:tblGrid>
              <a:tr h="123442">
                <a:tc>
                  <a:txBody>
                    <a:bodyPr/>
                    <a:lstStyle/>
                    <a:p>
                      <a:pPr>
                        <a:buNone/>
                      </a:pPr>
                      <a:r>
                        <a:rPr lang="en-US" sz="1100"/>
                        <a:t>Implementation</a:t>
                      </a:r>
                    </a:p>
                  </a:txBody>
                  <a:tcPr marL="30861" marR="30861" marT="15430" marB="15430" anchor="ctr"/>
                </a:tc>
                <a:tc>
                  <a:txBody>
                    <a:bodyPr/>
                    <a:lstStyle/>
                    <a:p>
                      <a:pPr>
                        <a:buNone/>
                      </a:pPr>
                      <a:r>
                        <a:rPr lang="en-US" sz="1100"/>
                        <a:t>What was done</a:t>
                      </a:r>
                    </a:p>
                  </a:txBody>
                  <a:tcPr marL="30861" marR="30861" marT="15430" marB="15430" anchor="ctr"/>
                </a:tc>
                <a:tc>
                  <a:txBody>
                    <a:bodyPr/>
                    <a:lstStyle/>
                    <a:p>
                      <a:pPr>
                        <a:buNone/>
                      </a:pPr>
                      <a:r>
                        <a:rPr lang="en-US" sz="1100"/>
                        <a:t>Code location</a:t>
                      </a:r>
                    </a:p>
                  </a:txBody>
                  <a:tcPr marL="30861" marR="30861" marT="15430" marB="15430" anchor="ctr"/>
                </a:tc>
                <a:extLst>
                  <a:ext uri="{0D108BD9-81ED-4DB2-BD59-A6C34878D82A}">
                    <a16:rowId xmlns:a16="http://schemas.microsoft.com/office/drawing/2014/main" val="707311664"/>
                  </a:ext>
                </a:extLst>
              </a:tr>
              <a:tr h="401187">
                <a:tc>
                  <a:txBody>
                    <a:bodyPr/>
                    <a:lstStyle/>
                    <a:p>
                      <a:pPr>
                        <a:buNone/>
                      </a:pPr>
                      <a:r>
                        <a:rPr lang="en-US" sz="1100"/>
                        <a:t>Express API</a:t>
                      </a:r>
                    </a:p>
                  </a:txBody>
                  <a:tcPr marL="30861" marR="30861" marT="15430" marB="15430" anchor="ctr"/>
                </a:tc>
                <a:tc>
                  <a:txBody>
                    <a:bodyPr/>
                    <a:lstStyle/>
                    <a:p>
                      <a:pPr>
                        <a:buNone/>
                      </a:pPr>
                      <a:r>
                        <a:rPr lang="en-US" sz="1100"/>
                        <a:t>Created an Express server that provides bikeshare data to the React dashboard through REST endpoints.</a:t>
                      </a:r>
                    </a:p>
                  </a:txBody>
                  <a:tcPr marL="30861" marR="30861" marT="15430" marB="15430" anchor="ctr"/>
                </a:tc>
                <a:tc>
                  <a:txBody>
                    <a:bodyPr/>
                    <a:lstStyle/>
                    <a:p>
                      <a:pPr>
                        <a:buNone/>
                      </a:pPr>
                      <a:r>
                        <a:rPr lang="en-US" sz="1100"/>
                        <a:t>server/index.js</a:t>
                      </a:r>
                    </a:p>
                  </a:txBody>
                  <a:tcPr marL="30861" marR="30861" marT="15430" marB="15430" anchor="ctr"/>
                </a:tc>
                <a:extLst>
                  <a:ext uri="{0D108BD9-81ED-4DB2-BD59-A6C34878D82A}">
                    <a16:rowId xmlns:a16="http://schemas.microsoft.com/office/drawing/2014/main" val="2745909174"/>
                  </a:ext>
                </a:extLst>
              </a:tr>
              <a:tr h="401187">
                <a:tc>
                  <a:txBody>
                    <a:bodyPr/>
                    <a:lstStyle/>
                    <a:p>
                      <a:pPr>
                        <a:buNone/>
                      </a:pPr>
                      <a:r>
                        <a:rPr lang="en-US" sz="1100"/>
                        <a:t>Database connection</a:t>
                      </a:r>
                    </a:p>
                  </a:txBody>
                  <a:tcPr marL="30861" marR="30861" marT="15430" marB="15430" anchor="ctr"/>
                </a:tc>
                <a:tc>
                  <a:txBody>
                    <a:bodyPr/>
                    <a:lstStyle/>
                    <a:p>
                      <a:pPr>
                        <a:buNone/>
                      </a:pPr>
                      <a:r>
                        <a:rPr lang="en-US" sz="1100"/>
                        <a:t>Uses a PostgreSQL connection pool and the DATABASE_URL environment variable to connect to the Dockerized database.</a:t>
                      </a:r>
                    </a:p>
                  </a:txBody>
                  <a:tcPr marL="30861" marR="30861" marT="15430" marB="15430" anchor="ctr"/>
                </a:tc>
                <a:tc>
                  <a:txBody>
                    <a:bodyPr/>
                    <a:lstStyle/>
                    <a:p>
                      <a:pPr>
                        <a:buNone/>
                      </a:pPr>
                      <a:r>
                        <a:rPr lang="en-US" sz="1100"/>
                        <a:t>server/index.js and compose.yaml</a:t>
                      </a:r>
                    </a:p>
                  </a:txBody>
                  <a:tcPr marL="30861" marR="30861" marT="15430" marB="15430" anchor="ctr"/>
                </a:tc>
                <a:extLst>
                  <a:ext uri="{0D108BD9-81ED-4DB2-BD59-A6C34878D82A}">
                    <a16:rowId xmlns:a16="http://schemas.microsoft.com/office/drawing/2014/main" val="2490023531"/>
                  </a:ext>
                </a:extLst>
              </a:tr>
              <a:tr h="401187">
                <a:tc>
                  <a:txBody>
                    <a:bodyPr/>
                    <a:lstStyle/>
                    <a:p>
                      <a:pPr>
                        <a:buNone/>
                      </a:pPr>
                      <a:r>
                        <a:rPr lang="en-US" sz="1100"/>
                        <a:t>Summary endpoint</a:t>
                      </a:r>
                    </a:p>
                  </a:txBody>
                  <a:tcPr marL="30861" marR="30861" marT="15430" marB="15430" anchor="ctr"/>
                </a:tc>
                <a:tc>
                  <a:txBody>
                    <a:bodyPr/>
                    <a:lstStyle/>
                    <a:p>
                      <a:pPr>
                        <a:buNone/>
                      </a:pPr>
                      <a:r>
                        <a:rPr lang="en-US" sz="1100"/>
                        <a:t>Calculates total stations, available bikes and docks, low-bike stations, empty stations, and offline stations.</a:t>
                      </a:r>
                    </a:p>
                  </a:txBody>
                  <a:tcPr marL="30861" marR="30861" marT="15430" marB="15430" anchor="ctr"/>
                </a:tc>
                <a:tc>
                  <a:txBody>
                    <a:bodyPr/>
                    <a:lstStyle/>
                    <a:p>
                      <a:pPr>
                        <a:buNone/>
                      </a:pPr>
                      <a:r>
                        <a:rPr lang="en-US" sz="1100"/>
                        <a:t>GET /api/bikeshare/summary in server/index.js</a:t>
                      </a:r>
                    </a:p>
                  </a:txBody>
                  <a:tcPr marL="30861" marR="30861" marT="15430" marB="15430" anchor="ctr"/>
                </a:tc>
                <a:extLst>
                  <a:ext uri="{0D108BD9-81ED-4DB2-BD59-A6C34878D82A}">
                    <a16:rowId xmlns:a16="http://schemas.microsoft.com/office/drawing/2014/main" val="1535163541"/>
                  </a:ext>
                </a:extLst>
              </a:tr>
              <a:tr h="401187">
                <a:tc>
                  <a:txBody>
                    <a:bodyPr/>
                    <a:lstStyle/>
                    <a:p>
                      <a:pPr>
                        <a:buNone/>
                      </a:pPr>
                      <a:r>
                        <a:rPr lang="en-US" sz="1100"/>
                        <a:t>Alerts endpoint</a:t>
                      </a:r>
                    </a:p>
                  </a:txBody>
                  <a:tcPr marL="30861" marR="30861" marT="15430" marB="15430" anchor="ctr"/>
                </a:tc>
                <a:tc>
                  <a:txBody>
                    <a:bodyPr/>
                    <a:lstStyle/>
                    <a:p>
                      <a:pPr>
                        <a:buNone/>
                      </a:pPr>
                      <a:r>
                        <a:rPr lang="en-US" sz="1100"/>
                        <a:t>Returns active warning and critical alerts, ordered by severity and depletion risk, with filtering and pagination.</a:t>
                      </a:r>
                    </a:p>
                  </a:txBody>
                  <a:tcPr marL="30861" marR="30861" marT="15430" marB="15430" anchor="ctr"/>
                </a:tc>
                <a:tc>
                  <a:txBody>
                    <a:bodyPr/>
                    <a:lstStyle/>
                    <a:p>
                      <a:pPr>
                        <a:buNone/>
                      </a:pPr>
                      <a:r>
                        <a:rPr lang="en-US" sz="1100"/>
                        <a:t>GET /api/bikeshare/alerts in server/index.js</a:t>
                      </a:r>
                    </a:p>
                  </a:txBody>
                  <a:tcPr marL="30861" marR="30861" marT="15430" marB="15430" anchor="ctr"/>
                </a:tc>
                <a:extLst>
                  <a:ext uri="{0D108BD9-81ED-4DB2-BD59-A6C34878D82A}">
                    <a16:rowId xmlns:a16="http://schemas.microsoft.com/office/drawing/2014/main" val="502421606"/>
                  </a:ext>
                </a:extLst>
              </a:tr>
              <a:tr h="401187">
                <a:tc>
                  <a:txBody>
                    <a:bodyPr/>
                    <a:lstStyle/>
                    <a:p>
                      <a:pPr>
                        <a:buNone/>
                      </a:pPr>
                      <a:r>
                        <a:rPr lang="en-US" sz="1100"/>
                        <a:t>Map endpoint</a:t>
                      </a:r>
                    </a:p>
                  </a:txBody>
                  <a:tcPr marL="30861" marR="30861" marT="15430" marB="15430" anchor="ctr"/>
                </a:tc>
                <a:tc>
                  <a:txBody>
                    <a:bodyPr/>
                    <a:lstStyle/>
                    <a:p>
                      <a:pPr>
                        <a:buNone/>
                      </a:pPr>
                      <a:r>
                        <a:rPr lang="en-US" sz="1100"/>
                        <a:t>Returns lightweight station coordinates and current availability for displaying markers on the Leaflet map.</a:t>
                      </a:r>
                    </a:p>
                  </a:txBody>
                  <a:tcPr marL="30861" marR="30861" marT="15430" marB="15430" anchor="ctr"/>
                </a:tc>
                <a:tc>
                  <a:txBody>
                    <a:bodyPr/>
                    <a:lstStyle/>
                    <a:p>
                      <a:pPr>
                        <a:buNone/>
                      </a:pPr>
                      <a:r>
                        <a:rPr lang="en-US" sz="1100"/>
                        <a:t>GET /api/bikeshare/stations/map in server/index.js</a:t>
                      </a:r>
                    </a:p>
                  </a:txBody>
                  <a:tcPr marL="30861" marR="30861" marT="15430" marB="15430" anchor="ctr"/>
                </a:tc>
                <a:extLst>
                  <a:ext uri="{0D108BD9-81ED-4DB2-BD59-A6C34878D82A}">
                    <a16:rowId xmlns:a16="http://schemas.microsoft.com/office/drawing/2014/main" val="3683163184"/>
                  </a:ext>
                </a:extLst>
              </a:tr>
              <a:tr h="401187">
                <a:tc>
                  <a:txBody>
                    <a:bodyPr/>
                    <a:lstStyle/>
                    <a:p>
                      <a:pPr>
                        <a:buNone/>
                      </a:pPr>
                      <a:r>
                        <a:rPr lang="en-US" sz="1100"/>
                        <a:t>Stations endpoint</a:t>
                      </a:r>
                    </a:p>
                  </a:txBody>
                  <a:tcPr marL="30861" marR="30861" marT="15430" marB="15430" anchor="ctr"/>
                </a:tc>
                <a:tc>
                  <a:txBody>
                    <a:bodyPr/>
                    <a:lstStyle/>
                    <a:p>
                      <a:pPr>
                        <a:buNone/>
                      </a:pPr>
                      <a:r>
                        <a:rPr lang="en-US" sz="1100"/>
                        <a:t>Provides searchable and sortable station inventory, including current bikes, docks, capacity, and operational status.</a:t>
                      </a:r>
                    </a:p>
                  </a:txBody>
                  <a:tcPr marL="30861" marR="30861" marT="15430" marB="15430" anchor="ctr"/>
                </a:tc>
                <a:tc>
                  <a:txBody>
                    <a:bodyPr/>
                    <a:lstStyle/>
                    <a:p>
                      <a:pPr>
                        <a:buNone/>
                      </a:pPr>
                      <a:r>
                        <a:rPr lang="en-US" sz="1100"/>
                        <a:t>GET /api/bikeshare/stations in server/index.js</a:t>
                      </a:r>
                    </a:p>
                  </a:txBody>
                  <a:tcPr marL="30861" marR="30861" marT="15430" marB="15430" anchor="ctr"/>
                </a:tc>
                <a:extLst>
                  <a:ext uri="{0D108BD9-81ED-4DB2-BD59-A6C34878D82A}">
                    <a16:rowId xmlns:a16="http://schemas.microsoft.com/office/drawing/2014/main" val="2369251241"/>
                  </a:ext>
                </a:extLst>
              </a:tr>
              <a:tr h="401187">
                <a:tc>
                  <a:txBody>
                    <a:bodyPr/>
                    <a:lstStyle/>
                    <a:p>
                      <a:pPr>
                        <a:buNone/>
                      </a:pPr>
                      <a:r>
                        <a:rPr lang="en-US" sz="1100"/>
                        <a:t>History endpoint</a:t>
                      </a:r>
                    </a:p>
                  </a:txBody>
                  <a:tcPr marL="30861" marR="30861" marT="15430" marB="15430" anchor="ctr"/>
                </a:tc>
                <a:tc>
                  <a:txBody>
                    <a:bodyPr/>
                    <a:lstStyle/>
                    <a:p>
                      <a:pPr>
                        <a:buNone/>
                      </a:pPr>
                      <a:r>
                        <a:rPr lang="en-US" sz="1100"/>
                        <a:t>Retrieves timestamped bike and dock availability for a selected station to support the historical chart.</a:t>
                      </a:r>
                    </a:p>
                  </a:txBody>
                  <a:tcPr marL="30861" marR="30861" marT="15430" marB="15430" anchor="ctr"/>
                </a:tc>
                <a:tc>
                  <a:txBody>
                    <a:bodyPr/>
                    <a:lstStyle/>
                    <a:p>
                      <a:pPr>
                        <a:buNone/>
                      </a:pPr>
                      <a:r>
                        <a:rPr lang="en-US" sz="1100"/>
                        <a:t>GET /api/bikeshare/stations/:stationId/history in server/index.js</a:t>
                      </a:r>
                    </a:p>
                  </a:txBody>
                  <a:tcPr marL="30861" marR="30861" marT="15430" marB="15430" anchor="ctr"/>
                </a:tc>
                <a:extLst>
                  <a:ext uri="{0D108BD9-81ED-4DB2-BD59-A6C34878D82A}">
                    <a16:rowId xmlns:a16="http://schemas.microsoft.com/office/drawing/2014/main" val="3982469232"/>
                  </a:ext>
                </a:extLst>
              </a:tr>
              <a:tr h="401187">
                <a:tc>
                  <a:txBody>
                    <a:bodyPr/>
                    <a:lstStyle/>
                    <a:p>
                      <a:pPr>
                        <a:buNone/>
                      </a:pPr>
                      <a:r>
                        <a:rPr lang="en-US" sz="1100"/>
                        <a:t>Input validation</a:t>
                      </a:r>
                    </a:p>
                  </a:txBody>
                  <a:tcPr marL="30861" marR="30861" marT="15430" marB="15430" anchor="ctr"/>
                </a:tc>
                <a:tc>
                  <a:txBody>
                    <a:bodyPr/>
                    <a:lstStyle/>
                    <a:p>
                      <a:pPr>
                        <a:buNone/>
                      </a:pPr>
                      <a:r>
                        <a:rPr lang="en-US" sz="1100"/>
                        <a:t>Validates pagination limits, offsets, alert severity, station conditions, and sorting options before building queries.</a:t>
                      </a:r>
                    </a:p>
                  </a:txBody>
                  <a:tcPr marL="30861" marR="30861" marT="15430" marB="15430" anchor="ctr"/>
                </a:tc>
                <a:tc>
                  <a:txBody>
                    <a:bodyPr/>
                    <a:lstStyle/>
                    <a:p>
                      <a:pPr>
                        <a:buNone/>
                      </a:pPr>
                      <a:r>
                        <a:rPr lang="en-US" sz="1100"/>
                        <a:t>server/index.js</a:t>
                      </a:r>
                    </a:p>
                  </a:txBody>
                  <a:tcPr marL="30861" marR="30861" marT="15430" marB="15430" anchor="ctr"/>
                </a:tc>
                <a:extLst>
                  <a:ext uri="{0D108BD9-81ED-4DB2-BD59-A6C34878D82A}">
                    <a16:rowId xmlns:a16="http://schemas.microsoft.com/office/drawing/2014/main" val="354831428"/>
                  </a:ext>
                </a:extLst>
              </a:tr>
              <a:tr h="308606">
                <a:tc>
                  <a:txBody>
                    <a:bodyPr/>
                    <a:lstStyle/>
                    <a:p>
                      <a:pPr>
                        <a:buNone/>
                      </a:pPr>
                      <a:r>
                        <a:rPr lang="en-US" sz="1100"/>
                        <a:t>Error handling</a:t>
                      </a:r>
                    </a:p>
                  </a:txBody>
                  <a:tcPr marL="30861" marR="30861" marT="15430" marB="15430" anchor="ctr"/>
                </a:tc>
                <a:tc>
                  <a:txBody>
                    <a:bodyPr/>
                    <a:lstStyle/>
                    <a:p>
                      <a:pPr>
                        <a:buNone/>
                      </a:pPr>
                      <a:r>
                        <a:rPr lang="en-US" sz="1100"/>
                        <a:t>Catches database failures and returns safe HTTP error responses without exposing internal details.</a:t>
                      </a:r>
                    </a:p>
                  </a:txBody>
                  <a:tcPr marL="30861" marR="30861" marT="15430" marB="15430" anchor="ctr"/>
                </a:tc>
                <a:tc>
                  <a:txBody>
                    <a:bodyPr/>
                    <a:lstStyle/>
                    <a:p>
                      <a:pPr>
                        <a:buNone/>
                      </a:pPr>
                      <a:r>
                        <a:rPr lang="en-US" sz="1100"/>
                        <a:t>server/index.js</a:t>
                      </a:r>
                    </a:p>
                  </a:txBody>
                  <a:tcPr marL="30861" marR="30861" marT="15430" marB="15430" anchor="ctr"/>
                </a:tc>
                <a:extLst>
                  <a:ext uri="{0D108BD9-81ED-4DB2-BD59-A6C34878D82A}">
                    <a16:rowId xmlns:a16="http://schemas.microsoft.com/office/drawing/2014/main" val="1092568120"/>
                  </a:ext>
                </a:extLst>
              </a:tr>
              <a:tr h="401187">
                <a:tc>
                  <a:txBody>
                    <a:bodyPr/>
                    <a:lstStyle/>
                    <a:p>
                      <a:pPr>
                        <a:buNone/>
                      </a:pPr>
                      <a:r>
                        <a:rPr lang="en-US" sz="1100"/>
                        <a:t>Testing</a:t>
                      </a:r>
                    </a:p>
                  </a:txBody>
                  <a:tcPr marL="30861" marR="30861" marT="15430" marB="15430" anchor="ctr"/>
                </a:tc>
                <a:tc>
                  <a:txBody>
                    <a:bodyPr/>
                    <a:lstStyle/>
                    <a:p>
                      <a:pPr>
                        <a:buNone/>
                      </a:pPr>
                      <a:r>
                        <a:rPr lang="en-US" sz="1100"/>
                        <a:t>Tests validation, sorting, API responses, database failures, alerts, and map data using Node’s built-in test runner.</a:t>
                      </a:r>
                    </a:p>
                  </a:txBody>
                  <a:tcPr marL="30861" marR="30861" marT="15430" marB="15430" anchor="ctr"/>
                </a:tc>
                <a:tc>
                  <a:txBody>
                    <a:bodyPr/>
                    <a:lstStyle/>
                    <a:p>
                      <a:pPr>
                        <a:buNone/>
                      </a:pPr>
                      <a:r>
                        <a:rPr lang="en-US" sz="1100"/>
                        <a:t>server/index.test.js</a:t>
                      </a:r>
                    </a:p>
                  </a:txBody>
                  <a:tcPr marL="30861" marR="30861" marT="15430" marB="15430" anchor="ctr"/>
                </a:tc>
                <a:extLst>
                  <a:ext uri="{0D108BD9-81ED-4DB2-BD59-A6C34878D82A}">
                    <a16:rowId xmlns:a16="http://schemas.microsoft.com/office/drawing/2014/main" val="436553653"/>
                  </a:ext>
                </a:extLst>
              </a:tr>
              <a:tr h="308606">
                <a:tc>
                  <a:txBody>
                    <a:bodyPr/>
                    <a:lstStyle/>
                    <a:p>
                      <a:pPr>
                        <a:buNone/>
                      </a:pPr>
                      <a:r>
                        <a:rPr lang="en-US" sz="1100"/>
                        <a:t>Deployment</a:t>
                      </a:r>
                    </a:p>
                  </a:txBody>
                  <a:tcPr marL="30861" marR="30861" marT="15430" marB="15430" anchor="ctr"/>
                </a:tc>
                <a:tc>
                  <a:txBody>
                    <a:bodyPr/>
                    <a:lstStyle/>
                    <a:p>
                      <a:pPr>
                        <a:buNone/>
                      </a:pPr>
                      <a:r>
                        <a:rPr lang="en-US" sz="1100"/>
                        <a:t>Packages the API and Node.js dependencies in Docker and exposes it through port 5000.</a:t>
                      </a:r>
                    </a:p>
                  </a:txBody>
                  <a:tcPr marL="30861" marR="30861" marT="15430" marB="15430" anchor="ctr"/>
                </a:tc>
                <a:tc>
                  <a:txBody>
                    <a:bodyPr/>
                    <a:lstStyle/>
                    <a:p>
                      <a:pPr>
                        <a:buNone/>
                      </a:pPr>
                      <a:r>
                        <a:rPr lang="en-US" sz="1100" dirty="0"/>
                        <a:t>server/</a:t>
                      </a:r>
                      <a:r>
                        <a:rPr lang="en-US" sz="1100" dirty="0" err="1"/>
                        <a:t>Dockerfile</a:t>
                      </a:r>
                      <a:r>
                        <a:rPr lang="en-US" sz="1100" dirty="0"/>
                        <a:t>, server/</a:t>
                      </a:r>
                      <a:r>
                        <a:rPr lang="en-US" sz="1100" dirty="0" err="1"/>
                        <a:t>package.json</a:t>
                      </a:r>
                      <a:r>
                        <a:rPr lang="en-US" sz="1100" dirty="0"/>
                        <a:t>, and </a:t>
                      </a:r>
                      <a:r>
                        <a:rPr lang="en-US" sz="1100" dirty="0" err="1"/>
                        <a:t>compose.yaml</a:t>
                      </a:r>
                      <a:endParaRPr lang="en-US" sz="1100" dirty="0"/>
                    </a:p>
                  </a:txBody>
                  <a:tcPr marL="30861" marR="30861" marT="15430" marB="15430" anchor="ctr"/>
                </a:tc>
                <a:extLst>
                  <a:ext uri="{0D108BD9-81ED-4DB2-BD59-A6C34878D82A}">
                    <a16:rowId xmlns:a16="http://schemas.microsoft.com/office/drawing/2014/main" val="3835274177"/>
                  </a:ext>
                </a:extLst>
              </a:tr>
            </a:tbl>
          </a:graphicData>
        </a:graphic>
      </p:graphicFrame>
    </p:spTree>
    <p:extLst>
      <p:ext uri="{BB962C8B-B14F-4D97-AF65-F5344CB8AC3E}">
        <p14:creationId xmlns:p14="http://schemas.microsoft.com/office/powerpoint/2010/main" val="690787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E43A6-F04D-47F7-A58E-70B3C98295F9}"/>
            </a:ext>
          </a:extLst>
        </p:cNvPr>
        <p:cNvGrpSpPr/>
        <p:nvPr/>
      </p:nvGrpSpPr>
      <p:grpSpPr>
        <a:xfrm>
          <a:off x="0" y="0"/>
          <a:ext cx="0" cy="0"/>
          <a:chOff x="0" y="0"/>
          <a:chExt cx="0" cy="0"/>
        </a:xfrm>
      </p:grpSpPr>
      <p:sp>
        <p:nvSpPr>
          <p:cNvPr id="21" name="Rectangle 20">
            <a:extLst>
              <a:ext uri="{FF2B5EF4-FFF2-40B4-BE49-F238E27FC236}">
                <a16:creationId xmlns:a16="http://schemas.microsoft.com/office/drawing/2014/main" id="{F315090B-1995-4A68-9F99-0EE6A5889F58}"/>
              </a:ext>
            </a:extLst>
          </p:cNvPr>
          <p:cNvSpPr>
            <a:spLocks noGrp="1"/>
          </p:cNvSpPr>
          <p:nvPr/>
        </p:nvSpPr>
        <p:spPr>
          <a:xfrm>
            <a:off x="400050" y="276225"/>
            <a:ext cx="4953000" cy="209550"/>
          </a:xfrm>
          <a:prstGeom prst="rect">
            <a:avLst/>
          </a:prstGeom>
        </p:spPr>
        <p:txBody>
          <a:bodyPr wrap="square" lIns="0" tIns="0" rIns="0" bIns="0" anchor="t">
            <a:normAutofit/>
          </a:bodyPr>
          <a:lstStyle/>
          <a:p>
            <a:pPr algn="l">
              <a:defRPr sz="975" b="1">
                <a:solidFill>
                  <a:srgbClr val="D9232E"/>
                </a:solidFill>
                <a:latin typeface="Arial"/>
                <a:ea typeface="Arial"/>
                <a:cs typeface="Arial"/>
              </a:defRPr>
            </a:pPr>
            <a:r>
              <a:t>CAPITAL BIKESHARE OPERATIONS</a:t>
            </a:r>
          </a:p>
        </p:txBody>
      </p:sp>
      <p:sp>
        <p:nvSpPr>
          <p:cNvPr id="2" name="Rectangle 1">
            <a:extLst>
              <a:ext uri="{FF2B5EF4-FFF2-40B4-BE49-F238E27FC236}">
                <a16:creationId xmlns:a16="http://schemas.microsoft.com/office/drawing/2014/main" id="{2D531190-DE33-F507-CCFA-5A8E45BFE9F3}"/>
              </a:ext>
            </a:extLst>
          </p:cNvPr>
          <p:cNvSpPr>
            <a:spLocks noGrp="1"/>
          </p:cNvSpPr>
          <p:nvPr/>
        </p:nvSpPr>
        <p:spPr>
          <a:xfrm>
            <a:off x="400050" y="581025"/>
            <a:ext cx="11391900" cy="628650"/>
          </a:xfrm>
          <a:prstGeom prst="rect">
            <a:avLst/>
          </a:prstGeom>
        </p:spPr>
        <p:txBody>
          <a:bodyPr wrap="square" lIns="0" tIns="0" rIns="0" bIns="0" anchor="t">
            <a:normAutofit/>
          </a:bodyPr>
          <a:lstStyle/>
          <a:p>
            <a:pPr algn="l">
              <a:defRPr sz="3000" b="1">
                <a:solidFill>
                  <a:srgbClr val="15191D"/>
                </a:solidFill>
                <a:latin typeface="Arial"/>
                <a:ea typeface="Arial"/>
                <a:cs typeface="Arial"/>
              </a:defRPr>
            </a:pPr>
            <a:r>
              <a:rPr lang="en-US" dirty="0"/>
              <a:t>Dashboard(React Front-End) </a:t>
            </a:r>
            <a:endParaRPr dirty="0"/>
          </a:p>
        </p:txBody>
      </p:sp>
      <p:cxnSp>
        <p:nvCxnSpPr>
          <p:cNvPr id="23" name="Straight Arrow Connector 22">
            <a:extLst>
              <a:ext uri="{FF2B5EF4-FFF2-40B4-BE49-F238E27FC236}">
                <a16:creationId xmlns:a16="http://schemas.microsoft.com/office/drawing/2014/main" id="{5E44558C-A245-34FA-97CB-B58F4150F7C4}"/>
              </a:ext>
            </a:extLst>
          </p:cNvPr>
          <p:cNvCxnSpPr/>
          <p:nvPr/>
        </p:nvCxnSpPr>
        <p:spPr>
          <a:xfrm>
            <a:off x="400050" y="1304925"/>
            <a:ext cx="11391900" cy="9525"/>
          </a:xfrm>
          <a:prstGeom prst="straightConnector1">
            <a:avLst/>
          </a:prstGeom>
          <a:ln w="9525">
            <a:solidFill>
              <a:srgbClr val="C9CED2"/>
            </a:solidFill>
            <a:prstDash val="solid"/>
          </a:ln>
        </p:spPr>
      </p:cxnSp>
      <p:sp>
        <p:nvSpPr>
          <p:cNvPr id="5" name="Rectangle: Rounded Corners 4">
            <a:extLst>
              <a:ext uri="{FF2B5EF4-FFF2-40B4-BE49-F238E27FC236}">
                <a16:creationId xmlns:a16="http://schemas.microsoft.com/office/drawing/2014/main" id="{B91D5C29-7470-2013-6E73-A5529DB234B4}"/>
              </a:ext>
            </a:extLst>
          </p:cNvPr>
          <p:cNvSpPr>
            <a:spLocks noGrp="1"/>
          </p:cNvSpPr>
          <p:nvPr/>
        </p:nvSpPr>
        <p:spPr>
          <a:xfrm>
            <a:off x="67733" y="2244724"/>
            <a:ext cx="3776133" cy="2763305"/>
          </a:xfrm>
          <a:prstGeom prst="roundRect">
            <a:avLst>
              <a:gd name="adj" fmla="val 2797"/>
            </a:avLst>
          </a:prstGeom>
          <a:solidFill>
            <a:srgbClr val="EAF6FB"/>
          </a:solidFill>
          <a:ln w="9525">
            <a:solidFill>
              <a:srgbClr val="C9CED2"/>
            </a:solidFill>
            <a:prstDash val="solid"/>
          </a:ln>
        </p:spPr>
        <p:txBody>
          <a:bodyPr/>
          <a:lstStyle/>
          <a:p>
            <a:endParaRPr lang="en-US"/>
          </a:p>
        </p:txBody>
      </p:sp>
      <p:sp>
        <p:nvSpPr>
          <p:cNvPr id="7" name="Rectangle 6">
            <a:extLst>
              <a:ext uri="{FF2B5EF4-FFF2-40B4-BE49-F238E27FC236}">
                <a16:creationId xmlns:a16="http://schemas.microsoft.com/office/drawing/2014/main" id="{1A72D72D-03F4-4D26-A8E7-D05D89EC55DF}"/>
              </a:ext>
            </a:extLst>
          </p:cNvPr>
          <p:cNvSpPr>
            <a:spLocks noGrp="1"/>
          </p:cNvSpPr>
          <p:nvPr/>
        </p:nvSpPr>
        <p:spPr>
          <a:xfrm>
            <a:off x="67733" y="2802467"/>
            <a:ext cx="3776133" cy="1634066"/>
          </a:xfrm>
          <a:prstGeom prst="rect">
            <a:avLst/>
          </a:prstGeom>
        </p:spPr>
        <p:txBody>
          <a:bodyPr wrap="square" lIns="0" tIns="0" rIns="0" bIns="0" anchor="t">
            <a:normAutofit lnSpcReduction="10000"/>
          </a:bodyPr>
          <a:lstStyle/>
          <a:p>
            <a:r>
              <a:rPr lang="en-US" sz="1100" dirty="0"/>
              <a:t>The Dashboard features the following:</a:t>
            </a:r>
          </a:p>
          <a:p>
            <a:endParaRPr lang="en-US" sz="1100" dirty="0"/>
          </a:p>
          <a:p>
            <a:pPr marL="171450" indent="-171450">
              <a:buFont typeface="Arial" panose="020B0604020202020204" pitchFamily="34" charset="0"/>
              <a:buChar char="•"/>
            </a:pPr>
            <a:r>
              <a:rPr lang="en-US" sz="1100" dirty="0"/>
              <a:t>Network summary showing total stations, available bikes, empty stations, and low-bike stations.</a:t>
            </a:r>
          </a:p>
          <a:p>
            <a:pPr marL="171450" indent="-171450">
              <a:buFont typeface="Arial" panose="020B0604020202020204" pitchFamily="34" charset="0"/>
              <a:buChar char="•"/>
            </a:pPr>
            <a:r>
              <a:rPr lang="en-US" sz="1100" dirty="0"/>
              <a:t>Interactive map with red, yellow, and green markers based on bike availability.</a:t>
            </a:r>
          </a:p>
          <a:p>
            <a:pPr marL="171450" indent="-171450">
              <a:buFont typeface="Arial" panose="020B0604020202020204" pitchFamily="34" charset="0"/>
              <a:buChar char="•"/>
            </a:pPr>
            <a:r>
              <a:rPr lang="en-US" sz="1100" dirty="0"/>
              <a:t>Active warning and critical depletion alerts.</a:t>
            </a:r>
          </a:p>
          <a:p>
            <a:pPr marL="171450" indent="-171450">
              <a:buFont typeface="Arial" panose="020B0604020202020204" pitchFamily="34" charset="0"/>
              <a:buChar char="•"/>
            </a:pPr>
            <a:r>
              <a:rPr lang="en-US" sz="1100" dirty="0"/>
              <a:t>Searchable and sortable live station inventory.</a:t>
            </a:r>
          </a:p>
          <a:p>
            <a:pPr marL="171450" indent="-171450">
              <a:buFont typeface="Arial" panose="020B0604020202020204" pitchFamily="34" charset="0"/>
              <a:buChar char="•"/>
            </a:pPr>
            <a:r>
              <a:rPr lang="en-US" sz="1100" dirty="0"/>
              <a:t>Station details including bikes, docks, capacity, and location.</a:t>
            </a:r>
          </a:p>
          <a:p>
            <a:pPr marL="171450" indent="-171450">
              <a:buFont typeface="Arial" panose="020B0604020202020204" pitchFamily="34" charset="0"/>
              <a:buChar char="•"/>
            </a:pPr>
            <a:r>
              <a:rPr lang="en-US" sz="1100" dirty="0"/>
              <a:t>Historical availability chart for each selected station.</a:t>
            </a:r>
          </a:p>
        </p:txBody>
      </p:sp>
      <p:pic>
        <p:nvPicPr>
          <p:cNvPr id="9" name="Picture 8">
            <a:extLst>
              <a:ext uri="{FF2B5EF4-FFF2-40B4-BE49-F238E27FC236}">
                <a16:creationId xmlns:a16="http://schemas.microsoft.com/office/drawing/2014/main" id="{0BB78305-A1FB-4042-D9BE-F7125E0436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76157" y="1314450"/>
            <a:ext cx="5608266" cy="3247825"/>
          </a:xfrm>
          <a:prstGeom prst="rect">
            <a:avLst/>
          </a:prstGeom>
        </p:spPr>
      </p:pic>
      <p:pic>
        <p:nvPicPr>
          <p:cNvPr id="4" name="Picture 3">
            <a:extLst>
              <a:ext uri="{FF2B5EF4-FFF2-40B4-BE49-F238E27FC236}">
                <a16:creationId xmlns:a16="http://schemas.microsoft.com/office/drawing/2014/main" id="{83052F48-504B-B89E-C880-25897604BA2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73697" y="3513548"/>
            <a:ext cx="5750570" cy="2988962"/>
          </a:xfrm>
          <a:prstGeom prst="rect">
            <a:avLst/>
          </a:prstGeom>
        </p:spPr>
      </p:pic>
    </p:spTree>
    <p:extLst>
      <p:ext uri="{BB962C8B-B14F-4D97-AF65-F5344CB8AC3E}">
        <p14:creationId xmlns:p14="http://schemas.microsoft.com/office/powerpoint/2010/main" val="28441884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9B8A19F4-04E5-4FB9-AC53-F5DFC8A2AAEF}"/>
              </a:ext>
            </a:extLst>
          </p:cNvPr>
          <p:cNvSpPr>
            <a:spLocks noGrp="1"/>
          </p:cNvSpPr>
          <p:nvPr/>
        </p:nvSpPr>
        <p:spPr>
          <a:xfrm>
            <a:off x="400050" y="276225"/>
            <a:ext cx="4953000" cy="209550"/>
          </a:xfrm>
          <a:prstGeom prst="rect">
            <a:avLst/>
          </a:prstGeom>
        </p:spPr>
        <p:txBody>
          <a:bodyPr wrap="square" lIns="0" tIns="0" rIns="0" bIns="0" anchor="t">
            <a:normAutofit/>
          </a:bodyPr>
          <a:lstStyle/>
          <a:p>
            <a:pPr algn="l">
              <a:defRPr sz="975" b="1">
                <a:solidFill>
                  <a:srgbClr val="D9232E"/>
                </a:solidFill>
                <a:latin typeface="Arial"/>
                <a:ea typeface="Arial"/>
                <a:cs typeface="Arial"/>
              </a:defRPr>
            </a:pPr>
            <a:r>
              <a:t>CAPITAL BIKESHARE OPERATIONS</a:t>
            </a:r>
          </a:p>
        </p:txBody>
      </p:sp>
      <p:sp>
        <p:nvSpPr>
          <p:cNvPr id="2" name="Rectangle 1">
            <a:extLst>
              <a:ext uri="{FF2B5EF4-FFF2-40B4-BE49-F238E27FC236}">
                <a16:creationId xmlns:a16="http://schemas.microsoft.com/office/drawing/2014/main" id="{98374FC4-9F5E-4CAE-9FDD-E8E8A4E8655A}"/>
              </a:ext>
            </a:extLst>
          </p:cNvPr>
          <p:cNvSpPr>
            <a:spLocks noGrp="1"/>
          </p:cNvSpPr>
          <p:nvPr/>
        </p:nvSpPr>
        <p:spPr>
          <a:xfrm>
            <a:off x="400050" y="581025"/>
            <a:ext cx="11391900" cy="628650"/>
          </a:xfrm>
          <a:prstGeom prst="rect">
            <a:avLst/>
          </a:prstGeom>
        </p:spPr>
        <p:txBody>
          <a:bodyPr wrap="square" lIns="0" tIns="0" rIns="0" bIns="0" anchor="t">
            <a:normAutofit/>
          </a:bodyPr>
          <a:lstStyle/>
          <a:p>
            <a:pPr algn="l">
              <a:defRPr sz="3000" b="1">
                <a:solidFill>
                  <a:srgbClr val="15191D"/>
                </a:solidFill>
                <a:latin typeface="Arial"/>
                <a:ea typeface="Arial"/>
                <a:cs typeface="Arial"/>
              </a:defRPr>
            </a:pPr>
            <a:r>
              <a:rPr lang="en-US" dirty="0"/>
              <a:t>Docker Configuration</a:t>
            </a:r>
            <a:endParaRPr dirty="0"/>
          </a:p>
        </p:txBody>
      </p:sp>
      <p:cxnSp>
        <p:nvCxnSpPr>
          <p:cNvPr id="23" name="Straight Arrow Connector 22"/>
          <p:cNvCxnSpPr/>
          <p:nvPr/>
        </p:nvCxnSpPr>
        <p:spPr>
          <a:xfrm>
            <a:off x="400050" y="1304925"/>
            <a:ext cx="11391900" cy="9525"/>
          </a:xfrm>
          <a:prstGeom prst="straightConnector1">
            <a:avLst/>
          </a:prstGeom>
          <a:ln w="9525">
            <a:solidFill>
              <a:srgbClr val="C9CED2"/>
            </a:solidFill>
            <a:prstDash val="solid"/>
          </a:ln>
        </p:spPr>
      </p:cxnSp>
      <p:sp>
        <p:nvSpPr>
          <p:cNvPr id="5" name="Rectangle: Rounded Corners 4">
            <a:extLst>
              <a:ext uri="{FF2B5EF4-FFF2-40B4-BE49-F238E27FC236}">
                <a16:creationId xmlns:a16="http://schemas.microsoft.com/office/drawing/2014/main" id="{D35044B4-CED6-4F97-B68B-C99A645A61C8}"/>
              </a:ext>
            </a:extLst>
          </p:cNvPr>
          <p:cNvSpPr>
            <a:spLocks noGrp="1"/>
          </p:cNvSpPr>
          <p:nvPr/>
        </p:nvSpPr>
        <p:spPr>
          <a:xfrm>
            <a:off x="67733" y="2244724"/>
            <a:ext cx="3776133" cy="2763305"/>
          </a:xfrm>
          <a:prstGeom prst="roundRect">
            <a:avLst>
              <a:gd name="adj" fmla="val 2797"/>
            </a:avLst>
          </a:prstGeom>
          <a:solidFill>
            <a:srgbClr val="EAF6FB"/>
          </a:solidFill>
          <a:ln w="9525">
            <a:solidFill>
              <a:srgbClr val="C9CED2"/>
            </a:solidFill>
            <a:prstDash val="solid"/>
          </a:ln>
        </p:spPr>
        <p:txBody>
          <a:bodyPr/>
          <a:lstStyle/>
          <a:p>
            <a:endParaRPr lang="en-US"/>
          </a:p>
        </p:txBody>
      </p:sp>
      <p:sp>
        <p:nvSpPr>
          <p:cNvPr id="7" name="Rectangle 6">
            <a:extLst>
              <a:ext uri="{FF2B5EF4-FFF2-40B4-BE49-F238E27FC236}">
                <a16:creationId xmlns:a16="http://schemas.microsoft.com/office/drawing/2014/main" id="{AE2D5A61-9CC2-494F-8932-CB1E3ED26C2C}"/>
              </a:ext>
            </a:extLst>
          </p:cNvPr>
          <p:cNvSpPr>
            <a:spLocks noGrp="1"/>
          </p:cNvSpPr>
          <p:nvPr/>
        </p:nvSpPr>
        <p:spPr>
          <a:xfrm>
            <a:off x="281516" y="2349500"/>
            <a:ext cx="3562350" cy="2658529"/>
          </a:xfrm>
          <a:prstGeom prst="rect">
            <a:avLst/>
          </a:prstGeom>
        </p:spPr>
        <p:txBody>
          <a:bodyPr wrap="square" lIns="0" tIns="0" rIns="0" bIns="0" anchor="t">
            <a:normAutofit fontScale="92500"/>
          </a:bodyPr>
          <a:lstStyle/>
          <a:p>
            <a:r>
              <a:rPr lang="en-US" sz="1100" dirty="0"/>
              <a:t>Complete application running as one Docker Compose project. Docker Compose creates and connects nine containers, with each container responsible for one part of the system.</a:t>
            </a:r>
          </a:p>
          <a:p>
            <a:endParaRPr lang="en-US" sz="1100" dirty="0"/>
          </a:p>
          <a:p>
            <a:pPr marL="285750" lvl="0" indent="-285750">
              <a:buFont typeface="Arial" panose="020B0604020202020204" pitchFamily="34" charset="0"/>
              <a:buChar char="•"/>
            </a:pPr>
            <a:r>
              <a:rPr lang="en-US" sz="1100" b="1" dirty="0"/>
              <a:t>client-1</a:t>
            </a:r>
            <a:r>
              <a:rPr lang="en-US" sz="1100" dirty="0"/>
              <a:t>: Serves the React dashboard on port 5173.</a:t>
            </a:r>
          </a:p>
          <a:p>
            <a:pPr marL="285750" lvl="0" indent="-285750">
              <a:buFont typeface="Arial" panose="020B0604020202020204" pitchFamily="34" charset="0"/>
              <a:buChar char="•"/>
            </a:pPr>
            <a:r>
              <a:rPr lang="en-US" sz="1100" b="1" dirty="0"/>
              <a:t>server-1</a:t>
            </a:r>
            <a:r>
              <a:rPr lang="en-US" sz="1100" dirty="0"/>
              <a:t>: Provides the Express API on port 5000.</a:t>
            </a:r>
          </a:p>
          <a:p>
            <a:pPr marL="285750" lvl="0" indent="-285750">
              <a:buFont typeface="Arial" panose="020B0604020202020204" pitchFamily="34" charset="0"/>
              <a:buChar char="•"/>
            </a:pPr>
            <a:r>
              <a:rPr lang="en-US" sz="1100" b="1" dirty="0"/>
              <a:t>db-1</a:t>
            </a:r>
            <a:r>
              <a:rPr lang="en-US" sz="1100" dirty="0"/>
              <a:t>: Runs PostgreSQL 18. Port 5433 on the host maps to PostgreSQL's internal port 5432.</a:t>
            </a:r>
          </a:p>
          <a:p>
            <a:pPr marL="285750" lvl="0" indent="-285750">
              <a:buFont typeface="Arial" panose="020B0604020202020204" pitchFamily="34" charset="0"/>
              <a:buChar char="•"/>
            </a:pPr>
            <a:r>
              <a:rPr lang="en-US" sz="1100" b="1" dirty="0"/>
              <a:t>airflow-1</a:t>
            </a:r>
            <a:r>
              <a:rPr lang="en-US" sz="1100" dirty="0"/>
              <a:t>: Schedules and monitors the ETL pipeline through port 8080.</a:t>
            </a:r>
          </a:p>
          <a:p>
            <a:pPr marL="285750" lvl="0" indent="-285750">
              <a:buFont typeface="Arial" panose="020B0604020202020204" pitchFamily="34" charset="0"/>
              <a:buChar char="•"/>
            </a:pPr>
            <a:r>
              <a:rPr lang="en-US" sz="1100" b="1" dirty="0"/>
              <a:t>kafka-1</a:t>
            </a:r>
            <a:r>
              <a:rPr lang="en-US" sz="1100" dirty="0"/>
              <a:t>: Runs the Kafka broker and exposes port 9092.</a:t>
            </a:r>
          </a:p>
          <a:p>
            <a:pPr marL="285750" lvl="0" indent="-285750">
              <a:buFont typeface="Arial" panose="020B0604020202020204" pitchFamily="34" charset="0"/>
              <a:buChar char="•"/>
            </a:pPr>
            <a:r>
              <a:rPr lang="en-US" sz="1100" b="1" dirty="0"/>
              <a:t>station-producer-1</a:t>
            </a:r>
            <a:r>
              <a:rPr lang="en-US" sz="1100" dirty="0"/>
              <a:t>: Fetches station data and publishes new observations to Kafka.</a:t>
            </a:r>
          </a:p>
          <a:p>
            <a:pPr marL="285750" lvl="0" indent="-285750">
              <a:buFont typeface="Arial" panose="020B0604020202020204" pitchFamily="34" charset="0"/>
              <a:buChar char="•"/>
            </a:pPr>
            <a:r>
              <a:rPr lang="en-US" sz="1100" b="1" dirty="0"/>
              <a:t>alert-consumer-1</a:t>
            </a:r>
            <a:r>
              <a:rPr lang="en-US" sz="1100" dirty="0"/>
              <a:t>: Consumes Kafka events, detects depletion risks, and stores alerts in PostgreSQL.</a:t>
            </a:r>
          </a:p>
          <a:p>
            <a:pPr marL="285750" lvl="0" indent="-285750">
              <a:buFont typeface="Arial" panose="020B0604020202020204" pitchFamily="34" charset="0"/>
              <a:buChar char="•"/>
            </a:pPr>
            <a:r>
              <a:rPr lang="en-US" sz="1100" b="1" dirty="0"/>
              <a:t>kafka-init-1</a:t>
            </a:r>
            <a:r>
              <a:rPr lang="en-US" sz="1100" dirty="0"/>
              <a:t>: Creates the station-status topic and then exits.</a:t>
            </a:r>
          </a:p>
          <a:p>
            <a:pPr marL="285750" lvl="0" indent="-285750">
              <a:buFont typeface="Arial" panose="020B0604020202020204" pitchFamily="34" charset="0"/>
              <a:buChar char="•"/>
            </a:pPr>
            <a:r>
              <a:rPr lang="en-US" sz="1100" b="1" dirty="0"/>
              <a:t>db-schema-1</a:t>
            </a:r>
            <a:r>
              <a:rPr lang="en-US" sz="1100" dirty="0"/>
              <a:t>: Applies the database schema and then exits.</a:t>
            </a:r>
          </a:p>
        </p:txBody>
      </p:sp>
      <p:pic>
        <p:nvPicPr>
          <p:cNvPr id="4" name="Picture 3">
            <a:extLst>
              <a:ext uri="{FF2B5EF4-FFF2-40B4-BE49-F238E27FC236}">
                <a16:creationId xmlns:a16="http://schemas.microsoft.com/office/drawing/2014/main" id="{FF4C7546-3A47-CA8E-3FA0-958B348037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14038" y="1382182"/>
            <a:ext cx="8277961" cy="4888186"/>
          </a:xfrm>
          <a:prstGeom prst="rect">
            <a:avLst/>
          </a:prstGeom>
        </p:spPr>
      </p:pic>
    </p:spTree>
    <p:extLst>
      <p:ext uri="{BB962C8B-B14F-4D97-AF65-F5344CB8AC3E}">
        <p14:creationId xmlns:p14="http://schemas.microsoft.com/office/powerpoint/2010/main" val="1809543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D7688-CBA9-ADED-21B0-25ABBFFC22D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DBC91FF-A782-C960-3D7B-391A76E72E4C}"/>
              </a:ext>
            </a:extLst>
          </p:cNvPr>
          <p:cNvSpPr>
            <a:spLocks noGrp="1"/>
          </p:cNvSpPr>
          <p:nvPr/>
        </p:nvSpPr>
        <p:spPr>
          <a:xfrm>
            <a:off x="1888067" y="3149070"/>
            <a:ext cx="7987211" cy="1660525"/>
          </a:xfrm>
          <a:prstGeom prst="rect">
            <a:avLst/>
          </a:prstGeom>
        </p:spPr>
        <p:txBody>
          <a:bodyPr wrap="square" lIns="0" tIns="0" rIns="0" bIns="0" anchor="t">
            <a:normAutofit/>
          </a:bodyPr>
          <a:lstStyle/>
          <a:p>
            <a:pPr algn="ctr">
              <a:defRPr sz="3000" b="1">
                <a:solidFill>
                  <a:srgbClr val="15191D"/>
                </a:solidFill>
                <a:latin typeface="Arial"/>
                <a:ea typeface="Arial"/>
                <a:cs typeface="Arial"/>
              </a:defRPr>
            </a:pPr>
            <a:r>
              <a:rPr lang="en-US" sz="4800" dirty="0"/>
              <a:t>The End. Thank you</a:t>
            </a:r>
            <a:endParaRPr sz="4800" dirty="0"/>
          </a:p>
        </p:txBody>
      </p:sp>
    </p:spTree>
    <p:extLst>
      <p:ext uri="{BB962C8B-B14F-4D97-AF65-F5344CB8AC3E}">
        <p14:creationId xmlns:p14="http://schemas.microsoft.com/office/powerpoint/2010/main" val="1253824190"/>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54</TotalTime>
  <Words>1935</Words>
  <Application>Microsoft Office PowerPoint</Application>
  <DocSecurity>0</DocSecurity>
  <PresentationFormat>Widescreen</PresentationFormat>
  <Paragraphs>220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Eyasu Tesfamichael Araya(H00396248)</cp:lastModifiedBy>
  <cp:revision>1</cp:revision>
  <dcterms:created xsi:type="dcterms:W3CDTF">2026-09-02T22:41:18Z</dcterms:created>
  <dcterms:modified xsi:type="dcterms:W3CDTF">2026-09-04T08:17:23Z</dcterms:modified>
</cp:coreProperties>
</file>