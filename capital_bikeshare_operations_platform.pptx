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8" r:id="rId3"/>
    <p:sldId id="260" r:id="rId4"/>
    <p:sldId id="271" r:id="rId5"/>
    <p:sldId id="272" r:id="rId6"/>
    <p:sldId id="274" r:id="rId7"/>
    <p:sldId id="275" r:id="rId8"/>
    <p:sldId id="276" r:id="rId9"/>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CC8AD-0F05-4F19-E966-66B4E0C8E2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328950-3379-9CA8-A075-DA849BD5F8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7C728E-5E5B-3C4E-1FB6-1D1D6CFC1B40}"/>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FBBAC7A7-3F39-0D57-C2AA-269CFD96EC6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2497935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F55D4-8265-FC6E-64FE-FA6C31FBB1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C05E36-BE9C-04F4-742E-484136554D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8910B5-E924-9442-470E-60871E8FF627}"/>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8F5384FA-F79A-0950-5B7D-98D8939393E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6810843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2A31B-C301-ED72-703C-A0499C8DD8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77FD42-2845-6950-D971-C3188F876B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286069-601D-C2E3-5730-015D7CFBED96}"/>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0D55C6A5-4B5E-435E-91CC-853E474D59C6}"/>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4260291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8CA2D-4DAE-C081-1EEA-57D4253111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24C717-73BA-08DB-98B7-8C4ADE39C2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E09C42-F54B-84B7-CC22-59C19D386C84}"/>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A8CD62FF-E039-BF29-96DC-33B51FE21C81}"/>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5152340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0C065-44F8-9DEA-8100-1C44A6A87C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7E3E67-F938-4F96-DC6C-7AC9A2FAD5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5CD8F8-4C26-1A0A-3CF9-24B9B5C0049C}"/>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CBD34DA6-A1CC-8349-BD31-0F32BD81A506}"/>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0350723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7EF2B38-BDE1-4FB1-9CDE-CF4FE8E2E4C0}"/>
              </a:ext>
            </a:extLst>
          </p:cNvPr>
          <p:cNvSpPr>
            <a:spLocks noGrp="1"/>
          </p:cNvSpPr>
          <p:nvPr/>
        </p:nvSpPr>
        <p:spPr>
          <a:xfrm>
            <a:off x="400050" y="400050"/>
            <a:ext cx="95250" cy="5619750"/>
          </a:xfrm>
          <a:prstGeom prst="rect">
            <a:avLst/>
          </a:prstGeom>
          <a:solidFill>
            <a:srgbClr val="D9232E"/>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DB8F10D6-5C4F-4DA3-A10D-795811C24DC5}"/>
              </a:ext>
            </a:extLst>
          </p:cNvPr>
          <p:cNvSpPr>
            <a:spLocks noGrp="1"/>
          </p:cNvSpPr>
          <p:nvPr/>
        </p:nvSpPr>
        <p:spPr>
          <a:xfrm>
            <a:off x="742950" y="533400"/>
            <a:ext cx="4762500" cy="266700"/>
          </a:xfrm>
          <a:prstGeom prst="rect">
            <a:avLst/>
          </a:prstGeom>
        </p:spPr>
        <p:txBody>
          <a:bodyPr wrap="square" lIns="0" tIns="0" rIns="0" bIns="0" anchor="t">
            <a:normAutofit/>
          </a:bodyPr>
          <a:lstStyle/>
          <a:p>
            <a:pPr algn="l">
              <a:defRPr sz="1050" b="1">
                <a:solidFill>
                  <a:srgbClr val="D9232E"/>
                </a:solidFill>
                <a:latin typeface="Arial"/>
                <a:ea typeface="Arial"/>
                <a:cs typeface="Arial"/>
              </a:defRPr>
            </a:pPr>
            <a:r>
              <a:t>SHARED BIKES ENGINEERING ASSIGNMENT</a:t>
            </a:r>
          </a:p>
        </p:txBody>
      </p:sp>
      <p:sp>
        <p:nvSpPr>
          <p:cNvPr id="3" name="Rectangle 2">
            <a:extLst>
              <a:ext uri="{FF2B5EF4-FFF2-40B4-BE49-F238E27FC236}">
                <a16:creationId xmlns:a16="http://schemas.microsoft.com/office/drawing/2014/main" id="{27FFDB27-528C-433E-8FE1-18F32E2E3638}"/>
              </a:ext>
            </a:extLst>
          </p:cNvPr>
          <p:cNvSpPr>
            <a:spLocks noGrp="1"/>
          </p:cNvSpPr>
          <p:nvPr/>
        </p:nvSpPr>
        <p:spPr>
          <a:xfrm>
            <a:off x="742950" y="1314450"/>
            <a:ext cx="4953000" cy="2076450"/>
          </a:xfrm>
          <a:prstGeom prst="rect">
            <a:avLst/>
          </a:prstGeom>
        </p:spPr>
        <p:txBody>
          <a:bodyPr wrap="square" lIns="0" tIns="0" rIns="0" bIns="0" anchor="t">
            <a:normAutofit fontScale="94618"/>
          </a:bodyPr>
          <a:lstStyle/>
          <a:p>
            <a:pPr algn="l">
              <a:defRPr sz="4800" b="1">
                <a:solidFill>
                  <a:srgbClr val="15191D"/>
                </a:solidFill>
                <a:latin typeface="Arial"/>
                <a:ea typeface="Arial"/>
                <a:cs typeface="Arial"/>
              </a:defRPr>
            </a:pPr>
            <a:r>
              <a:rPr lang="en-US" dirty="0"/>
              <a:t>Shared B</a:t>
            </a:r>
            <a:r>
              <a:rPr dirty="0"/>
              <a:t>ike </a:t>
            </a:r>
            <a:r>
              <a:rPr lang="en-US" dirty="0"/>
              <a:t>Monitoring System</a:t>
            </a:r>
            <a:endParaRPr dirty="0"/>
          </a:p>
        </p:txBody>
      </p:sp>
      <p:sp>
        <p:nvSpPr>
          <p:cNvPr id="4" name="Rectangle 3">
            <a:extLst>
              <a:ext uri="{FF2B5EF4-FFF2-40B4-BE49-F238E27FC236}">
                <a16:creationId xmlns:a16="http://schemas.microsoft.com/office/drawing/2014/main" id="{3E90A42C-459E-4E6F-858C-AE0320A9A2C2}"/>
              </a:ext>
            </a:extLst>
          </p:cNvPr>
          <p:cNvSpPr>
            <a:spLocks noGrp="1"/>
          </p:cNvSpPr>
          <p:nvPr/>
        </p:nvSpPr>
        <p:spPr>
          <a:xfrm>
            <a:off x="742950" y="3714750"/>
            <a:ext cx="4810125" cy="1200150"/>
          </a:xfrm>
          <a:prstGeom prst="rect">
            <a:avLst/>
          </a:prstGeom>
        </p:spPr>
        <p:txBody>
          <a:bodyPr wrap="square" lIns="0" tIns="0" rIns="0" bIns="0" anchor="t">
            <a:normAutofit/>
          </a:bodyPr>
          <a:lstStyle/>
          <a:p>
            <a:pPr algn="l">
              <a:defRPr sz="1725" b="0">
                <a:solidFill>
                  <a:srgbClr val="626B73"/>
                </a:solidFill>
                <a:latin typeface="Arial"/>
                <a:ea typeface="Arial"/>
                <a:cs typeface="Arial"/>
              </a:defRPr>
            </a:pPr>
            <a:r>
              <a:t>A Dockerized data platform combining Airflow ETL, PostgreSQL history, Kafka streaming, predictive alerts, and an operator dashboard.</a:t>
            </a:r>
          </a:p>
        </p:txBody>
      </p:sp>
      <p:sp>
        <p:nvSpPr>
          <p:cNvPr id="5" name="Rectangle 4">
            <a:extLst>
              <a:ext uri="{FF2B5EF4-FFF2-40B4-BE49-F238E27FC236}">
                <a16:creationId xmlns:a16="http://schemas.microsoft.com/office/drawing/2014/main" id="{ED4E88CD-F37F-4B16-A439-1D4D330815FC}"/>
              </a:ext>
            </a:extLst>
          </p:cNvPr>
          <p:cNvSpPr>
            <a:spLocks noGrp="1"/>
          </p:cNvSpPr>
          <p:nvPr/>
        </p:nvSpPr>
        <p:spPr>
          <a:xfrm>
            <a:off x="742950" y="5638800"/>
            <a:ext cx="4476750" cy="266700"/>
          </a:xfrm>
          <a:prstGeom prst="rect">
            <a:avLst/>
          </a:prstGeom>
        </p:spPr>
        <p:txBody>
          <a:bodyPr wrap="square" lIns="0" tIns="0" rIns="0" bIns="0" anchor="t">
            <a:normAutofit/>
          </a:bodyPr>
          <a:lstStyle/>
          <a:p>
            <a:pPr algn="l">
              <a:defRPr sz="1275" b="1">
                <a:solidFill>
                  <a:srgbClr val="15191D"/>
                </a:solidFill>
                <a:latin typeface="Arial"/>
                <a:ea typeface="Arial"/>
                <a:cs typeface="Arial"/>
              </a:defRPr>
            </a:pPr>
            <a:r>
              <a:t>Eyasu Araya  |  September 2026</a:t>
            </a:r>
          </a:p>
        </p:txBody>
      </p:sp>
      <p:sp>
        <p:nvSpPr>
          <p:cNvPr id="6" name="Rectangle: Rounded Corners 5">
            <a:extLst>
              <a:ext uri="{FF2B5EF4-FFF2-40B4-BE49-F238E27FC236}">
                <a16:creationId xmlns:a16="http://schemas.microsoft.com/office/drawing/2014/main" id="{A40D2103-C563-4384-A340-9465FF2897B6}"/>
              </a:ext>
            </a:extLst>
          </p:cNvPr>
          <p:cNvSpPr>
            <a:spLocks noGrp="1"/>
          </p:cNvSpPr>
          <p:nvPr/>
        </p:nvSpPr>
        <p:spPr>
          <a:xfrm>
            <a:off x="6096000" y="400050"/>
            <a:ext cx="5695950" cy="5619750"/>
          </a:xfrm>
          <a:prstGeom prst="roundRect">
            <a:avLst>
              <a:gd name="adj" fmla="val 1356"/>
            </a:avLst>
          </a:prstGeom>
          <a:solidFill>
            <a:srgbClr val="EAF6FB"/>
          </a:solidFill>
          <a:ln w="9525">
            <a:solidFill>
              <a:srgbClr val="C9CED2"/>
            </a:solidFill>
            <a:prstDash val="solid"/>
          </a:ln>
        </p:spPr>
        <p:txBody>
          <a:bodyPr/>
          <a:lstStyle/>
          <a:p>
            <a:endParaRPr lang="en-US"/>
          </a:p>
        </p:txBody>
      </p:sp>
      <p:sp>
        <p:nvSpPr>
          <p:cNvPr id="7" name="Rectangle 6">
            <a:extLst>
              <a:ext uri="{FF2B5EF4-FFF2-40B4-BE49-F238E27FC236}">
                <a16:creationId xmlns:a16="http://schemas.microsoft.com/office/drawing/2014/main" id="{EF6C0845-D139-476B-8F71-4E85EA5FE7EF}"/>
              </a:ext>
            </a:extLst>
          </p:cNvPr>
          <p:cNvSpPr>
            <a:spLocks noGrp="1"/>
          </p:cNvSpPr>
          <p:nvPr/>
        </p:nvSpPr>
        <p:spPr>
          <a:xfrm>
            <a:off x="11144250" y="6305550"/>
            <a:ext cx="647700" cy="228600"/>
          </a:xfrm>
          <a:prstGeom prst="rect">
            <a:avLst/>
          </a:prstGeom>
        </p:spPr>
        <p:txBody>
          <a:bodyPr wrap="square" lIns="0" tIns="0" rIns="0" bIns="0" anchor="t">
            <a:normAutofit/>
          </a:bodyPr>
          <a:lstStyle/>
          <a:p>
            <a:pPr algn="r">
              <a:defRPr sz="1050" b="0">
                <a:solidFill>
                  <a:srgbClr val="626B73"/>
                </a:solidFill>
                <a:latin typeface="Arial"/>
                <a:ea typeface="Arial"/>
                <a:cs typeface="Arial"/>
              </a:defRPr>
            </a:pPr>
            <a:r>
              <a:t>01</a:t>
            </a:r>
          </a:p>
        </p:txBody>
      </p:sp>
      <p:pic>
        <p:nvPicPr>
          <p:cNvPr id="16" name="Picture 15"/>
          <p:cNvPicPr>
            <a:picLocks noChangeAspect="1"/>
          </p:cNvPicPr>
          <p:nvPr/>
        </p:nvPicPr>
        <p:blipFill>
          <a:blip r:embed="rId3"/>
          <a:srcRect t="669" b="669"/>
          <a:stretch>
            <a:fillRect/>
          </a:stretch>
        </p:blipFill>
        <p:spPr>
          <a:xfrm>
            <a:off x="6096000" y="400050"/>
            <a:ext cx="5695950" cy="5619750"/>
          </a:xfrm>
          <a:prstGeom prst="roundRect">
            <a:avLst>
              <a:gd name="adj" fmla="val 2034"/>
            </a:avLst>
          </a:prstGeom>
        </p:spPr>
      </p:pic>
    </p:spTree>
    <p:extLst>
      <p:ext uri="{BB962C8B-B14F-4D97-AF65-F5344CB8AC3E}">
        <p14:creationId xmlns:p14="http://schemas.microsoft.com/office/powerpoint/2010/main" val="653134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8197BF2B-76E8-45BC-85CE-7A9A65CBC5E1}"/>
              </a:ext>
            </a:extLst>
          </p:cNvPr>
          <p:cNvSpPr>
            <a:spLocks noGrp="1"/>
          </p:cNvSpPr>
          <p:nvPr/>
        </p:nvSpPr>
        <p:spPr>
          <a:xfrm>
            <a:off x="400050" y="276225"/>
            <a:ext cx="4953000" cy="209550"/>
          </a:xfrm>
          <a:prstGeom prst="rect">
            <a:avLst/>
          </a:prstGeom>
        </p:spPr>
        <p:txBody>
          <a:bodyPr wrap="square" lIns="0" tIns="0" rIns="0" bIns="0" anchor="t">
            <a:normAutofit/>
          </a:bodyPr>
          <a:lstStyle/>
          <a:p>
            <a:pPr algn="l">
              <a:defRPr sz="975" b="1">
                <a:solidFill>
                  <a:srgbClr val="D9232E"/>
                </a:solidFill>
                <a:latin typeface="Arial"/>
                <a:ea typeface="Arial"/>
                <a:cs typeface="Arial"/>
              </a:defRPr>
            </a:pPr>
            <a:r>
              <a:t>CAPITAL BIKESHARE OPERATIONS</a:t>
            </a:r>
          </a:p>
        </p:txBody>
      </p:sp>
      <p:sp>
        <p:nvSpPr>
          <p:cNvPr id="2" name="Rectangle 1">
            <a:extLst>
              <a:ext uri="{FF2B5EF4-FFF2-40B4-BE49-F238E27FC236}">
                <a16:creationId xmlns:a16="http://schemas.microsoft.com/office/drawing/2014/main" id="{F13C15EB-26A2-4DAE-8447-FD6AF30CD126}"/>
              </a:ext>
            </a:extLst>
          </p:cNvPr>
          <p:cNvSpPr>
            <a:spLocks noGrp="1"/>
          </p:cNvSpPr>
          <p:nvPr/>
        </p:nvSpPr>
        <p:spPr>
          <a:xfrm>
            <a:off x="400050" y="581025"/>
            <a:ext cx="11391900" cy="628650"/>
          </a:xfrm>
          <a:prstGeom prst="rect">
            <a:avLst/>
          </a:prstGeom>
        </p:spPr>
        <p:txBody>
          <a:bodyPr wrap="square" lIns="0" tIns="0" rIns="0" bIns="0" anchor="t">
            <a:normAutofit fontScale="96455"/>
          </a:bodyPr>
          <a:lstStyle/>
          <a:p>
            <a:pPr algn="l">
              <a:defRPr sz="3600" b="1">
                <a:solidFill>
                  <a:srgbClr val="15191D"/>
                </a:solidFill>
                <a:latin typeface="Arial"/>
                <a:ea typeface="Arial"/>
                <a:cs typeface="Arial"/>
              </a:defRPr>
            </a:pPr>
            <a:r>
              <a:rPr lang="en-US" dirty="0"/>
              <a:t>Full Architecture</a:t>
            </a:r>
            <a:endParaRPr dirty="0"/>
          </a:p>
        </p:txBody>
      </p:sp>
      <p:cxnSp>
        <p:nvCxnSpPr>
          <p:cNvPr id="34" name="Straight Arrow Connector 33"/>
          <p:cNvCxnSpPr/>
          <p:nvPr/>
        </p:nvCxnSpPr>
        <p:spPr>
          <a:xfrm>
            <a:off x="400050" y="1304925"/>
            <a:ext cx="11391900" cy="9525"/>
          </a:xfrm>
          <a:prstGeom prst="straightConnector1">
            <a:avLst/>
          </a:prstGeom>
          <a:ln w="9525">
            <a:solidFill>
              <a:srgbClr val="C9CED2"/>
            </a:solidFill>
            <a:prstDash val="solid"/>
          </a:ln>
        </p:spPr>
      </p:cxnSp>
      <p:sp>
        <p:nvSpPr>
          <p:cNvPr id="4" name="Rectangle 3">
            <a:extLst>
              <a:ext uri="{FF2B5EF4-FFF2-40B4-BE49-F238E27FC236}">
                <a16:creationId xmlns:a16="http://schemas.microsoft.com/office/drawing/2014/main" id="{12CA1E84-C937-42FA-8E79-3FC9D827E87E}"/>
              </a:ext>
            </a:extLst>
          </p:cNvPr>
          <p:cNvSpPr>
            <a:spLocks noGrp="1"/>
          </p:cNvSpPr>
          <p:nvPr/>
        </p:nvSpPr>
        <p:spPr>
          <a:xfrm>
            <a:off x="400050" y="1581150"/>
            <a:ext cx="3905250" cy="247650"/>
          </a:xfrm>
          <a:prstGeom prst="rect">
            <a:avLst/>
          </a:prstGeom>
        </p:spPr>
        <p:txBody>
          <a:bodyPr wrap="square" lIns="0" tIns="0" rIns="0" bIns="0" anchor="t">
            <a:normAutofit/>
          </a:bodyPr>
          <a:lstStyle/>
          <a:p>
            <a:pPr algn="l">
              <a:defRPr sz="1200" b="1">
                <a:solidFill>
                  <a:srgbClr val="1674A5"/>
                </a:solidFill>
                <a:latin typeface="Arial"/>
                <a:ea typeface="Arial"/>
                <a:cs typeface="Arial"/>
              </a:defRPr>
            </a:pPr>
            <a:r>
              <a:t>BATCH PATH  |  every 5 minutes</a:t>
            </a:r>
          </a:p>
        </p:txBody>
      </p:sp>
      <p:cxnSp>
        <p:nvCxnSpPr>
          <p:cNvPr id="36" name="Straight Arrow Connector 35"/>
          <p:cNvCxnSpPr/>
          <p:nvPr/>
        </p:nvCxnSpPr>
        <p:spPr>
          <a:xfrm>
            <a:off x="2200275" y="2338388"/>
            <a:ext cx="8858250" cy="9525"/>
          </a:xfrm>
          <a:prstGeom prst="straightConnector1">
            <a:avLst/>
          </a:prstGeom>
          <a:ln w="28575">
            <a:solidFill>
              <a:srgbClr val="C9CED2"/>
            </a:solidFill>
            <a:prstDash val="solid"/>
          </a:ln>
        </p:spPr>
      </p:cxnSp>
      <p:sp>
        <p:nvSpPr>
          <p:cNvPr id="6" name="Rectangle 5">
            <a:extLst>
              <a:ext uri="{FF2B5EF4-FFF2-40B4-BE49-F238E27FC236}">
                <a16:creationId xmlns:a16="http://schemas.microsoft.com/office/drawing/2014/main" id="{6ED48150-3486-4568-B3C3-F0A1EBCF81FC}"/>
              </a:ext>
            </a:extLst>
          </p:cNvPr>
          <p:cNvSpPr>
            <a:spLocks noGrp="1"/>
          </p:cNvSpPr>
          <p:nvPr/>
        </p:nvSpPr>
        <p:spPr>
          <a:xfrm>
            <a:off x="400050" y="3190875"/>
            <a:ext cx="4286250" cy="247650"/>
          </a:xfrm>
          <a:prstGeom prst="rect">
            <a:avLst/>
          </a:prstGeom>
        </p:spPr>
        <p:txBody>
          <a:bodyPr wrap="square" lIns="0" tIns="0" rIns="0" bIns="0" anchor="t">
            <a:normAutofit/>
          </a:bodyPr>
          <a:lstStyle/>
          <a:p>
            <a:pPr algn="l">
              <a:defRPr sz="1200" b="1">
                <a:solidFill>
                  <a:srgbClr val="D9232E"/>
                </a:solidFill>
                <a:latin typeface="Arial"/>
                <a:ea typeface="Arial"/>
                <a:cs typeface="Arial"/>
              </a:defRPr>
            </a:pPr>
            <a:r>
              <a:t>STREAMING PATH  |  every 60 seconds</a:t>
            </a:r>
          </a:p>
        </p:txBody>
      </p:sp>
      <p:cxnSp>
        <p:nvCxnSpPr>
          <p:cNvPr id="38" name="Straight Arrow Connector 37"/>
          <p:cNvCxnSpPr>
            <a:cxnSpLocks/>
          </p:cNvCxnSpPr>
          <p:nvPr/>
        </p:nvCxnSpPr>
        <p:spPr>
          <a:xfrm>
            <a:off x="1175808" y="4100513"/>
            <a:ext cx="7079192" cy="9525"/>
          </a:xfrm>
          <a:prstGeom prst="straightConnector1">
            <a:avLst/>
          </a:prstGeom>
          <a:ln w="28575">
            <a:solidFill>
              <a:srgbClr val="C9CED2"/>
            </a:solidFill>
            <a:prstDash val="solid"/>
          </a:ln>
        </p:spPr>
      </p:cxnSp>
      <p:sp>
        <p:nvSpPr>
          <p:cNvPr id="8" name="Rectangle: Rounded Corners 7">
            <a:extLst>
              <a:ext uri="{FF2B5EF4-FFF2-40B4-BE49-F238E27FC236}">
                <a16:creationId xmlns:a16="http://schemas.microsoft.com/office/drawing/2014/main" id="{9976A511-DDA4-4229-91D4-2BFFAECE7B36}"/>
              </a:ext>
            </a:extLst>
          </p:cNvPr>
          <p:cNvSpPr>
            <a:spLocks noGrp="1"/>
          </p:cNvSpPr>
          <p:nvPr/>
        </p:nvSpPr>
        <p:spPr>
          <a:xfrm>
            <a:off x="1162050" y="1947863"/>
            <a:ext cx="1809750" cy="800100"/>
          </a:xfrm>
          <a:prstGeom prst="roundRect">
            <a:avLst>
              <a:gd name="adj" fmla="val 9524"/>
            </a:avLst>
          </a:prstGeom>
          <a:solidFill>
            <a:srgbClr val="EAF6FB"/>
          </a:solidFill>
          <a:ln w="9525">
            <a:solidFill>
              <a:srgbClr val="1674A5"/>
            </a:solidFill>
            <a:prstDash val="solid"/>
          </a:ln>
        </p:spPr>
        <p:txBody>
          <a:bodyPr/>
          <a:lstStyle/>
          <a:p>
            <a:endParaRPr lang="en-US"/>
          </a:p>
        </p:txBody>
      </p:sp>
      <p:sp>
        <p:nvSpPr>
          <p:cNvPr id="9" name="Rectangle 8">
            <a:extLst>
              <a:ext uri="{FF2B5EF4-FFF2-40B4-BE49-F238E27FC236}">
                <a16:creationId xmlns:a16="http://schemas.microsoft.com/office/drawing/2014/main" id="{7EAA282E-6674-4B47-910B-F39C25364DBC}"/>
              </a:ext>
            </a:extLst>
          </p:cNvPr>
          <p:cNvSpPr>
            <a:spLocks noGrp="1"/>
          </p:cNvSpPr>
          <p:nvPr/>
        </p:nvSpPr>
        <p:spPr>
          <a:xfrm>
            <a:off x="1276350" y="2119313"/>
            <a:ext cx="1581150" cy="457200"/>
          </a:xfrm>
          <a:prstGeom prst="rect">
            <a:avLst/>
          </a:prstGeom>
        </p:spPr>
        <p:txBody>
          <a:bodyPr wrap="square" lIns="0" tIns="0" rIns="0" bIns="0" anchor="ctr">
            <a:normAutofit fontScale="91407"/>
          </a:bodyPr>
          <a:lstStyle/>
          <a:p>
            <a:pPr algn="ctr">
              <a:defRPr sz="1500" b="1">
                <a:solidFill>
                  <a:srgbClr val="15191D"/>
                </a:solidFill>
                <a:latin typeface="Arial"/>
                <a:ea typeface="Arial"/>
                <a:cs typeface="Arial"/>
              </a:defRPr>
            </a:pPr>
            <a:r>
              <a:rPr dirty="0"/>
              <a:t>Capital Bikeshare
GBFS</a:t>
            </a:r>
            <a:r>
              <a:rPr lang="en-US" dirty="0"/>
              <a:t> API</a:t>
            </a:r>
            <a:endParaRPr dirty="0"/>
          </a:p>
        </p:txBody>
      </p:sp>
      <p:sp>
        <p:nvSpPr>
          <p:cNvPr id="10" name="Rectangle: Rounded Corners 9">
            <a:extLst>
              <a:ext uri="{FF2B5EF4-FFF2-40B4-BE49-F238E27FC236}">
                <a16:creationId xmlns:a16="http://schemas.microsoft.com/office/drawing/2014/main" id="{476F1699-CC0F-45CA-A555-579118F833B7}"/>
              </a:ext>
            </a:extLst>
          </p:cNvPr>
          <p:cNvSpPr>
            <a:spLocks noGrp="1"/>
          </p:cNvSpPr>
          <p:nvPr/>
        </p:nvSpPr>
        <p:spPr>
          <a:xfrm>
            <a:off x="3467100" y="1947863"/>
            <a:ext cx="1809750" cy="800100"/>
          </a:xfrm>
          <a:prstGeom prst="roundRect">
            <a:avLst>
              <a:gd name="adj" fmla="val 9524"/>
            </a:avLst>
          </a:prstGeom>
          <a:solidFill>
            <a:srgbClr val="F0F2F3"/>
          </a:solidFill>
          <a:ln w="9525">
            <a:solidFill>
              <a:srgbClr val="1674A5"/>
            </a:solidFill>
            <a:prstDash val="solid"/>
          </a:ln>
        </p:spPr>
        <p:txBody>
          <a:bodyPr/>
          <a:lstStyle/>
          <a:p>
            <a:endParaRPr lang="en-US"/>
          </a:p>
        </p:txBody>
      </p:sp>
      <p:sp>
        <p:nvSpPr>
          <p:cNvPr id="11" name="Rectangle 10">
            <a:extLst>
              <a:ext uri="{FF2B5EF4-FFF2-40B4-BE49-F238E27FC236}">
                <a16:creationId xmlns:a16="http://schemas.microsoft.com/office/drawing/2014/main" id="{6D0746BB-C219-4AE5-A14D-64C97282E962}"/>
              </a:ext>
            </a:extLst>
          </p:cNvPr>
          <p:cNvSpPr>
            <a:spLocks noGrp="1"/>
          </p:cNvSpPr>
          <p:nvPr/>
        </p:nvSpPr>
        <p:spPr>
          <a:xfrm>
            <a:off x="3581400" y="2119313"/>
            <a:ext cx="1581150" cy="457200"/>
          </a:xfrm>
          <a:prstGeom prst="rect">
            <a:avLst/>
          </a:prstGeom>
        </p:spPr>
        <p:txBody>
          <a:bodyPr wrap="square" lIns="0" tIns="0" rIns="0" bIns="0" anchor="ctr">
            <a:normAutofit/>
          </a:bodyPr>
          <a:lstStyle/>
          <a:p>
            <a:pPr algn="ctr">
              <a:defRPr sz="1500" b="1">
                <a:solidFill>
                  <a:srgbClr val="15191D"/>
                </a:solidFill>
                <a:latin typeface="Arial"/>
                <a:ea typeface="Arial"/>
                <a:cs typeface="Arial"/>
              </a:defRPr>
            </a:pPr>
            <a:r>
              <a:t>Airflow
ETL</a:t>
            </a:r>
          </a:p>
        </p:txBody>
      </p:sp>
      <p:sp>
        <p:nvSpPr>
          <p:cNvPr id="12" name="Rectangle: Rounded Corners 11">
            <a:extLst>
              <a:ext uri="{FF2B5EF4-FFF2-40B4-BE49-F238E27FC236}">
                <a16:creationId xmlns:a16="http://schemas.microsoft.com/office/drawing/2014/main" id="{C29A2BCB-A3A5-42FE-9DA7-957ADC934A25}"/>
              </a:ext>
            </a:extLst>
          </p:cNvPr>
          <p:cNvSpPr>
            <a:spLocks noGrp="1"/>
          </p:cNvSpPr>
          <p:nvPr/>
        </p:nvSpPr>
        <p:spPr>
          <a:xfrm>
            <a:off x="5772150" y="1947863"/>
            <a:ext cx="1809750" cy="800100"/>
          </a:xfrm>
          <a:prstGeom prst="roundRect">
            <a:avLst>
              <a:gd name="adj" fmla="val 9524"/>
            </a:avLst>
          </a:prstGeom>
          <a:solidFill>
            <a:srgbClr val="F0F2F3"/>
          </a:solidFill>
          <a:ln w="9525">
            <a:solidFill>
              <a:srgbClr val="1674A5"/>
            </a:solidFill>
            <a:prstDash val="solid"/>
          </a:ln>
        </p:spPr>
        <p:txBody>
          <a:bodyPr/>
          <a:lstStyle/>
          <a:p>
            <a:endParaRPr lang="en-US"/>
          </a:p>
        </p:txBody>
      </p:sp>
      <p:sp>
        <p:nvSpPr>
          <p:cNvPr id="13" name="Rectangle 12">
            <a:extLst>
              <a:ext uri="{FF2B5EF4-FFF2-40B4-BE49-F238E27FC236}">
                <a16:creationId xmlns:a16="http://schemas.microsoft.com/office/drawing/2014/main" id="{6954FA77-643F-42FA-A1E4-B5EA8F661F24}"/>
              </a:ext>
            </a:extLst>
          </p:cNvPr>
          <p:cNvSpPr>
            <a:spLocks noGrp="1"/>
          </p:cNvSpPr>
          <p:nvPr/>
        </p:nvSpPr>
        <p:spPr>
          <a:xfrm>
            <a:off x="5886450" y="2119313"/>
            <a:ext cx="1581150" cy="457200"/>
          </a:xfrm>
          <a:prstGeom prst="rect">
            <a:avLst/>
          </a:prstGeom>
        </p:spPr>
        <p:txBody>
          <a:bodyPr wrap="square" lIns="0" tIns="0" rIns="0" bIns="0" anchor="ctr">
            <a:normAutofit/>
          </a:bodyPr>
          <a:lstStyle/>
          <a:p>
            <a:pPr algn="ctr">
              <a:defRPr sz="1500" b="1">
                <a:solidFill>
                  <a:srgbClr val="15191D"/>
                </a:solidFill>
                <a:latin typeface="Arial"/>
                <a:ea typeface="Arial"/>
                <a:cs typeface="Arial"/>
              </a:defRPr>
            </a:pPr>
            <a:r>
              <a:t>PostgreSQL
history</a:t>
            </a:r>
          </a:p>
        </p:txBody>
      </p:sp>
      <p:sp>
        <p:nvSpPr>
          <p:cNvPr id="14" name="Rectangle: Rounded Corners 13">
            <a:extLst>
              <a:ext uri="{FF2B5EF4-FFF2-40B4-BE49-F238E27FC236}">
                <a16:creationId xmlns:a16="http://schemas.microsoft.com/office/drawing/2014/main" id="{168999F9-B7E5-4471-8146-86E24EB79196}"/>
              </a:ext>
            </a:extLst>
          </p:cNvPr>
          <p:cNvSpPr>
            <a:spLocks noGrp="1"/>
          </p:cNvSpPr>
          <p:nvPr/>
        </p:nvSpPr>
        <p:spPr>
          <a:xfrm>
            <a:off x="8077200" y="1947863"/>
            <a:ext cx="1809750" cy="800100"/>
          </a:xfrm>
          <a:prstGeom prst="roundRect">
            <a:avLst>
              <a:gd name="adj" fmla="val 9524"/>
            </a:avLst>
          </a:prstGeom>
          <a:solidFill>
            <a:srgbClr val="F0F2F3"/>
          </a:solidFill>
          <a:ln w="9525">
            <a:solidFill>
              <a:srgbClr val="1674A5"/>
            </a:solidFill>
            <a:prstDash val="solid"/>
          </a:ln>
        </p:spPr>
        <p:txBody>
          <a:bodyPr/>
          <a:lstStyle/>
          <a:p>
            <a:endParaRPr lang="en-US"/>
          </a:p>
        </p:txBody>
      </p:sp>
      <p:sp>
        <p:nvSpPr>
          <p:cNvPr id="15" name="Rectangle 14">
            <a:extLst>
              <a:ext uri="{FF2B5EF4-FFF2-40B4-BE49-F238E27FC236}">
                <a16:creationId xmlns:a16="http://schemas.microsoft.com/office/drawing/2014/main" id="{DE9B025C-A448-4C70-9F54-654FA669CD35}"/>
              </a:ext>
            </a:extLst>
          </p:cNvPr>
          <p:cNvSpPr>
            <a:spLocks noGrp="1"/>
          </p:cNvSpPr>
          <p:nvPr/>
        </p:nvSpPr>
        <p:spPr>
          <a:xfrm>
            <a:off x="8191500" y="2119313"/>
            <a:ext cx="1581150" cy="457200"/>
          </a:xfrm>
          <a:prstGeom prst="rect">
            <a:avLst/>
          </a:prstGeom>
        </p:spPr>
        <p:txBody>
          <a:bodyPr wrap="square" lIns="0" tIns="0" rIns="0" bIns="0" anchor="ctr">
            <a:normAutofit/>
          </a:bodyPr>
          <a:lstStyle/>
          <a:p>
            <a:pPr algn="ctr">
              <a:defRPr sz="1500" b="1">
                <a:solidFill>
                  <a:srgbClr val="15191D"/>
                </a:solidFill>
                <a:latin typeface="Arial"/>
                <a:ea typeface="Arial"/>
                <a:cs typeface="Arial"/>
              </a:defRPr>
            </a:pPr>
            <a:r>
              <a:rPr dirty="0"/>
              <a:t>Node API</a:t>
            </a:r>
          </a:p>
        </p:txBody>
      </p:sp>
      <p:sp>
        <p:nvSpPr>
          <p:cNvPr id="16" name="Rectangle: Rounded Corners 15">
            <a:extLst>
              <a:ext uri="{FF2B5EF4-FFF2-40B4-BE49-F238E27FC236}">
                <a16:creationId xmlns:a16="http://schemas.microsoft.com/office/drawing/2014/main" id="{1AF5FA3B-DD4F-47D0-ADD1-16D551B8101F}"/>
              </a:ext>
            </a:extLst>
          </p:cNvPr>
          <p:cNvSpPr>
            <a:spLocks noGrp="1"/>
          </p:cNvSpPr>
          <p:nvPr/>
        </p:nvSpPr>
        <p:spPr>
          <a:xfrm>
            <a:off x="10382250" y="1947863"/>
            <a:ext cx="1809750" cy="800100"/>
          </a:xfrm>
          <a:prstGeom prst="roundRect">
            <a:avLst>
              <a:gd name="adj" fmla="val 9524"/>
            </a:avLst>
          </a:prstGeom>
          <a:solidFill>
            <a:srgbClr val="E8F5EE"/>
          </a:solidFill>
          <a:ln w="9525">
            <a:solidFill>
              <a:srgbClr val="26734D"/>
            </a:solidFill>
            <a:prstDash val="solid"/>
          </a:ln>
        </p:spPr>
        <p:txBody>
          <a:bodyPr/>
          <a:lstStyle/>
          <a:p>
            <a:endParaRPr lang="en-US"/>
          </a:p>
        </p:txBody>
      </p:sp>
      <p:sp>
        <p:nvSpPr>
          <p:cNvPr id="17" name="Rectangle 16">
            <a:extLst>
              <a:ext uri="{FF2B5EF4-FFF2-40B4-BE49-F238E27FC236}">
                <a16:creationId xmlns:a16="http://schemas.microsoft.com/office/drawing/2014/main" id="{D74210D6-01BC-42BD-8DE6-39C9C3EECCBA}"/>
              </a:ext>
            </a:extLst>
          </p:cNvPr>
          <p:cNvSpPr>
            <a:spLocks noGrp="1"/>
          </p:cNvSpPr>
          <p:nvPr/>
        </p:nvSpPr>
        <p:spPr>
          <a:xfrm>
            <a:off x="10496550" y="2119313"/>
            <a:ext cx="1581150" cy="457200"/>
          </a:xfrm>
          <a:prstGeom prst="rect">
            <a:avLst/>
          </a:prstGeom>
        </p:spPr>
        <p:txBody>
          <a:bodyPr wrap="square" lIns="0" tIns="0" rIns="0" bIns="0" anchor="ctr">
            <a:normAutofit/>
          </a:bodyPr>
          <a:lstStyle/>
          <a:p>
            <a:pPr algn="ctr">
              <a:defRPr sz="1500" b="1">
                <a:solidFill>
                  <a:srgbClr val="15191D"/>
                </a:solidFill>
                <a:latin typeface="Arial"/>
                <a:ea typeface="Arial"/>
                <a:cs typeface="Arial"/>
              </a:defRPr>
            </a:pPr>
            <a:r>
              <a:t>React
dashboard</a:t>
            </a:r>
          </a:p>
        </p:txBody>
      </p:sp>
      <p:sp>
        <p:nvSpPr>
          <p:cNvPr id="18" name="Rectangle: Rounded Corners 17">
            <a:extLst>
              <a:ext uri="{FF2B5EF4-FFF2-40B4-BE49-F238E27FC236}">
                <a16:creationId xmlns:a16="http://schemas.microsoft.com/office/drawing/2014/main" id="{A7AEB246-0673-4EF0-AC5E-952D8C73A21B}"/>
              </a:ext>
            </a:extLst>
          </p:cNvPr>
          <p:cNvSpPr>
            <a:spLocks noGrp="1"/>
          </p:cNvSpPr>
          <p:nvPr/>
        </p:nvSpPr>
        <p:spPr>
          <a:xfrm>
            <a:off x="137583" y="3709988"/>
            <a:ext cx="1809750" cy="800100"/>
          </a:xfrm>
          <a:prstGeom prst="roundRect">
            <a:avLst>
              <a:gd name="adj" fmla="val 9524"/>
            </a:avLst>
          </a:prstGeom>
          <a:solidFill>
            <a:srgbClr val="FFF0F1"/>
          </a:solidFill>
          <a:ln w="9525">
            <a:solidFill>
              <a:srgbClr val="D9232E"/>
            </a:solidFill>
            <a:prstDash val="solid"/>
          </a:ln>
        </p:spPr>
        <p:txBody>
          <a:bodyPr/>
          <a:lstStyle/>
          <a:p>
            <a:endParaRPr lang="en-US"/>
          </a:p>
        </p:txBody>
      </p:sp>
      <p:sp>
        <p:nvSpPr>
          <p:cNvPr id="19" name="Rectangle 18">
            <a:extLst>
              <a:ext uri="{FF2B5EF4-FFF2-40B4-BE49-F238E27FC236}">
                <a16:creationId xmlns:a16="http://schemas.microsoft.com/office/drawing/2014/main" id="{A8C24319-AC58-4A8C-AE4C-11C1A32D0FB6}"/>
              </a:ext>
            </a:extLst>
          </p:cNvPr>
          <p:cNvSpPr>
            <a:spLocks noGrp="1"/>
          </p:cNvSpPr>
          <p:nvPr/>
        </p:nvSpPr>
        <p:spPr>
          <a:xfrm>
            <a:off x="251883" y="3881438"/>
            <a:ext cx="1581150" cy="457200"/>
          </a:xfrm>
          <a:prstGeom prst="rect">
            <a:avLst/>
          </a:prstGeom>
        </p:spPr>
        <p:txBody>
          <a:bodyPr wrap="square" lIns="0" tIns="0" rIns="0" bIns="0" anchor="ctr">
            <a:normAutofit fontScale="91407"/>
          </a:bodyPr>
          <a:lstStyle/>
          <a:p>
            <a:pPr algn="ctr">
              <a:defRPr sz="1500" b="1">
                <a:solidFill>
                  <a:srgbClr val="15191D"/>
                </a:solidFill>
                <a:latin typeface="Arial"/>
                <a:ea typeface="Arial"/>
                <a:cs typeface="Arial"/>
              </a:defRPr>
            </a:pPr>
            <a:r>
              <a:rPr dirty="0"/>
              <a:t>Capital Bikeshare
GBFS</a:t>
            </a:r>
            <a:r>
              <a:rPr lang="en-US" dirty="0"/>
              <a:t> API</a:t>
            </a:r>
            <a:endParaRPr dirty="0"/>
          </a:p>
        </p:txBody>
      </p:sp>
      <p:sp>
        <p:nvSpPr>
          <p:cNvPr id="20" name="Rectangle: Rounded Corners 19">
            <a:extLst>
              <a:ext uri="{FF2B5EF4-FFF2-40B4-BE49-F238E27FC236}">
                <a16:creationId xmlns:a16="http://schemas.microsoft.com/office/drawing/2014/main" id="{6D2B1D70-E7DC-4AD5-A705-C61B68E5881A}"/>
              </a:ext>
            </a:extLst>
          </p:cNvPr>
          <p:cNvSpPr>
            <a:spLocks noGrp="1"/>
          </p:cNvSpPr>
          <p:nvPr/>
        </p:nvSpPr>
        <p:spPr>
          <a:xfrm>
            <a:off x="2442633" y="3709988"/>
            <a:ext cx="1809750" cy="800100"/>
          </a:xfrm>
          <a:prstGeom prst="roundRect">
            <a:avLst>
              <a:gd name="adj" fmla="val 9524"/>
            </a:avLst>
          </a:prstGeom>
          <a:solidFill>
            <a:srgbClr val="F0F2F3"/>
          </a:solidFill>
          <a:ln w="9525">
            <a:solidFill>
              <a:srgbClr val="D9232E"/>
            </a:solidFill>
            <a:prstDash val="solid"/>
          </a:ln>
        </p:spPr>
        <p:txBody>
          <a:bodyPr/>
          <a:lstStyle/>
          <a:p>
            <a:endParaRPr lang="en-US"/>
          </a:p>
        </p:txBody>
      </p:sp>
      <p:sp>
        <p:nvSpPr>
          <p:cNvPr id="21" name="Rectangle 20">
            <a:extLst>
              <a:ext uri="{FF2B5EF4-FFF2-40B4-BE49-F238E27FC236}">
                <a16:creationId xmlns:a16="http://schemas.microsoft.com/office/drawing/2014/main" id="{07E0E3C2-3728-4DB9-A25C-22ECFF5176B6}"/>
              </a:ext>
            </a:extLst>
          </p:cNvPr>
          <p:cNvSpPr>
            <a:spLocks noGrp="1"/>
          </p:cNvSpPr>
          <p:nvPr/>
        </p:nvSpPr>
        <p:spPr>
          <a:xfrm>
            <a:off x="2556933" y="3881438"/>
            <a:ext cx="1581150" cy="457200"/>
          </a:xfrm>
          <a:prstGeom prst="rect">
            <a:avLst/>
          </a:prstGeom>
        </p:spPr>
        <p:txBody>
          <a:bodyPr wrap="square" lIns="0" tIns="0" rIns="0" bIns="0" anchor="ctr">
            <a:normAutofit/>
          </a:bodyPr>
          <a:lstStyle/>
          <a:p>
            <a:pPr algn="ctr">
              <a:defRPr sz="1500" b="1">
                <a:solidFill>
                  <a:srgbClr val="15191D"/>
                </a:solidFill>
                <a:latin typeface="Arial"/>
                <a:ea typeface="Arial"/>
                <a:cs typeface="Arial"/>
              </a:defRPr>
            </a:pPr>
            <a:r>
              <a:t>Station
producer</a:t>
            </a:r>
          </a:p>
        </p:txBody>
      </p:sp>
      <p:sp>
        <p:nvSpPr>
          <p:cNvPr id="22" name="Rectangle: Rounded Corners 21">
            <a:extLst>
              <a:ext uri="{FF2B5EF4-FFF2-40B4-BE49-F238E27FC236}">
                <a16:creationId xmlns:a16="http://schemas.microsoft.com/office/drawing/2014/main" id="{968C6AF6-E824-42AC-BD53-549DFF6AAA9B}"/>
              </a:ext>
            </a:extLst>
          </p:cNvPr>
          <p:cNvSpPr>
            <a:spLocks noGrp="1"/>
          </p:cNvSpPr>
          <p:nvPr/>
        </p:nvSpPr>
        <p:spPr>
          <a:xfrm>
            <a:off x="4747683" y="3709988"/>
            <a:ext cx="1809750" cy="800100"/>
          </a:xfrm>
          <a:prstGeom prst="roundRect">
            <a:avLst>
              <a:gd name="adj" fmla="val 9524"/>
            </a:avLst>
          </a:prstGeom>
          <a:solidFill>
            <a:srgbClr val="F0F2F3"/>
          </a:solidFill>
          <a:ln w="9525">
            <a:solidFill>
              <a:srgbClr val="D9232E"/>
            </a:solidFill>
            <a:prstDash val="solid"/>
          </a:ln>
        </p:spPr>
        <p:txBody>
          <a:bodyPr/>
          <a:lstStyle/>
          <a:p>
            <a:endParaRPr lang="en-US"/>
          </a:p>
        </p:txBody>
      </p:sp>
      <p:sp>
        <p:nvSpPr>
          <p:cNvPr id="23" name="Rectangle 22">
            <a:extLst>
              <a:ext uri="{FF2B5EF4-FFF2-40B4-BE49-F238E27FC236}">
                <a16:creationId xmlns:a16="http://schemas.microsoft.com/office/drawing/2014/main" id="{FF70CD94-2972-404A-BB29-27B3F30FF863}"/>
              </a:ext>
            </a:extLst>
          </p:cNvPr>
          <p:cNvSpPr>
            <a:spLocks noGrp="1"/>
          </p:cNvSpPr>
          <p:nvPr/>
        </p:nvSpPr>
        <p:spPr>
          <a:xfrm>
            <a:off x="4861983" y="3881438"/>
            <a:ext cx="1581150" cy="457200"/>
          </a:xfrm>
          <a:prstGeom prst="rect">
            <a:avLst/>
          </a:prstGeom>
        </p:spPr>
        <p:txBody>
          <a:bodyPr wrap="square" lIns="0" tIns="0" rIns="0" bIns="0" anchor="ctr">
            <a:normAutofit/>
          </a:bodyPr>
          <a:lstStyle/>
          <a:p>
            <a:pPr algn="ctr">
              <a:defRPr sz="1500" b="1">
                <a:solidFill>
                  <a:srgbClr val="15191D"/>
                </a:solidFill>
                <a:latin typeface="Arial"/>
                <a:ea typeface="Arial"/>
                <a:cs typeface="Arial"/>
              </a:defRPr>
            </a:pPr>
            <a:r>
              <a:t>Kafka topic
station-status</a:t>
            </a:r>
          </a:p>
        </p:txBody>
      </p:sp>
      <p:sp>
        <p:nvSpPr>
          <p:cNvPr id="24" name="Rectangle: Rounded Corners 23">
            <a:extLst>
              <a:ext uri="{FF2B5EF4-FFF2-40B4-BE49-F238E27FC236}">
                <a16:creationId xmlns:a16="http://schemas.microsoft.com/office/drawing/2014/main" id="{9C2F6633-A514-478C-88F1-0EB058FF0DDC}"/>
              </a:ext>
            </a:extLst>
          </p:cNvPr>
          <p:cNvSpPr>
            <a:spLocks noGrp="1"/>
          </p:cNvSpPr>
          <p:nvPr/>
        </p:nvSpPr>
        <p:spPr>
          <a:xfrm>
            <a:off x="7052733" y="3709988"/>
            <a:ext cx="1809750" cy="800100"/>
          </a:xfrm>
          <a:prstGeom prst="roundRect">
            <a:avLst>
              <a:gd name="adj" fmla="val 9524"/>
            </a:avLst>
          </a:prstGeom>
          <a:solidFill>
            <a:srgbClr val="F0F2F3"/>
          </a:solidFill>
          <a:ln w="9525">
            <a:solidFill>
              <a:srgbClr val="D9232E"/>
            </a:solidFill>
            <a:prstDash val="solid"/>
          </a:ln>
        </p:spPr>
        <p:txBody>
          <a:bodyPr/>
          <a:lstStyle/>
          <a:p>
            <a:endParaRPr lang="en-US"/>
          </a:p>
        </p:txBody>
      </p:sp>
      <p:sp>
        <p:nvSpPr>
          <p:cNvPr id="25" name="Rectangle 24">
            <a:extLst>
              <a:ext uri="{FF2B5EF4-FFF2-40B4-BE49-F238E27FC236}">
                <a16:creationId xmlns:a16="http://schemas.microsoft.com/office/drawing/2014/main" id="{07F89646-2B2C-43DC-A05B-82B0BBB128D9}"/>
              </a:ext>
            </a:extLst>
          </p:cNvPr>
          <p:cNvSpPr>
            <a:spLocks noGrp="1"/>
          </p:cNvSpPr>
          <p:nvPr/>
        </p:nvSpPr>
        <p:spPr>
          <a:xfrm>
            <a:off x="7167033" y="3881438"/>
            <a:ext cx="1581150" cy="457200"/>
          </a:xfrm>
          <a:prstGeom prst="rect">
            <a:avLst/>
          </a:prstGeom>
        </p:spPr>
        <p:txBody>
          <a:bodyPr wrap="square" lIns="0" tIns="0" rIns="0" bIns="0" anchor="ctr">
            <a:normAutofit/>
          </a:bodyPr>
          <a:lstStyle/>
          <a:p>
            <a:pPr algn="ctr">
              <a:defRPr sz="1500" b="1">
                <a:solidFill>
                  <a:srgbClr val="15191D"/>
                </a:solidFill>
                <a:latin typeface="Arial"/>
                <a:ea typeface="Arial"/>
                <a:cs typeface="Arial"/>
              </a:defRPr>
            </a:pPr>
            <a:r>
              <a:t>Alert
consumer</a:t>
            </a:r>
          </a:p>
        </p:txBody>
      </p:sp>
      <p:cxnSp>
        <p:nvCxnSpPr>
          <p:cNvPr id="7" name="Straight Arrow Connector 6">
            <a:extLst>
              <a:ext uri="{FF2B5EF4-FFF2-40B4-BE49-F238E27FC236}">
                <a16:creationId xmlns:a16="http://schemas.microsoft.com/office/drawing/2014/main" id="{48B0F057-4ACF-0030-F36F-5DF0339D7D02}"/>
              </a:ext>
            </a:extLst>
          </p:cNvPr>
          <p:cNvCxnSpPr>
            <a:stCxn id="24" idx="0"/>
            <a:endCxn id="12" idx="2"/>
          </p:cNvCxnSpPr>
          <p:nvPr/>
        </p:nvCxnSpPr>
        <p:spPr>
          <a:xfrm flipH="1" flipV="1">
            <a:off x="6677025" y="2747963"/>
            <a:ext cx="1280583" cy="9620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423F71FD-EBF6-B453-EE44-0F6CF3A444A1}"/>
              </a:ext>
            </a:extLst>
          </p:cNvPr>
          <p:cNvCxnSpPr>
            <a:endCxn id="10" idx="1"/>
          </p:cNvCxnSpPr>
          <p:nvPr/>
        </p:nvCxnSpPr>
        <p:spPr>
          <a:xfrm>
            <a:off x="3039533" y="2347913"/>
            <a:ext cx="42756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4903AFFB-A1F1-7F59-E94F-8A7D8ECC74CC}"/>
              </a:ext>
            </a:extLst>
          </p:cNvPr>
          <p:cNvCxnSpPr>
            <a:stCxn id="10" idx="3"/>
            <a:endCxn id="12" idx="1"/>
          </p:cNvCxnSpPr>
          <p:nvPr/>
        </p:nvCxnSpPr>
        <p:spPr>
          <a:xfrm>
            <a:off x="5276850" y="2347913"/>
            <a:ext cx="4953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2182996B-1C63-D32B-6B1B-7DF7A05A38AA}"/>
              </a:ext>
            </a:extLst>
          </p:cNvPr>
          <p:cNvCxnSpPr>
            <a:stCxn id="12" idx="3"/>
            <a:endCxn id="14" idx="1"/>
          </p:cNvCxnSpPr>
          <p:nvPr/>
        </p:nvCxnSpPr>
        <p:spPr>
          <a:xfrm>
            <a:off x="7581900" y="2347913"/>
            <a:ext cx="4953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6FF509C4-44EC-7D30-A886-26335163B787}"/>
              </a:ext>
            </a:extLst>
          </p:cNvPr>
          <p:cNvCxnSpPr>
            <a:stCxn id="14" idx="3"/>
            <a:endCxn id="16" idx="1"/>
          </p:cNvCxnSpPr>
          <p:nvPr/>
        </p:nvCxnSpPr>
        <p:spPr>
          <a:xfrm>
            <a:off x="9886950" y="2347913"/>
            <a:ext cx="4953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4FEF218F-7D5B-FF89-0109-FCDD8CE6BA10}"/>
              </a:ext>
            </a:extLst>
          </p:cNvPr>
          <p:cNvCxnSpPr>
            <a:stCxn id="18" idx="3"/>
            <a:endCxn id="20" idx="1"/>
          </p:cNvCxnSpPr>
          <p:nvPr/>
        </p:nvCxnSpPr>
        <p:spPr>
          <a:xfrm>
            <a:off x="1947333" y="4110038"/>
            <a:ext cx="4953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0DC8BB8C-865F-A2C6-4BE9-D8503BFD879D}"/>
              </a:ext>
            </a:extLst>
          </p:cNvPr>
          <p:cNvCxnSpPr>
            <a:stCxn id="20" idx="3"/>
            <a:endCxn id="22" idx="1"/>
          </p:cNvCxnSpPr>
          <p:nvPr/>
        </p:nvCxnSpPr>
        <p:spPr>
          <a:xfrm>
            <a:off x="4252383" y="4110038"/>
            <a:ext cx="4953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1BA3CA73-1C81-F564-F696-AEAB2CC78682}"/>
              </a:ext>
            </a:extLst>
          </p:cNvPr>
          <p:cNvCxnSpPr>
            <a:stCxn id="22" idx="3"/>
            <a:endCxn id="24" idx="1"/>
          </p:cNvCxnSpPr>
          <p:nvPr/>
        </p:nvCxnSpPr>
        <p:spPr>
          <a:xfrm>
            <a:off x="6557433" y="4110038"/>
            <a:ext cx="4953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Rectangle: Rounded Corners 50">
            <a:extLst>
              <a:ext uri="{FF2B5EF4-FFF2-40B4-BE49-F238E27FC236}">
                <a16:creationId xmlns:a16="http://schemas.microsoft.com/office/drawing/2014/main" id="{65C95296-B855-E3E4-6C45-FB7E735F5697}"/>
              </a:ext>
            </a:extLst>
          </p:cNvPr>
          <p:cNvSpPr>
            <a:spLocks noGrp="1"/>
          </p:cNvSpPr>
          <p:nvPr/>
        </p:nvSpPr>
        <p:spPr>
          <a:xfrm>
            <a:off x="137584" y="4763035"/>
            <a:ext cx="11940116" cy="1899703"/>
          </a:xfrm>
          <a:prstGeom prst="roundRect">
            <a:avLst>
              <a:gd name="adj" fmla="val 2797"/>
            </a:avLst>
          </a:prstGeom>
          <a:solidFill>
            <a:srgbClr val="EAF6FB"/>
          </a:solidFill>
          <a:ln w="9525">
            <a:solidFill>
              <a:srgbClr val="C9CED2"/>
            </a:solidFill>
            <a:prstDash val="solid"/>
          </a:ln>
        </p:spPr>
        <p:txBody>
          <a:bodyPr/>
          <a:lstStyle/>
          <a:p>
            <a:endParaRPr lang="en-US"/>
          </a:p>
        </p:txBody>
      </p:sp>
      <p:sp>
        <p:nvSpPr>
          <p:cNvPr id="53" name="Rectangle 52">
            <a:extLst>
              <a:ext uri="{FF2B5EF4-FFF2-40B4-BE49-F238E27FC236}">
                <a16:creationId xmlns:a16="http://schemas.microsoft.com/office/drawing/2014/main" id="{0520F05F-1EE5-02B9-3BF6-1F35A94D5A01}"/>
              </a:ext>
            </a:extLst>
          </p:cNvPr>
          <p:cNvSpPr>
            <a:spLocks noGrp="1"/>
          </p:cNvSpPr>
          <p:nvPr/>
        </p:nvSpPr>
        <p:spPr>
          <a:xfrm>
            <a:off x="642494" y="5043039"/>
            <a:ext cx="11308206" cy="1827672"/>
          </a:xfrm>
          <a:prstGeom prst="rect">
            <a:avLst/>
          </a:prstGeom>
        </p:spPr>
        <p:txBody>
          <a:bodyPr wrap="square" lIns="0" tIns="0" rIns="0" bIns="0" anchor="t">
            <a:normAutofit/>
          </a:bodyPr>
          <a:lstStyle/>
          <a:p>
            <a:r>
              <a:rPr lang="en-US" sz="1400" dirty="0"/>
              <a:t>The platform uses two connected data-processing paths. In the batch path, Apache Airflow runs an ETL pipeline every five minutes to retrieve Capital Bikeshare GBFS data, clean and validate it, and store raw data, station information, and availability history in PostgreSQL. In the streaming path, the station producer retrieves new observations every minute and publishes them to the Kafka station-status topic. The alert consumer processes these events, identifies stations at risk of bike depletion, and stores warning or critical alerts in the same PostgreSQL database. The Express API reads station information, historical data, and active alerts from PostgreSQL and provides them to the React dashboard, where operators can monitor inventory, view alerts, inspect station history, and explore station locations on a map. All components run together as an isolated and reproducible environment using Docker Compose.</a:t>
            </a:r>
          </a:p>
        </p:txBody>
      </p:sp>
    </p:spTree>
    <p:extLst>
      <p:ext uri="{BB962C8B-B14F-4D97-AF65-F5344CB8AC3E}">
        <p14:creationId xmlns:p14="http://schemas.microsoft.com/office/powerpoint/2010/main" val="1567715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9B8A19F4-04E5-4FB9-AC53-F5DFC8A2AAEF}"/>
              </a:ext>
            </a:extLst>
          </p:cNvPr>
          <p:cNvSpPr>
            <a:spLocks noGrp="1"/>
          </p:cNvSpPr>
          <p:nvPr/>
        </p:nvSpPr>
        <p:spPr>
          <a:xfrm>
            <a:off x="400050" y="276225"/>
            <a:ext cx="4953000" cy="209550"/>
          </a:xfrm>
          <a:prstGeom prst="rect">
            <a:avLst/>
          </a:prstGeom>
        </p:spPr>
        <p:txBody>
          <a:bodyPr wrap="square" lIns="0" tIns="0" rIns="0" bIns="0" anchor="t">
            <a:normAutofit/>
          </a:bodyPr>
          <a:lstStyle/>
          <a:p>
            <a:pPr algn="l">
              <a:defRPr sz="975" b="1">
                <a:solidFill>
                  <a:srgbClr val="D9232E"/>
                </a:solidFill>
                <a:latin typeface="Arial"/>
                <a:ea typeface="Arial"/>
                <a:cs typeface="Arial"/>
              </a:defRPr>
            </a:pPr>
            <a:r>
              <a:t>CAPITAL BIKESHARE OPERATIONS</a:t>
            </a:r>
          </a:p>
        </p:txBody>
      </p:sp>
      <p:sp>
        <p:nvSpPr>
          <p:cNvPr id="2" name="Rectangle 1">
            <a:extLst>
              <a:ext uri="{FF2B5EF4-FFF2-40B4-BE49-F238E27FC236}">
                <a16:creationId xmlns:a16="http://schemas.microsoft.com/office/drawing/2014/main" id="{98374FC4-9F5E-4CAE-9FDD-E8E8A4E8655A}"/>
              </a:ext>
            </a:extLst>
          </p:cNvPr>
          <p:cNvSpPr>
            <a:spLocks noGrp="1"/>
          </p:cNvSpPr>
          <p:nvPr/>
        </p:nvSpPr>
        <p:spPr>
          <a:xfrm>
            <a:off x="400050" y="581025"/>
            <a:ext cx="11391900" cy="628650"/>
          </a:xfrm>
          <a:prstGeom prst="rect">
            <a:avLst/>
          </a:prstGeom>
        </p:spPr>
        <p:txBody>
          <a:bodyPr wrap="square" lIns="0" tIns="0" rIns="0" bIns="0" anchor="t">
            <a:normAutofit/>
          </a:bodyPr>
          <a:lstStyle/>
          <a:p>
            <a:pPr algn="l">
              <a:defRPr sz="3000" b="1">
                <a:solidFill>
                  <a:srgbClr val="15191D"/>
                </a:solidFill>
                <a:latin typeface="Arial"/>
                <a:ea typeface="Arial"/>
                <a:cs typeface="Arial"/>
              </a:defRPr>
            </a:pPr>
            <a:r>
              <a:rPr lang="en-US" dirty="0"/>
              <a:t>Docker Configuration</a:t>
            </a:r>
            <a:endParaRPr dirty="0"/>
          </a:p>
        </p:txBody>
      </p:sp>
      <p:cxnSp>
        <p:nvCxnSpPr>
          <p:cNvPr id="23" name="Straight Arrow Connector 22"/>
          <p:cNvCxnSpPr/>
          <p:nvPr/>
        </p:nvCxnSpPr>
        <p:spPr>
          <a:xfrm>
            <a:off x="400050" y="1304925"/>
            <a:ext cx="11391900" cy="9525"/>
          </a:xfrm>
          <a:prstGeom prst="straightConnector1">
            <a:avLst/>
          </a:prstGeom>
          <a:ln w="9525">
            <a:solidFill>
              <a:srgbClr val="C9CED2"/>
            </a:solidFill>
            <a:prstDash val="solid"/>
          </a:ln>
        </p:spPr>
      </p:cxnSp>
      <p:sp>
        <p:nvSpPr>
          <p:cNvPr id="5" name="Rectangle: Rounded Corners 4">
            <a:extLst>
              <a:ext uri="{FF2B5EF4-FFF2-40B4-BE49-F238E27FC236}">
                <a16:creationId xmlns:a16="http://schemas.microsoft.com/office/drawing/2014/main" id="{D35044B4-CED6-4F97-B68B-C99A645A61C8}"/>
              </a:ext>
            </a:extLst>
          </p:cNvPr>
          <p:cNvSpPr>
            <a:spLocks noGrp="1"/>
          </p:cNvSpPr>
          <p:nvPr/>
        </p:nvSpPr>
        <p:spPr>
          <a:xfrm>
            <a:off x="67733" y="2244724"/>
            <a:ext cx="3776133" cy="2763305"/>
          </a:xfrm>
          <a:prstGeom prst="roundRect">
            <a:avLst>
              <a:gd name="adj" fmla="val 2797"/>
            </a:avLst>
          </a:prstGeom>
          <a:solidFill>
            <a:srgbClr val="EAF6FB"/>
          </a:solidFill>
          <a:ln w="9525">
            <a:solidFill>
              <a:srgbClr val="C9CED2"/>
            </a:solidFill>
            <a:prstDash val="solid"/>
          </a:ln>
        </p:spPr>
        <p:txBody>
          <a:bodyPr/>
          <a:lstStyle/>
          <a:p>
            <a:endParaRPr lang="en-US"/>
          </a:p>
        </p:txBody>
      </p:sp>
      <p:sp>
        <p:nvSpPr>
          <p:cNvPr id="7" name="Rectangle 6">
            <a:extLst>
              <a:ext uri="{FF2B5EF4-FFF2-40B4-BE49-F238E27FC236}">
                <a16:creationId xmlns:a16="http://schemas.microsoft.com/office/drawing/2014/main" id="{AE2D5A61-9CC2-494F-8932-CB1E3ED26C2C}"/>
              </a:ext>
            </a:extLst>
          </p:cNvPr>
          <p:cNvSpPr>
            <a:spLocks noGrp="1"/>
          </p:cNvSpPr>
          <p:nvPr/>
        </p:nvSpPr>
        <p:spPr>
          <a:xfrm>
            <a:off x="281516" y="2349500"/>
            <a:ext cx="3562350" cy="2658529"/>
          </a:xfrm>
          <a:prstGeom prst="rect">
            <a:avLst/>
          </a:prstGeom>
        </p:spPr>
        <p:txBody>
          <a:bodyPr wrap="square" lIns="0" tIns="0" rIns="0" bIns="0" anchor="t">
            <a:normAutofit fontScale="92500"/>
          </a:bodyPr>
          <a:lstStyle/>
          <a:p>
            <a:r>
              <a:rPr lang="en-US" sz="1100" dirty="0"/>
              <a:t>Complete application running as one Docker Compose project. Docker Compose creates and connects nine containers, with each container responsible for one part of the system.</a:t>
            </a:r>
          </a:p>
          <a:p>
            <a:endParaRPr lang="en-US" sz="1100" dirty="0"/>
          </a:p>
          <a:p>
            <a:pPr marL="285750" lvl="0" indent="-285750">
              <a:buFont typeface="Arial" panose="020B0604020202020204" pitchFamily="34" charset="0"/>
              <a:buChar char="•"/>
            </a:pPr>
            <a:r>
              <a:rPr lang="en-US" sz="1100" b="1" dirty="0"/>
              <a:t>client-1</a:t>
            </a:r>
            <a:r>
              <a:rPr lang="en-US" sz="1100" dirty="0"/>
              <a:t>: Serves the React dashboard on port 5173.</a:t>
            </a:r>
          </a:p>
          <a:p>
            <a:pPr marL="285750" lvl="0" indent="-285750">
              <a:buFont typeface="Arial" panose="020B0604020202020204" pitchFamily="34" charset="0"/>
              <a:buChar char="•"/>
            </a:pPr>
            <a:r>
              <a:rPr lang="en-US" sz="1100" b="1" dirty="0"/>
              <a:t>server-1</a:t>
            </a:r>
            <a:r>
              <a:rPr lang="en-US" sz="1100" dirty="0"/>
              <a:t>: Provides the Express API on port 5000.</a:t>
            </a:r>
          </a:p>
          <a:p>
            <a:pPr marL="285750" lvl="0" indent="-285750">
              <a:buFont typeface="Arial" panose="020B0604020202020204" pitchFamily="34" charset="0"/>
              <a:buChar char="•"/>
            </a:pPr>
            <a:r>
              <a:rPr lang="en-US" sz="1100" b="1" dirty="0"/>
              <a:t>db-1</a:t>
            </a:r>
            <a:r>
              <a:rPr lang="en-US" sz="1100" dirty="0"/>
              <a:t>: Runs PostgreSQL 18. Port 5433 on the host maps to PostgreSQL's internal port 5432.</a:t>
            </a:r>
          </a:p>
          <a:p>
            <a:pPr marL="285750" lvl="0" indent="-285750">
              <a:buFont typeface="Arial" panose="020B0604020202020204" pitchFamily="34" charset="0"/>
              <a:buChar char="•"/>
            </a:pPr>
            <a:r>
              <a:rPr lang="en-US" sz="1100" b="1" dirty="0"/>
              <a:t>airflow-1</a:t>
            </a:r>
            <a:r>
              <a:rPr lang="en-US" sz="1100" dirty="0"/>
              <a:t>: Schedules and monitors the ETL pipeline through port 8080.</a:t>
            </a:r>
          </a:p>
          <a:p>
            <a:pPr marL="285750" lvl="0" indent="-285750">
              <a:buFont typeface="Arial" panose="020B0604020202020204" pitchFamily="34" charset="0"/>
              <a:buChar char="•"/>
            </a:pPr>
            <a:r>
              <a:rPr lang="en-US" sz="1100" b="1" dirty="0"/>
              <a:t>kafka-1</a:t>
            </a:r>
            <a:r>
              <a:rPr lang="en-US" sz="1100" dirty="0"/>
              <a:t>: Runs the Kafka broker and exposes port 9092.</a:t>
            </a:r>
          </a:p>
          <a:p>
            <a:pPr marL="285750" lvl="0" indent="-285750">
              <a:buFont typeface="Arial" panose="020B0604020202020204" pitchFamily="34" charset="0"/>
              <a:buChar char="•"/>
            </a:pPr>
            <a:r>
              <a:rPr lang="en-US" sz="1100" b="1" dirty="0"/>
              <a:t>station-producer-1</a:t>
            </a:r>
            <a:r>
              <a:rPr lang="en-US" sz="1100" dirty="0"/>
              <a:t>: Fetches station data and publishes new observations to Kafka.</a:t>
            </a:r>
          </a:p>
          <a:p>
            <a:pPr marL="285750" lvl="0" indent="-285750">
              <a:buFont typeface="Arial" panose="020B0604020202020204" pitchFamily="34" charset="0"/>
              <a:buChar char="•"/>
            </a:pPr>
            <a:r>
              <a:rPr lang="en-US" sz="1100" b="1" dirty="0"/>
              <a:t>alert-consumer-1</a:t>
            </a:r>
            <a:r>
              <a:rPr lang="en-US" sz="1100" dirty="0"/>
              <a:t>: Consumes Kafka events, detects depletion risks, and stores alerts in PostgreSQL.</a:t>
            </a:r>
          </a:p>
          <a:p>
            <a:pPr marL="285750" lvl="0" indent="-285750">
              <a:buFont typeface="Arial" panose="020B0604020202020204" pitchFamily="34" charset="0"/>
              <a:buChar char="•"/>
            </a:pPr>
            <a:r>
              <a:rPr lang="en-US" sz="1100" b="1" dirty="0"/>
              <a:t>kafka-init-1</a:t>
            </a:r>
            <a:r>
              <a:rPr lang="en-US" sz="1100" dirty="0"/>
              <a:t>: Creates the station-status topic and then exits.</a:t>
            </a:r>
          </a:p>
          <a:p>
            <a:pPr marL="285750" lvl="0" indent="-285750">
              <a:buFont typeface="Arial" panose="020B0604020202020204" pitchFamily="34" charset="0"/>
              <a:buChar char="•"/>
            </a:pPr>
            <a:r>
              <a:rPr lang="en-US" sz="1100" b="1" dirty="0"/>
              <a:t>db-schema-1</a:t>
            </a:r>
            <a:r>
              <a:rPr lang="en-US" sz="1100" dirty="0"/>
              <a:t>: Applies the database schema and then exits.</a:t>
            </a:r>
          </a:p>
        </p:txBody>
      </p:sp>
      <p:pic>
        <p:nvPicPr>
          <p:cNvPr id="4" name="Picture 3">
            <a:extLst>
              <a:ext uri="{FF2B5EF4-FFF2-40B4-BE49-F238E27FC236}">
                <a16:creationId xmlns:a16="http://schemas.microsoft.com/office/drawing/2014/main" id="{FF4C7546-3A47-CA8E-3FA0-958B348037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14038" y="1382182"/>
            <a:ext cx="8277961" cy="4888186"/>
          </a:xfrm>
          <a:prstGeom prst="rect">
            <a:avLst/>
          </a:prstGeom>
        </p:spPr>
      </p:pic>
    </p:spTree>
    <p:extLst>
      <p:ext uri="{BB962C8B-B14F-4D97-AF65-F5344CB8AC3E}">
        <p14:creationId xmlns:p14="http://schemas.microsoft.com/office/powerpoint/2010/main" val="1809543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87D04-6CD9-A964-AD4D-40CA6F157E7E}"/>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9DD936DF-D511-C3B8-5929-82B333B5D261}"/>
              </a:ext>
            </a:extLst>
          </p:cNvPr>
          <p:cNvSpPr>
            <a:spLocks noGrp="1"/>
          </p:cNvSpPr>
          <p:nvPr/>
        </p:nvSpPr>
        <p:spPr>
          <a:xfrm>
            <a:off x="400050" y="276225"/>
            <a:ext cx="4953000" cy="209550"/>
          </a:xfrm>
          <a:prstGeom prst="rect">
            <a:avLst/>
          </a:prstGeom>
        </p:spPr>
        <p:txBody>
          <a:bodyPr wrap="square" lIns="0" tIns="0" rIns="0" bIns="0" anchor="t">
            <a:normAutofit/>
          </a:bodyPr>
          <a:lstStyle/>
          <a:p>
            <a:pPr algn="l">
              <a:defRPr sz="975" b="1">
                <a:solidFill>
                  <a:srgbClr val="D9232E"/>
                </a:solidFill>
                <a:latin typeface="Arial"/>
                <a:ea typeface="Arial"/>
                <a:cs typeface="Arial"/>
              </a:defRPr>
            </a:pPr>
            <a:r>
              <a:t>CAPITAL BIKESHARE OPERATIONS</a:t>
            </a:r>
          </a:p>
        </p:txBody>
      </p:sp>
      <p:sp>
        <p:nvSpPr>
          <p:cNvPr id="2" name="Rectangle 1">
            <a:extLst>
              <a:ext uri="{FF2B5EF4-FFF2-40B4-BE49-F238E27FC236}">
                <a16:creationId xmlns:a16="http://schemas.microsoft.com/office/drawing/2014/main" id="{1A12BDF5-05FD-F4FB-E076-3235E3498724}"/>
              </a:ext>
            </a:extLst>
          </p:cNvPr>
          <p:cNvSpPr>
            <a:spLocks noGrp="1"/>
          </p:cNvSpPr>
          <p:nvPr/>
        </p:nvSpPr>
        <p:spPr>
          <a:xfrm>
            <a:off x="400050" y="581025"/>
            <a:ext cx="11391900" cy="628650"/>
          </a:xfrm>
          <a:prstGeom prst="rect">
            <a:avLst/>
          </a:prstGeom>
        </p:spPr>
        <p:txBody>
          <a:bodyPr wrap="square" lIns="0" tIns="0" rIns="0" bIns="0" anchor="t">
            <a:normAutofit/>
          </a:bodyPr>
          <a:lstStyle/>
          <a:p>
            <a:pPr algn="l">
              <a:defRPr sz="3000" b="1">
                <a:solidFill>
                  <a:srgbClr val="15191D"/>
                </a:solidFill>
                <a:latin typeface="Arial"/>
                <a:ea typeface="Arial"/>
                <a:cs typeface="Arial"/>
              </a:defRPr>
            </a:pPr>
            <a:r>
              <a:rPr lang="en-US" dirty="0"/>
              <a:t>PostgreSQL </a:t>
            </a:r>
            <a:endParaRPr dirty="0"/>
          </a:p>
        </p:txBody>
      </p:sp>
      <p:cxnSp>
        <p:nvCxnSpPr>
          <p:cNvPr id="23" name="Straight Arrow Connector 22">
            <a:extLst>
              <a:ext uri="{FF2B5EF4-FFF2-40B4-BE49-F238E27FC236}">
                <a16:creationId xmlns:a16="http://schemas.microsoft.com/office/drawing/2014/main" id="{701F63C5-42E4-28C9-4055-77EAA8DE539C}"/>
              </a:ext>
            </a:extLst>
          </p:cNvPr>
          <p:cNvCxnSpPr/>
          <p:nvPr/>
        </p:nvCxnSpPr>
        <p:spPr>
          <a:xfrm>
            <a:off x="400050" y="1304925"/>
            <a:ext cx="11391900" cy="9525"/>
          </a:xfrm>
          <a:prstGeom prst="straightConnector1">
            <a:avLst/>
          </a:prstGeom>
          <a:ln w="9525">
            <a:solidFill>
              <a:srgbClr val="C9CED2"/>
            </a:solidFill>
            <a:prstDash val="solid"/>
          </a:ln>
        </p:spPr>
      </p:cxnSp>
      <p:sp>
        <p:nvSpPr>
          <p:cNvPr id="5" name="Rectangle: Rounded Corners 4">
            <a:extLst>
              <a:ext uri="{FF2B5EF4-FFF2-40B4-BE49-F238E27FC236}">
                <a16:creationId xmlns:a16="http://schemas.microsoft.com/office/drawing/2014/main" id="{5CF4D5AD-B99B-B502-A28C-4BD718B1C6E9}"/>
              </a:ext>
            </a:extLst>
          </p:cNvPr>
          <p:cNvSpPr>
            <a:spLocks noGrp="1"/>
          </p:cNvSpPr>
          <p:nvPr/>
        </p:nvSpPr>
        <p:spPr>
          <a:xfrm>
            <a:off x="67733" y="2244724"/>
            <a:ext cx="3776133" cy="2763305"/>
          </a:xfrm>
          <a:prstGeom prst="roundRect">
            <a:avLst>
              <a:gd name="adj" fmla="val 2797"/>
            </a:avLst>
          </a:prstGeom>
          <a:solidFill>
            <a:srgbClr val="EAF6FB"/>
          </a:solidFill>
          <a:ln w="9525">
            <a:solidFill>
              <a:srgbClr val="C9CED2"/>
            </a:solidFill>
            <a:prstDash val="solid"/>
          </a:ln>
        </p:spPr>
        <p:txBody>
          <a:bodyPr/>
          <a:lstStyle/>
          <a:p>
            <a:endParaRPr lang="en-US"/>
          </a:p>
        </p:txBody>
      </p:sp>
      <p:sp>
        <p:nvSpPr>
          <p:cNvPr id="7" name="Rectangle 6">
            <a:extLst>
              <a:ext uri="{FF2B5EF4-FFF2-40B4-BE49-F238E27FC236}">
                <a16:creationId xmlns:a16="http://schemas.microsoft.com/office/drawing/2014/main" id="{FCB58224-75D0-3C97-FB03-4C89226327F2}"/>
              </a:ext>
            </a:extLst>
          </p:cNvPr>
          <p:cNvSpPr>
            <a:spLocks noGrp="1"/>
          </p:cNvSpPr>
          <p:nvPr/>
        </p:nvSpPr>
        <p:spPr>
          <a:xfrm>
            <a:off x="135467" y="2667000"/>
            <a:ext cx="3547533" cy="1820333"/>
          </a:xfrm>
          <a:prstGeom prst="rect">
            <a:avLst/>
          </a:prstGeom>
        </p:spPr>
        <p:txBody>
          <a:bodyPr wrap="square" lIns="0" tIns="0" rIns="0" bIns="0" anchor="t">
            <a:normAutofit/>
          </a:bodyPr>
          <a:lstStyle/>
          <a:p>
            <a:r>
              <a:rPr lang="en-US" sz="1100" dirty="0"/>
              <a:t>The PostgreSQL schema contains:</a:t>
            </a:r>
          </a:p>
          <a:p>
            <a:pPr marL="171450" indent="-171450">
              <a:buFont typeface="Arial" panose="020B0604020202020204" pitchFamily="34" charset="0"/>
              <a:buChar char="•"/>
            </a:pPr>
            <a:r>
              <a:rPr lang="en-US" sz="1100" b="1" dirty="0" err="1"/>
              <a:t>gbfs_raw_data</a:t>
            </a:r>
            <a:r>
              <a:rPr lang="en-US" sz="1100" b="1" dirty="0"/>
              <a:t> </a:t>
            </a:r>
            <a:r>
              <a:rPr lang="en-US" sz="1100" dirty="0"/>
              <a:t>– stores the original API responses.</a:t>
            </a:r>
          </a:p>
          <a:p>
            <a:pPr marL="171450" indent="-171450">
              <a:buFont typeface="Arial" panose="020B0604020202020204" pitchFamily="34" charset="0"/>
              <a:buChar char="•"/>
            </a:pPr>
            <a:r>
              <a:rPr lang="en-US" sz="1100" b="1" dirty="0"/>
              <a:t>stations</a:t>
            </a:r>
            <a:r>
              <a:rPr lang="en-US" sz="1100" dirty="0"/>
              <a:t> – stores cleaned station names, locations, and capacities.</a:t>
            </a:r>
          </a:p>
          <a:p>
            <a:pPr marL="171450" indent="-171450">
              <a:buFont typeface="Arial" panose="020B0604020202020204" pitchFamily="34" charset="0"/>
              <a:buChar char="•"/>
            </a:pPr>
            <a:r>
              <a:rPr lang="en-US" sz="1100" b="1" dirty="0" err="1"/>
              <a:t>station_status_history</a:t>
            </a:r>
            <a:r>
              <a:rPr lang="en-US" sz="1100" b="1" dirty="0"/>
              <a:t> </a:t>
            </a:r>
            <a:r>
              <a:rPr lang="en-US" sz="1100" dirty="0"/>
              <a:t>– stores bike and dock availability over time.</a:t>
            </a:r>
          </a:p>
          <a:p>
            <a:pPr marL="171450" indent="-171450">
              <a:buFont typeface="Arial" panose="020B0604020202020204" pitchFamily="34" charset="0"/>
              <a:buChar char="•"/>
            </a:pPr>
            <a:r>
              <a:rPr lang="en-US" sz="1100" b="1" dirty="0" err="1"/>
              <a:t>station_alerts</a:t>
            </a:r>
            <a:r>
              <a:rPr lang="en-US" sz="1100" b="1" dirty="0"/>
              <a:t> </a:t>
            </a:r>
            <a:r>
              <a:rPr lang="en-US" sz="1100" dirty="0"/>
              <a:t>– stores active and resolved depletion alerts.</a:t>
            </a:r>
          </a:p>
          <a:p>
            <a:endParaRPr lang="en-US" sz="1100" dirty="0"/>
          </a:p>
        </p:txBody>
      </p:sp>
      <p:pic>
        <p:nvPicPr>
          <p:cNvPr id="6" name="Picture 5">
            <a:extLst>
              <a:ext uri="{FF2B5EF4-FFF2-40B4-BE49-F238E27FC236}">
                <a16:creationId xmlns:a16="http://schemas.microsoft.com/office/drawing/2014/main" id="{8DE14099-BCED-9C9B-9C53-0FD10A60DA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43866" y="1343022"/>
            <a:ext cx="8345304" cy="4954072"/>
          </a:xfrm>
          <a:prstGeom prst="rect">
            <a:avLst/>
          </a:prstGeom>
        </p:spPr>
      </p:pic>
    </p:spTree>
    <p:extLst>
      <p:ext uri="{BB962C8B-B14F-4D97-AF65-F5344CB8AC3E}">
        <p14:creationId xmlns:p14="http://schemas.microsoft.com/office/powerpoint/2010/main" val="36423258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02262-D16E-CEF7-6CFA-3130B430B2B5}"/>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DD289277-A4F3-3680-3716-8901A201E647}"/>
              </a:ext>
            </a:extLst>
          </p:cNvPr>
          <p:cNvSpPr>
            <a:spLocks noGrp="1"/>
          </p:cNvSpPr>
          <p:nvPr/>
        </p:nvSpPr>
        <p:spPr>
          <a:xfrm>
            <a:off x="400050" y="276225"/>
            <a:ext cx="4953000" cy="209550"/>
          </a:xfrm>
          <a:prstGeom prst="rect">
            <a:avLst/>
          </a:prstGeom>
        </p:spPr>
        <p:txBody>
          <a:bodyPr wrap="square" lIns="0" tIns="0" rIns="0" bIns="0" anchor="t">
            <a:normAutofit/>
          </a:bodyPr>
          <a:lstStyle/>
          <a:p>
            <a:pPr algn="l">
              <a:defRPr sz="975" b="1">
                <a:solidFill>
                  <a:srgbClr val="D9232E"/>
                </a:solidFill>
                <a:latin typeface="Arial"/>
                <a:ea typeface="Arial"/>
                <a:cs typeface="Arial"/>
              </a:defRPr>
            </a:pPr>
            <a:r>
              <a:t>CAPITAL BIKESHARE OPERATIONS</a:t>
            </a:r>
          </a:p>
        </p:txBody>
      </p:sp>
      <p:sp>
        <p:nvSpPr>
          <p:cNvPr id="2" name="Rectangle 1">
            <a:extLst>
              <a:ext uri="{FF2B5EF4-FFF2-40B4-BE49-F238E27FC236}">
                <a16:creationId xmlns:a16="http://schemas.microsoft.com/office/drawing/2014/main" id="{6DF6E0BA-73F1-51FA-F816-456299600831}"/>
              </a:ext>
            </a:extLst>
          </p:cNvPr>
          <p:cNvSpPr>
            <a:spLocks noGrp="1"/>
          </p:cNvSpPr>
          <p:nvPr/>
        </p:nvSpPr>
        <p:spPr>
          <a:xfrm>
            <a:off x="400050" y="581025"/>
            <a:ext cx="11391900" cy="628650"/>
          </a:xfrm>
          <a:prstGeom prst="rect">
            <a:avLst/>
          </a:prstGeom>
        </p:spPr>
        <p:txBody>
          <a:bodyPr wrap="square" lIns="0" tIns="0" rIns="0" bIns="0" anchor="t">
            <a:normAutofit/>
          </a:bodyPr>
          <a:lstStyle/>
          <a:p>
            <a:pPr algn="l">
              <a:defRPr sz="3000" b="1">
                <a:solidFill>
                  <a:srgbClr val="15191D"/>
                </a:solidFill>
                <a:latin typeface="Arial"/>
                <a:ea typeface="Arial"/>
                <a:cs typeface="Arial"/>
              </a:defRPr>
            </a:pPr>
            <a:r>
              <a:rPr lang="en-US" dirty="0"/>
              <a:t>Airflow </a:t>
            </a:r>
            <a:endParaRPr dirty="0"/>
          </a:p>
        </p:txBody>
      </p:sp>
      <p:cxnSp>
        <p:nvCxnSpPr>
          <p:cNvPr id="23" name="Straight Arrow Connector 22">
            <a:extLst>
              <a:ext uri="{FF2B5EF4-FFF2-40B4-BE49-F238E27FC236}">
                <a16:creationId xmlns:a16="http://schemas.microsoft.com/office/drawing/2014/main" id="{3E52292D-6264-4179-CBCF-B1220FB6C856}"/>
              </a:ext>
            </a:extLst>
          </p:cNvPr>
          <p:cNvCxnSpPr/>
          <p:nvPr/>
        </p:nvCxnSpPr>
        <p:spPr>
          <a:xfrm>
            <a:off x="400050" y="1304925"/>
            <a:ext cx="11391900" cy="9525"/>
          </a:xfrm>
          <a:prstGeom prst="straightConnector1">
            <a:avLst/>
          </a:prstGeom>
          <a:ln w="9525">
            <a:solidFill>
              <a:srgbClr val="C9CED2"/>
            </a:solidFill>
            <a:prstDash val="solid"/>
          </a:ln>
        </p:spPr>
      </p:cxnSp>
      <p:sp>
        <p:nvSpPr>
          <p:cNvPr id="5" name="Rectangle: Rounded Corners 4">
            <a:extLst>
              <a:ext uri="{FF2B5EF4-FFF2-40B4-BE49-F238E27FC236}">
                <a16:creationId xmlns:a16="http://schemas.microsoft.com/office/drawing/2014/main" id="{849B9FC0-5BD1-4B39-1069-D2281AEC3803}"/>
              </a:ext>
            </a:extLst>
          </p:cNvPr>
          <p:cNvSpPr>
            <a:spLocks noGrp="1"/>
          </p:cNvSpPr>
          <p:nvPr/>
        </p:nvSpPr>
        <p:spPr>
          <a:xfrm>
            <a:off x="67733" y="2244724"/>
            <a:ext cx="3776133" cy="2763305"/>
          </a:xfrm>
          <a:prstGeom prst="roundRect">
            <a:avLst>
              <a:gd name="adj" fmla="val 2797"/>
            </a:avLst>
          </a:prstGeom>
          <a:solidFill>
            <a:srgbClr val="EAF6FB"/>
          </a:solidFill>
          <a:ln w="9525">
            <a:solidFill>
              <a:srgbClr val="C9CED2"/>
            </a:solidFill>
            <a:prstDash val="solid"/>
          </a:ln>
        </p:spPr>
        <p:txBody>
          <a:bodyPr/>
          <a:lstStyle/>
          <a:p>
            <a:endParaRPr lang="en-US"/>
          </a:p>
        </p:txBody>
      </p:sp>
      <p:sp>
        <p:nvSpPr>
          <p:cNvPr id="7" name="Rectangle 6">
            <a:extLst>
              <a:ext uri="{FF2B5EF4-FFF2-40B4-BE49-F238E27FC236}">
                <a16:creationId xmlns:a16="http://schemas.microsoft.com/office/drawing/2014/main" id="{75F1B98E-6436-5CA0-31C9-5F5B18D49F05}"/>
              </a:ext>
            </a:extLst>
          </p:cNvPr>
          <p:cNvSpPr>
            <a:spLocks noGrp="1"/>
          </p:cNvSpPr>
          <p:nvPr/>
        </p:nvSpPr>
        <p:spPr>
          <a:xfrm>
            <a:off x="174624" y="3204633"/>
            <a:ext cx="3669242" cy="1231900"/>
          </a:xfrm>
          <a:prstGeom prst="rect">
            <a:avLst/>
          </a:prstGeom>
        </p:spPr>
        <p:txBody>
          <a:bodyPr wrap="square" lIns="0" tIns="0" rIns="0" bIns="0" anchor="t">
            <a:normAutofit/>
          </a:bodyPr>
          <a:lstStyle/>
          <a:p>
            <a:r>
              <a:rPr lang="en-US" sz="1100" dirty="0"/>
              <a:t>Apache Airflow automatically executes the ETL pipeline every five minutes:</a:t>
            </a:r>
          </a:p>
          <a:p>
            <a:endParaRPr lang="en-US" sz="1100" dirty="0"/>
          </a:p>
          <a:p>
            <a:pPr marL="171450" indent="-171450">
              <a:buFont typeface="Arial" panose="020B0604020202020204" pitchFamily="34" charset="0"/>
              <a:buChar char="•"/>
            </a:pPr>
            <a:r>
              <a:rPr lang="en-US" sz="1100" b="1" dirty="0"/>
              <a:t>extract </a:t>
            </a:r>
            <a:r>
              <a:rPr lang="en-US" sz="1100" dirty="0"/>
              <a:t>– fetches the latest Capital Bikeshare data.</a:t>
            </a:r>
          </a:p>
          <a:p>
            <a:pPr marL="171450" indent="-171450">
              <a:buFont typeface="Arial" panose="020B0604020202020204" pitchFamily="34" charset="0"/>
              <a:buChar char="•"/>
            </a:pPr>
            <a:r>
              <a:rPr lang="en-US" sz="1100" b="1" dirty="0"/>
              <a:t>transform</a:t>
            </a:r>
            <a:r>
              <a:rPr lang="en-US" sz="1100" dirty="0"/>
              <a:t> – cleans and validates the records.</a:t>
            </a:r>
          </a:p>
          <a:p>
            <a:pPr marL="171450" indent="-171450">
              <a:buFont typeface="Arial" panose="020B0604020202020204" pitchFamily="34" charset="0"/>
              <a:buChar char="•"/>
            </a:pPr>
            <a:r>
              <a:rPr lang="en-US" sz="1100" b="1" dirty="0"/>
              <a:t>load </a:t>
            </a:r>
            <a:r>
              <a:rPr lang="en-US" sz="1100" dirty="0"/>
              <a:t>– stores the results in PostgreSQL.</a:t>
            </a:r>
          </a:p>
        </p:txBody>
      </p:sp>
      <p:pic>
        <p:nvPicPr>
          <p:cNvPr id="4" name="Picture 3">
            <a:extLst>
              <a:ext uri="{FF2B5EF4-FFF2-40B4-BE49-F238E27FC236}">
                <a16:creationId xmlns:a16="http://schemas.microsoft.com/office/drawing/2014/main" id="{C44B5AF8-1BAF-DA21-F138-596DC02E99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35501" y="1772154"/>
            <a:ext cx="8188766" cy="4190496"/>
          </a:xfrm>
          <a:prstGeom prst="rect">
            <a:avLst/>
          </a:prstGeom>
        </p:spPr>
      </p:pic>
    </p:spTree>
    <p:extLst>
      <p:ext uri="{BB962C8B-B14F-4D97-AF65-F5344CB8AC3E}">
        <p14:creationId xmlns:p14="http://schemas.microsoft.com/office/powerpoint/2010/main" val="16233521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F1AFF-4769-A0D0-A80D-B883D72EBA8A}"/>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6A5141A1-F596-F15A-2E72-4991CB2C5D46}"/>
              </a:ext>
            </a:extLst>
          </p:cNvPr>
          <p:cNvSpPr>
            <a:spLocks noGrp="1"/>
          </p:cNvSpPr>
          <p:nvPr/>
        </p:nvSpPr>
        <p:spPr>
          <a:xfrm>
            <a:off x="400050" y="276225"/>
            <a:ext cx="4953000" cy="209550"/>
          </a:xfrm>
          <a:prstGeom prst="rect">
            <a:avLst/>
          </a:prstGeom>
        </p:spPr>
        <p:txBody>
          <a:bodyPr wrap="square" lIns="0" tIns="0" rIns="0" bIns="0" anchor="t">
            <a:normAutofit/>
          </a:bodyPr>
          <a:lstStyle/>
          <a:p>
            <a:pPr algn="l">
              <a:defRPr sz="975" b="1">
                <a:solidFill>
                  <a:srgbClr val="D9232E"/>
                </a:solidFill>
                <a:latin typeface="Arial"/>
                <a:ea typeface="Arial"/>
                <a:cs typeface="Arial"/>
              </a:defRPr>
            </a:pPr>
            <a:r>
              <a:t>CAPITAL BIKESHARE OPERATIONS</a:t>
            </a:r>
          </a:p>
        </p:txBody>
      </p:sp>
      <p:sp>
        <p:nvSpPr>
          <p:cNvPr id="2" name="Rectangle 1">
            <a:extLst>
              <a:ext uri="{FF2B5EF4-FFF2-40B4-BE49-F238E27FC236}">
                <a16:creationId xmlns:a16="http://schemas.microsoft.com/office/drawing/2014/main" id="{8EA4ABF5-888D-CD7F-ECBB-4B380B418621}"/>
              </a:ext>
            </a:extLst>
          </p:cNvPr>
          <p:cNvSpPr>
            <a:spLocks noGrp="1"/>
          </p:cNvSpPr>
          <p:nvPr/>
        </p:nvSpPr>
        <p:spPr>
          <a:xfrm>
            <a:off x="400050" y="581025"/>
            <a:ext cx="11391900" cy="628650"/>
          </a:xfrm>
          <a:prstGeom prst="rect">
            <a:avLst/>
          </a:prstGeom>
        </p:spPr>
        <p:txBody>
          <a:bodyPr wrap="square" lIns="0" tIns="0" rIns="0" bIns="0" anchor="t">
            <a:normAutofit/>
          </a:bodyPr>
          <a:lstStyle/>
          <a:p>
            <a:pPr algn="l">
              <a:defRPr sz="3000" b="1">
                <a:solidFill>
                  <a:srgbClr val="15191D"/>
                </a:solidFill>
                <a:latin typeface="Arial"/>
                <a:ea typeface="Arial"/>
                <a:cs typeface="Arial"/>
              </a:defRPr>
            </a:pPr>
            <a:r>
              <a:rPr lang="en-US" dirty="0"/>
              <a:t>Airflow </a:t>
            </a:r>
            <a:endParaRPr dirty="0"/>
          </a:p>
        </p:txBody>
      </p:sp>
      <p:cxnSp>
        <p:nvCxnSpPr>
          <p:cNvPr id="23" name="Straight Arrow Connector 22">
            <a:extLst>
              <a:ext uri="{FF2B5EF4-FFF2-40B4-BE49-F238E27FC236}">
                <a16:creationId xmlns:a16="http://schemas.microsoft.com/office/drawing/2014/main" id="{02D60F23-22AF-F2ED-134D-053054DBD6ED}"/>
              </a:ext>
            </a:extLst>
          </p:cNvPr>
          <p:cNvCxnSpPr/>
          <p:nvPr/>
        </p:nvCxnSpPr>
        <p:spPr>
          <a:xfrm>
            <a:off x="400050" y="1304925"/>
            <a:ext cx="11391900" cy="9525"/>
          </a:xfrm>
          <a:prstGeom prst="straightConnector1">
            <a:avLst/>
          </a:prstGeom>
          <a:ln w="9525">
            <a:solidFill>
              <a:srgbClr val="C9CED2"/>
            </a:solidFill>
            <a:prstDash val="solid"/>
          </a:ln>
        </p:spPr>
      </p:cxnSp>
      <p:sp>
        <p:nvSpPr>
          <p:cNvPr id="5" name="Rectangle: Rounded Corners 4">
            <a:extLst>
              <a:ext uri="{FF2B5EF4-FFF2-40B4-BE49-F238E27FC236}">
                <a16:creationId xmlns:a16="http://schemas.microsoft.com/office/drawing/2014/main" id="{79BE8998-4671-5E24-7B45-1FC5E1A98D30}"/>
              </a:ext>
            </a:extLst>
          </p:cNvPr>
          <p:cNvSpPr>
            <a:spLocks noGrp="1"/>
          </p:cNvSpPr>
          <p:nvPr/>
        </p:nvSpPr>
        <p:spPr>
          <a:xfrm>
            <a:off x="67733" y="2244724"/>
            <a:ext cx="3776133" cy="2763305"/>
          </a:xfrm>
          <a:prstGeom prst="roundRect">
            <a:avLst>
              <a:gd name="adj" fmla="val 2797"/>
            </a:avLst>
          </a:prstGeom>
          <a:solidFill>
            <a:srgbClr val="EAF6FB"/>
          </a:solidFill>
          <a:ln w="9525">
            <a:solidFill>
              <a:srgbClr val="C9CED2"/>
            </a:solidFill>
            <a:prstDash val="solid"/>
          </a:ln>
        </p:spPr>
        <p:txBody>
          <a:bodyPr/>
          <a:lstStyle/>
          <a:p>
            <a:endParaRPr lang="en-US"/>
          </a:p>
        </p:txBody>
      </p:sp>
      <p:sp>
        <p:nvSpPr>
          <p:cNvPr id="7" name="Rectangle 6">
            <a:extLst>
              <a:ext uri="{FF2B5EF4-FFF2-40B4-BE49-F238E27FC236}">
                <a16:creationId xmlns:a16="http://schemas.microsoft.com/office/drawing/2014/main" id="{E4432393-1C86-F8E7-B775-94DC3712369D}"/>
              </a:ext>
            </a:extLst>
          </p:cNvPr>
          <p:cNvSpPr>
            <a:spLocks noGrp="1"/>
          </p:cNvSpPr>
          <p:nvPr/>
        </p:nvSpPr>
        <p:spPr>
          <a:xfrm>
            <a:off x="174624" y="3204633"/>
            <a:ext cx="3669242" cy="1231900"/>
          </a:xfrm>
          <a:prstGeom prst="rect">
            <a:avLst/>
          </a:prstGeom>
        </p:spPr>
        <p:txBody>
          <a:bodyPr wrap="square" lIns="0" tIns="0" rIns="0" bIns="0" anchor="t">
            <a:normAutofit/>
          </a:bodyPr>
          <a:lstStyle/>
          <a:p>
            <a:r>
              <a:rPr lang="en-US" sz="1100" dirty="0"/>
              <a:t>Apache Airflow automatically executes the ETL pipeline every five minutes:</a:t>
            </a:r>
          </a:p>
          <a:p>
            <a:endParaRPr lang="en-US" sz="1100" dirty="0"/>
          </a:p>
          <a:p>
            <a:pPr marL="171450" indent="-171450">
              <a:buFont typeface="Arial" panose="020B0604020202020204" pitchFamily="34" charset="0"/>
              <a:buChar char="•"/>
            </a:pPr>
            <a:r>
              <a:rPr lang="en-US" sz="1100" b="1" dirty="0"/>
              <a:t>extract </a:t>
            </a:r>
            <a:r>
              <a:rPr lang="en-US" sz="1100" dirty="0"/>
              <a:t>– fetches the latest Capital Bikeshare data.</a:t>
            </a:r>
          </a:p>
          <a:p>
            <a:pPr marL="171450" indent="-171450">
              <a:buFont typeface="Arial" panose="020B0604020202020204" pitchFamily="34" charset="0"/>
              <a:buChar char="•"/>
            </a:pPr>
            <a:r>
              <a:rPr lang="en-US" sz="1100" b="1" dirty="0"/>
              <a:t>transform</a:t>
            </a:r>
            <a:r>
              <a:rPr lang="en-US" sz="1100" dirty="0"/>
              <a:t> – cleans and validates the records.</a:t>
            </a:r>
          </a:p>
          <a:p>
            <a:pPr marL="171450" indent="-171450">
              <a:buFont typeface="Arial" panose="020B0604020202020204" pitchFamily="34" charset="0"/>
              <a:buChar char="•"/>
            </a:pPr>
            <a:r>
              <a:rPr lang="en-US" sz="1100" b="1" dirty="0"/>
              <a:t>load </a:t>
            </a:r>
            <a:r>
              <a:rPr lang="en-US" sz="1100" dirty="0"/>
              <a:t>– stores the results in PostgreSQL.</a:t>
            </a:r>
          </a:p>
        </p:txBody>
      </p:sp>
      <p:pic>
        <p:nvPicPr>
          <p:cNvPr id="4" name="Picture 3">
            <a:extLst>
              <a:ext uri="{FF2B5EF4-FFF2-40B4-BE49-F238E27FC236}">
                <a16:creationId xmlns:a16="http://schemas.microsoft.com/office/drawing/2014/main" id="{18A3BFB6-CB93-6C9F-49A0-DFE853402B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35501" y="1772154"/>
            <a:ext cx="8188766" cy="4190496"/>
          </a:xfrm>
          <a:prstGeom prst="rect">
            <a:avLst/>
          </a:prstGeom>
        </p:spPr>
      </p:pic>
    </p:spTree>
    <p:extLst>
      <p:ext uri="{BB962C8B-B14F-4D97-AF65-F5344CB8AC3E}">
        <p14:creationId xmlns:p14="http://schemas.microsoft.com/office/powerpoint/2010/main" val="32554957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BF689-8D12-5462-865E-AA7AADF59A3D}"/>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20CD678A-CE8B-5F3D-76CD-F5805A21CB51}"/>
              </a:ext>
            </a:extLst>
          </p:cNvPr>
          <p:cNvSpPr>
            <a:spLocks noGrp="1"/>
          </p:cNvSpPr>
          <p:nvPr/>
        </p:nvSpPr>
        <p:spPr>
          <a:xfrm>
            <a:off x="400050" y="276225"/>
            <a:ext cx="4953000" cy="209550"/>
          </a:xfrm>
          <a:prstGeom prst="rect">
            <a:avLst/>
          </a:prstGeom>
        </p:spPr>
        <p:txBody>
          <a:bodyPr wrap="square" lIns="0" tIns="0" rIns="0" bIns="0" anchor="t">
            <a:normAutofit/>
          </a:bodyPr>
          <a:lstStyle/>
          <a:p>
            <a:pPr algn="l">
              <a:defRPr sz="975" b="1">
                <a:solidFill>
                  <a:srgbClr val="D9232E"/>
                </a:solidFill>
                <a:latin typeface="Arial"/>
                <a:ea typeface="Arial"/>
                <a:cs typeface="Arial"/>
              </a:defRPr>
            </a:pPr>
            <a:r>
              <a:t>CAPITAL BIKESHARE OPERATIONS</a:t>
            </a:r>
          </a:p>
        </p:txBody>
      </p:sp>
      <p:sp>
        <p:nvSpPr>
          <p:cNvPr id="2" name="Rectangle 1">
            <a:extLst>
              <a:ext uri="{FF2B5EF4-FFF2-40B4-BE49-F238E27FC236}">
                <a16:creationId xmlns:a16="http://schemas.microsoft.com/office/drawing/2014/main" id="{6B49A3F9-7DFF-9E4D-572C-6759A2DD21EA}"/>
              </a:ext>
            </a:extLst>
          </p:cNvPr>
          <p:cNvSpPr>
            <a:spLocks noGrp="1"/>
          </p:cNvSpPr>
          <p:nvPr/>
        </p:nvSpPr>
        <p:spPr>
          <a:xfrm>
            <a:off x="400050" y="581025"/>
            <a:ext cx="11391900" cy="628650"/>
          </a:xfrm>
          <a:prstGeom prst="rect">
            <a:avLst/>
          </a:prstGeom>
        </p:spPr>
        <p:txBody>
          <a:bodyPr wrap="square" lIns="0" tIns="0" rIns="0" bIns="0" anchor="t">
            <a:normAutofit/>
          </a:bodyPr>
          <a:lstStyle/>
          <a:p>
            <a:pPr algn="l">
              <a:defRPr sz="3000" b="1">
                <a:solidFill>
                  <a:srgbClr val="15191D"/>
                </a:solidFill>
                <a:latin typeface="Arial"/>
                <a:ea typeface="Arial"/>
                <a:cs typeface="Arial"/>
              </a:defRPr>
            </a:pPr>
            <a:r>
              <a:rPr lang="en-US" dirty="0"/>
              <a:t>Kafka </a:t>
            </a:r>
            <a:endParaRPr dirty="0"/>
          </a:p>
        </p:txBody>
      </p:sp>
      <p:cxnSp>
        <p:nvCxnSpPr>
          <p:cNvPr id="23" name="Straight Arrow Connector 22">
            <a:extLst>
              <a:ext uri="{FF2B5EF4-FFF2-40B4-BE49-F238E27FC236}">
                <a16:creationId xmlns:a16="http://schemas.microsoft.com/office/drawing/2014/main" id="{36450370-24AB-9E3E-FC3A-FB1F4D80B751}"/>
              </a:ext>
            </a:extLst>
          </p:cNvPr>
          <p:cNvCxnSpPr/>
          <p:nvPr/>
        </p:nvCxnSpPr>
        <p:spPr>
          <a:xfrm>
            <a:off x="400050" y="1304925"/>
            <a:ext cx="11391900" cy="9525"/>
          </a:xfrm>
          <a:prstGeom prst="straightConnector1">
            <a:avLst/>
          </a:prstGeom>
          <a:ln w="9525">
            <a:solidFill>
              <a:srgbClr val="C9CED2"/>
            </a:solidFill>
            <a:prstDash val="solid"/>
          </a:ln>
        </p:spPr>
      </p:cxnSp>
      <p:sp>
        <p:nvSpPr>
          <p:cNvPr id="5" name="Rectangle: Rounded Corners 4">
            <a:extLst>
              <a:ext uri="{FF2B5EF4-FFF2-40B4-BE49-F238E27FC236}">
                <a16:creationId xmlns:a16="http://schemas.microsoft.com/office/drawing/2014/main" id="{47892220-A556-A14F-D6D1-302CC649D45F}"/>
              </a:ext>
            </a:extLst>
          </p:cNvPr>
          <p:cNvSpPr>
            <a:spLocks noGrp="1"/>
          </p:cNvSpPr>
          <p:nvPr/>
        </p:nvSpPr>
        <p:spPr>
          <a:xfrm>
            <a:off x="67733" y="2244724"/>
            <a:ext cx="3776133" cy="2763305"/>
          </a:xfrm>
          <a:prstGeom prst="roundRect">
            <a:avLst>
              <a:gd name="adj" fmla="val 2797"/>
            </a:avLst>
          </a:prstGeom>
          <a:solidFill>
            <a:srgbClr val="EAF6FB"/>
          </a:solidFill>
          <a:ln w="9525">
            <a:solidFill>
              <a:srgbClr val="C9CED2"/>
            </a:solidFill>
            <a:prstDash val="solid"/>
          </a:ln>
        </p:spPr>
        <p:txBody>
          <a:bodyPr/>
          <a:lstStyle/>
          <a:p>
            <a:endParaRPr lang="en-US"/>
          </a:p>
        </p:txBody>
      </p:sp>
      <p:sp>
        <p:nvSpPr>
          <p:cNvPr id="7" name="Rectangle 6">
            <a:extLst>
              <a:ext uri="{FF2B5EF4-FFF2-40B4-BE49-F238E27FC236}">
                <a16:creationId xmlns:a16="http://schemas.microsoft.com/office/drawing/2014/main" id="{AFA4D4F0-3C41-2976-17AE-5D74CA41843C}"/>
              </a:ext>
            </a:extLst>
          </p:cNvPr>
          <p:cNvSpPr>
            <a:spLocks noGrp="1"/>
          </p:cNvSpPr>
          <p:nvPr/>
        </p:nvSpPr>
        <p:spPr>
          <a:xfrm>
            <a:off x="174624" y="3204633"/>
            <a:ext cx="3669242" cy="1231900"/>
          </a:xfrm>
          <a:prstGeom prst="rect">
            <a:avLst/>
          </a:prstGeom>
        </p:spPr>
        <p:txBody>
          <a:bodyPr wrap="square" lIns="0" tIns="0" rIns="0" bIns="0" anchor="t">
            <a:normAutofit fontScale="92500"/>
          </a:bodyPr>
          <a:lstStyle/>
          <a:p>
            <a:r>
              <a:rPr lang="en-US" sz="1100" dirty="0"/>
              <a:t>Kafka supports the real-time alerting :</a:t>
            </a:r>
          </a:p>
          <a:p>
            <a:endParaRPr lang="en-US" sz="1100" dirty="0"/>
          </a:p>
          <a:p>
            <a:pPr marL="171450" indent="-171450">
              <a:buFont typeface="Arial" panose="020B0604020202020204" pitchFamily="34" charset="0"/>
              <a:buChar char="•"/>
            </a:pPr>
            <a:r>
              <a:rPr lang="en-US" sz="1100" dirty="0"/>
              <a:t>station-producer fetches new station observations every minute.</a:t>
            </a:r>
          </a:p>
          <a:p>
            <a:pPr marL="171450" indent="-171450">
              <a:buFont typeface="Arial" panose="020B0604020202020204" pitchFamily="34" charset="0"/>
              <a:buChar char="•"/>
            </a:pPr>
            <a:r>
              <a:rPr lang="en-US" sz="1100" dirty="0"/>
              <a:t>Observations are published to the station-status Kafka topic.</a:t>
            </a:r>
          </a:p>
          <a:p>
            <a:pPr marL="171450" indent="-171450">
              <a:buFont typeface="Arial" panose="020B0604020202020204" pitchFamily="34" charset="0"/>
              <a:buChar char="•"/>
            </a:pPr>
            <a:r>
              <a:rPr lang="en-US" sz="1100" dirty="0"/>
              <a:t>alert-consumer processes the events and detects depletion risks.</a:t>
            </a:r>
          </a:p>
          <a:p>
            <a:pPr marL="171450" indent="-171450">
              <a:buFont typeface="Arial" panose="020B0604020202020204" pitchFamily="34" charset="0"/>
              <a:buChar char="•"/>
            </a:pPr>
            <a:r>
              <a:rPr lang="en-US" sz="1100" dirty="0"/>
              <a:t>Warning and critical alerts are stored in PostgreSQL and displayed on the dashboard.</a:t>
            </a:r>
          </a:p>
        </p:txBody>
      </p:sp>
      <p:pic>
        <p:nvPicPr>
          <p:cNvPr id="6" name="Picture 5">
            <a:extLst>
              <a:ext uri="{FF2B5EF4-FFF2-40B4-BE49-F238E27FC236}">
                <a16:creationId xmlns:a16="http://schemas.microsoft.com/office/drawing/2014/main" id="{9DCE8E70-63E4-EDC9-E840-55B6501AE7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01065" y="1409700"/>
            <a:ext cx="7823201" cy="4530525"/>
          </a:xfrm>
          <a:prstGeom prst="rect">
            <a:avLst/>
          </a:prstGeom>
        </p:spPr>
      </p:pic>
    </p:spTree>
    <p:extLst>
      <p:ext uri="{BB962C8B-B14F-4D97-AF65-F5344CB8AC3E}">
        <p14:creationId xmlns:p14="http://schemas.microsoft.com/office/powerpoint/2010/main" val="40661431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E43A6-F04D-47F7-A58E-70B3C98295F9}"/>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F315090B-1995-4A68-9F99-0EE6A5889F58}"/>
              </a:ext>
            </a:extLst>
          </p:cNvPr>
          <p:cNvSpPr>
            <a:spLocks noGrp="1"/>
          </p:cNvSpPr>
          <p:nvPr/>
        </p:nvSpPr>
        <p:spPr>
          <a:xfrm>
            <a:off x="400050" y="276225"/>
            <a:ext cx="4953000" cy="209550"/>
          </a:xfrm>
          <a:prstGeom prst="rect">
            <a:avLst/>
          </a:prstGeom>
        </p:spPr>
        <p:txBody>
          <a:bodyPr wrap="square" lIns="0" tIns="0" rIns="0" bIns="0" anchor="t">
            <a:normAutofit/>
          </a:bodyPr>
          <a:lstStyle/>
          <a:p>
            <a:pPr algn="l">
              <a:defRPr sz="975" b="1">
                <a:solidFill>
                  <a:srgbClr val="D9232E"/>
                </a:solidFill>
                <a:latin typeface="Arial"/>
                <a:ea typeface="Arial"/>
                <a:cs typeface="Arial"/>
              </a:defRPr>
            </a:pPr>
            <a:r>
              <a:t>CAPITAL BIKESHARE OPERATIONS</a:t>
            </a:r>
          </a:p>
        </p:txBody>
      </p:sp>
      <p:sp>
        <p:nvSpPr>
          <p:cNvPr id="2" name="Rectangle 1">
            <a:extLst>
              <a:ext uri="{FF2B5EF4-FFF2-40B4-BE49-F238E27FC236}">
                <a16:creationId xmlns:a16="http://schemas.microsoft.com/office/drawing/2014/main" id="{2D531190-DE33-F507-CCFA-5A8E45BFE9F3}"/>
              </a:ext>
            </a:extLst>
          </p:cNvPr>
          <p:cNvSpPr>
            <a:spLocks noGrp="1"/>
          </p:cNvSpPr>
          <p:nvPr/>
        </p:nvSpPr>
        <p:spPr>
          <a:xfrm>
            <a:off x="400050" y="581025"/>
            <a:ext cx="11391900" cy="628650"/>
          </a:xfrm>
          <a:prstGeom prst="rect">
            <a:avLst/>
          </a:prstGeom>
        </p:spPr>
        <p:txBody>
          <a:bodyPr wrap="square" lIns="0" tIns="0" rIns="0" bIns="0" anchor="t">
            <a:normAutofit/>
          </a:bodyPr>
          <a:lstStyle/>
          <a:p>
            <a:pPr algn="l">
              <a:defRPr sz="3000" b="1">
                <a:solidFill>
                  <a:srgbClr val="15191D"/>
                </a:solidFill>
                <a:latin typeface="Arial"/>
                <a:ea typeface="Arial"/>
                <a:cs typeface="Arial"/>
              </a:defRPr>
            </a:pPr>
            <a:r>
              <a:rPr lang="en-US" dirty="0"/>
              <a:t>Dashboard(React Front-End) </a:t>
            </a:r>
            <a:endParaRPr dirty="0"/>
          </a:p>
        </p:txBody>
      </p:sp>
      <p:cxnSp>
        <p:nvCxnSpPr>
          <p:cNvPr id="23" name="Straight Arrow Connector 22">
            <a:extLst>
              <a:ext uri="{FF2B5EF4-FFF2-40B4-BE49-F238E27FC236}">
                <a16:creationId xmlns:a16="http://schemas.microsoft.com/office/drawing/2014/main" id="{5E44558C-A245-34FA-97CB-B58F4150F7C4}"/>
              </a:ext>
            </a:extLst>
          </p:cNvPr>
          <p:cNvCxnSpPr/>
          <p:nvPr/>
        </p:nvCxnSpPr>
        <p:spPr>
          <a:xfrm>
            <a:off x="400050" y="1304925"/>
            <a:ext cx="11391900" cy="9525"/>
          </a:xfrm>
          <a:prstGeom prst="straightConnector1">
            <a:avLst/>
          </a:prstGeom>
          <a:ln w="9525">
            <a:solidFill>
              <a:srgbClr val="C9CED2"/>
            </a:solidFill>
            <a:prstDash val="solid"/>
          </a:ln>
        </p:spPr>
      </p:cxnSp>
      <p:sp>
        <p:nvSpPr>
          <p:cNvPr id="5" name="Rectangle: Rounded Corners 4">
            <a:extLst>
              <a:ext uri="{FF2B5EF4-FFF2-40B4-BE49-F238E27FC236}">
                <a16:creationId xmlns:a16="http://schemas.microsoft.com/office/drawing/2014/main" id="{B91D5C29-7470-2013-6E73-A5529DB234B4}"/>
              </a:ext>
            </a:extLst>
          </p:cNvPr>
          <p:cNvSpPr>
            <a:spLocks noGrp="1"/>
          </p:cNvSpPr>
          <p:nvPr/>
        </p:nvSpPr>
        <p:spPr>
          <a:xfrm>
            <a:off x="67733" y="2244724"/>
            <a:ext cx="3776133" cy="2763305"/>
          </a:xfrm>
          <a:prstGeom prst="roundRect">
            <a:avLst>
              <a:gd name="adj" fmla="val 2797"/>
            </a:avLst>
          </a:prstGeom>
          <a:solidFill>
            <a:srgbClr val="EAF6FB"/>
          </a:solidFill>
          <a:ln w="9525">
            <a:solidFill>
              <a:srgbClr val="C9CED2"/>
            </a:solidFill>
            <a:prstDash val="solid"/>
          </a:ln>
        </p:spPr>
        <p:txBody>
          <a:bodyPr/>
          <a:lstStyle/>
          <a:p>
            <a:endParaRPr lang="en-US"/>
          </a:p>
        </p:txBody>
      </p:sp>
      <p:sp>
        <p:nvSpPr>
          <p:cNvPr id="7" name="Rectangle 6">
            <a:extLst>
              <a:ext uri="{FF2B5EF4-FFF2-40B4-BE49-F238E27FC236}">
                <a16:creationId xmlns:a16="http://schemas.microsoft.com/office/drawing/2014/main" id="{1A72D72D-03F4-4D26-A8E7-D05D89EC55DF}"/>
              </a:ext>
            </a:extLst>
          </p:cNvPr>
          <p:cNvSpPr>
            <a:spLocks noGrp="1"/>
          </p:cNvSpPr>
          <p:nvPr/>
        </p:nvSpPr>
        <p:spPr>
          <a:xfrm>
            <a:off x="67733" y="2802467"/>
            <a:ext cx="3776133" cy="1634066"/>
          </a:xfrm>
          <a:prstGeom prst="rect">
            <a:avLst/>
          </a:prstGeom>
        </p:spPr>
        <p:txBody>
          <a:bodyPr wrap="square" lIns="0" tIns="0" rIns="0" bIns="0" anchor="t">
            <a:normAutofit lnSpcReduction="10000"/>
          </a:bodyPr>
          <a:lstStyle/>
          <a:p>
            <a:r>
              <a:rPr lang="en-US" sz="1100" dirty="0"/>
              <a:t>The Dashboard features the following:</a:t>
            </a:r>
          </a:p>
          <a:p>
            <a:endParaRPr lang="en-US" sz="1100" dirty="0"/>
          </a:p>
          <a:p>
            <a:pPr marL="171450" indent="-171450">
              <a:buFont typeface="Arial" panose="020B0604020202020204" pitchFamily="34" charset="0"/>
              <a:buChar char="•"/>
            </a:pPr>
            <a:r>
              <a:rPr lang="en-US" sz="1100" dirty="0"/>
              <a:t>Network summary showing total stations, available bikes, empty stations, and low-bike stations.</a:t>
            </a:r>
          </a:p>
          <a:p>
            <a:pPr marL="171450" indent="-171450">
              <a:buFont typeface="Arial" panose="020B0604020202020204" pitchFamily="34" charset="0"/>
              <a:buChar char="•"/>
            </a:pPr>
            <a:r>
              <a:rPr lang="en-US" sz="1100" dirty="0"/>
              <a:t>Interactive map with red, yellow, and green markers based on bike availability.</a:t>
            </a:r>
          </a:p>
          <a:p>
            <a:pPr marL="171450" indent="-171450">
              <a:buFont typeface="Arial" panose="020B0604020202020204" pitchFamily="34" charset="0"/>
              <a:buChar char="•"/>
            </a:pPr>
            <a:r>
              <a:rPr lang="en-US" sz="1100" dirty="0"/>
              <a:t>Active warning and critical depletion alerts.</a:t>
            </a:r>
          </a:p>
          <a:p>
            <a:pPr marL="171450" indent="-171450">
              <a:buFont typeface="Arial" panose="020B0604020202020204" pitchFamily="34" charset="0"/>
              <a:buChar char="•"/>
            </a:pPr>
            <a:r>
              <a:rPr lang="en-US" sz="1100" dirty="0"/>
              <a:t>Searchable and sortable live station inventory.</a:t>
            </a:r>
          </a:p>
          <a:p>
            <a:pPr marL="171450" indent="-171450">
              <a:buFont typeface="Arial" panose="020B0604020202020204" pitchFamily="34" charset="0"/>
              <a:buChar char="•"/>
            </a:pPr>
            <a:r>
              <a:rPr lang="en-US" sz="1100" dirty="0"/>
              <a:t>Station details including bikes, docks, capacity, and location.</a:t>
            </a:r>
          </a:p>
          <a:p>
            <a:pPr marL="171450" indent="-171450">
              <a:buFont typeface="Arial" panose="020B0604020202020204" pitchFamily="34" charset="0"/>
              <a:buChar char="•"/>
            </a:pPr>
            <a:r>
              <a:rPr lang="en-US" sz="1100" dirty="0"/>
              <a:t>Historical availability chart for each selected station.</a:t>
            </a:r>
          </a:p>
        </p:txBody>
      </p:sp>
      <p:pic>
        <p:nvPicPr>
          <p:cNvPr id="9" name="Picture 8">
            <a:extLst>
              <a:ext uri="{FF2B5EF4-FFF2-40B4-BE49-F238E27FC236}">
                <a16:creationId xmlns:a16="http://schemas.microsoft.com/office/drawing/2014/main" id="{0BB78305-A1FB-4042-D9BE-F7125E0436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76157" y="1314450"/>
            <a:ext cx="5608266" cy="3247825"/>
          </a:xfrm>
          <a:prstGeom prst="rect">
            <a:avLst/>
          </a:prstGeom>
        </p:spPr>
      </p:pic>
      <p:pic>
        <p:nvPicPr>
          <p:cNvPr id="4" name="Picture 3">
            <a:extLst>
              <a:ext uri="{FF2B5EF4-FFF2-40B4-BE49-F238E27FC236}">
                <a16:creationId xmlns:a16="http://schemas.microsoft.com/office/drawing/2014/main" id="{83052F48-504B-B89E-C880-25897604BA2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73697" y="3513548"/>
            <a:ext cx="5750570" cy="2988962"/>
          </a:xfrm>
          <a:prstGeom prst="rect">
            <a:avLst/>
          </a:prstGeom>
        </p:spPr>
      </p:pic>
    </p:spTree>
    <p:extLst>
      <p:ext uri="{BB962C8B-B14F-4D97-AF65-F5344CB8AC3E}">
        <p14:creationId xmlns:p14="http://schemas.microsoft.com/office/powerpoint/2010/main" val="284418848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649</Words>
  <Application>Microsoft Office PowerPoint</Application>
  <DocSecurity>0</DocSecurity>
  <PresentationFormat>Widescreen</PresentationFormat>
  <Paragraphs>71</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Eyasu Tesfamichael Araya(H00396248)</cp:lastModifiedBy>
  <cp:revision>1</cp:revision>
  <dcterms:created xsi:type="dcterms:W3CDTF">2026-09-02T22:41:18Z</dcterms:created>
  <dcterms:modified xsi:type="dcterms:W3CDTF">2026-09-03T00:04:52Z</dcterms:modified>
</cp:coreProperties>
</file>